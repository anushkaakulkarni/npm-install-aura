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6" r:id="rId6"/>
    <p:sldId id="261" r:id="rId7"/>
    <p:sldId id="262" r:id="rId8"/>
    <p:sldId id="263" r:id="rId9"/>
    <p:sldId id="264" r:id="rId10"/>
  </p:sldIdLst>
  <p:sldSz cx="18288000" cy="10287000"/>
  <p:notesSz cx="6858000" cy="9144000"/>
  <p:embeddedFontLst>
    <p:embeddedFont>
      <p:font typeface="Calibri (MS)" panose="020B0604020202020204" charset="0"/>
      <p:regular r:id="rId12"/>
    </p:embeddedFont>
    <p:embeddedFont>
      <p:font typeface="Calibri (MS) Bold" panose="020B0604020202020204" charset="0"/>
      <p:regular r:id="rId13"/>
    </p:embeddedFont>
    <p:embeddedFont>
      <p:font typeface="Calibri (MS) Italics" panose="020B0604020202020204" charset="0"/>
      <p:regular r:id="rId14"/>
    </p:embeddedFont>
    <p:embeddedFont>
      <p:font typeface="Heading Now 31-38" panose="020B0604020202020204" charset="0"/>
      <p:regular r:id="rId15"/>
    </p:embeddedFont>
    <p:embeddedFont>
      <p:font typeface="Heading Now 31-38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11.10.2026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G-01 asks for a matching system that separates mandatory eligibility from preference-based ranking, recognises skills described in different words, explains every result, recommends learning from a team-supplied catalogue, and recalculates when candidate data changes. The core rule: eligibility is decided by explicit criteria, never by an AI score.</a:t>
            </a:r>
          </a:p>
          <a:p>
            <a:endParaRPr lang="en-US"/>
          </a:p>
          <a:p>
            <a:r>
              <a:rPr lang="en-US"/>
              <a:t>TALK TRACK: Left = what the problem is and the one rule we never break. Right = each failure of today's systems and our fix, row by row. Close on scope so nobody over-reads our claims.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pipeline has one hard boundary: step 1 is deterministic. Only results that pass step 1 reach semantic matching and ranking. The worked example shows the same job producing three different outcomes for three candidates.</a:t>
            </a:r>
          </a:p>
          <a:p>
            <a:endParaRPr lang="en-US"/>
          </a:p>
          <a:p>
            <a:r>
              <a:rPr lang="en-US"/>
              <a:t>TALK TRACK: Walk the left pipeline top to bottom (rules first, AI after). Then use the right-hand example: same job, three candidates, three different outcomes. End on the three guarantees.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Read the diagram top to bottom: portals call a Node/Express API; the API calls the deterministic matching core and the AI adapters. AI output only feeds ranking and explanations; it has no path into the eligibility engine. Weights shown are an initial proposal, not validated values.</a:t>
            </a:r>
          </a:p>
          <a:p>
            <a:endParaRPr lang="en-US"/>
          </a:p>
          <a:p>
            <a:r>
              <a:rPr lang="en-US"/>
              <a:t>TALK TRACK: Left = layers (users, client, API, data). Right = the brain: rule-based core in navy, advisory AI in amber, weights chart, and the red guardrail that AI can never override eligibility.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90763" y="512763"/>
            <a:ext cx="4562475" cy="2566987"/>
          </a:xfrm>
        </p:spPr>
      </p:sp>
      <p:sp>
        <p:nvSpPr>
          <p:cNvPr id="3" name="Notes Placeholder 2"/>
          <p:cNvSpPr>
            <a:spLocks noGrp="1"/>
          </p:cNvSpPr>
          <p:nvPr>
            <p:ph type="body" sz="quarter" idx="3"/>
          </p:nvPr>
        </p:nvSpPr>
        <p:spPr/>
        <p:txBody>
          <a:bodyPr/>
          <a:lstStyle/>
          <a:p>
            <a:r>
              <a:t>Read the diagram top to bottom: client layer (candidate and recruiter interfaces), backend services (auth, jobs, resume, AI and analysis, matching and learning), data layer (MongoDB, file storage, optional cache, learning catalogue) and the four workflows. TALK TRACK: Left = the full architecture. Right = the flows that matter most: eligibility and matching, profile updates, and rules first / AI second.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Status: most modules are already built. Remaining effort is verification, polish and reporting measured test results. Targets on this slide are evaluation criteria, not measured outcomes; real numbers will be reported after testing.</a:t>
            </a:r>
          </a:p>
          <a:p>
            <a:endParaRPr lang="en-US"/>
          </a:p>
          <a:p>
            <a:r>
              <a:rPr lang="en-US"/>
              <a:t>TALK TRACK: Left = proof it can be done (stats are targets, not measured results) and why it lasts. Right = the order we build in and the four risks with mitigations.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Benefits are intended outcomes. At the prototype stage we measure system correctness and usability; we do not claim employment or placement improvements.</a:t>
            </a:r>
          </a:p>
          <a:p>
            <a:endParaRPr lang="en-US"/>
          </a:p>
          <a:p>
            <a:r>
              <a:rPr lang="en-US"/>
              <a:t>TALK TRACK: Left = three audiences and what each gets. Right = before/after table, then what we actually measure and the honest limit (we do not claim placement gains).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Existing services are strong at reach and volume. Our difference is narrow and deliberate: rules-first eligibility with explanations that quote the stated condition, and AI that is advisory only. Verify the NCS row against ncs.gov.in before presenting.</a:t>
            </a:r>
          </a:p>
          <a:p>
            <a:endParaRPr lang="en-US"/>
          </a:p>
          <a:p>
            <a:r>
              <a:rPr lang="en-US"/>
              <a:t>TALK TRACK: Left = what others do well and where they fall short of G-01. Right = our seven differences, then positioning as a complement to NCS.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2.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2.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6.png"/><Relationship Id="rId12"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11.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8EB"/>
        </a:solidFill>
        <a:effectLst/>
      </p:bgPr>
    </p:bg>
    <p:spTree>
      <p:nvGrpSpPr>
        <p:cNvPr id="1" name=""/>
        <p:cNvGrpSpPr/>
        <p:nvPr/>
      </p:nvGrpSpPr>
      <p:grpSpPr>
        <a:xfrm>
          <a:off x="0" y="0"/>
          <a:ext cx="0" cy="0"/>
          <a:chOff x="0" y="0"/>
          <a:chExt cx="0" cy="0"/>
        </a:xfrm>
      </p:grpSpPr>
      <p:grpSp>
        <p:nvGrpSpPr>
          <p:cNvPr id="2" name="Group 2"/>
          <p:cNvGrpSpPr/>
          <p:nvPr/>
        </p:nvGrpSpPr>
        <p:grpSpPr>
          <a:xfrm>
            <a:off x="15416889" y="4930330"/>
            <a:ext cx="1790748" cy="1009955"/>
            <a:chOff x="0" y="0"/>
            <a:chExt cx="2387664" cy="1346606"/>
          </a:xfrm>
        </p:grpSpPr>
        <p:sp>
          <p:nvSpPr>
            <p:cNvPr id="3" name="Freeform 3"/>
            <p:cNvSpPr/>
            <p:nvPr/>
          </p:nvSpPr>
          <p:spPr>
            <a:xfrm>
              <a:off x="0" y="0"/>
              <a:ext cx="2387600" cy="1346581"/>
            </a:xfrm>
            <a:custGeom>
              <a:avLst/>
              <a:gdLst/>
              <a:ahLst/>
              <a:cxnLst/>
              <a:rect l="l" t="t" r="r" b="b"/>
              <a:pathLst>
                <a:path w="2387600" h="1346581">
                  <a:moveTo>
                    <a:pt x="0" y="0"/>
                  </a:moveTo>
                  <a:lnTo>
                    <a:pt x="2387600" y="0"/>
                  </a:lnTo>
                  <a:lnTo>
                    <a:pt x="2387600" y="1346581"/>
                  </a:lnTo>
                  <a:lnTo>
                    <a:pt x="0" y="1346581"/>
                  </a:lnTo>
                  <a:lnTo>
                    <a:pt x="0" y="0"/>
                  </a:lnTo>
                  <a:close/>
                </a:path>
              </a:pathLst>
            </a:custGeom>
            <a:blipFill>
              <a:blip r:embed="rId2">
                <a:alphaModFix amt="59000"/>
              </a:blip>
              <a:stretch>
                <a:fillRect t="-264" r="-2" b="-265"/>
              </a:stretch>
            </a:blipFill>
          </p:spPr>
          <p:txBody>
            <a:bodyPr/>
            <a:lstStyle/>
            <a:p>
              <a:endParaRPr/>
            </a:p>
          </p:txBody>
        </p:sp>
      </p:grpSp>
      <p:sp>
        <p:nvSpPr>
          <p:cNvPr id="4" name="TextBox 4"/>
          <p:cNvSpPr txBox="1"/>
          <p:nvPr/>
        </p:nvSpPr>
        <p:spPr>
          <a:xfrm>
            <a:off x="736673" y="6544732"/>
            <a:ext cx="11887200" cy="762514"/>
          </a:xfrm>
          <a:prstGeom prst="rect">
            <a:avLst/>
          </a:prstGeom>
        </p:spPr>
        <p:txBody>
          <a:bodyPr lIns="0" tIns="0" rIns="0" bIns="0" rtlCol="0" anchor="t">
            <a:spAutoFit/>
          </a:bodyPr>
          <a:lstStyle/>
          <a:p>
            <a:pPr algn="l">
              <a:lnSpc>
                <a:spcPts val="4770"/>
              </a:lnSpc>
            </a:pPr>
            <a:r>
              <a:rPr lang="en-US" sz="4770" b="1" spc="50">
                <a:solidFill>
                  <a:srgbClr val="4E4A76"/>
                </a:solidFill>
                <a:latin typeface="Heading Now 31-38 Bold"/>
                <a:ea typeface="Heading Now 31-38 Bold"/>
                <a:cs typeface="Heading Now 31-38 Bold"/>
                <a:sym typeface="Heading Now 31-38 Bold"/>
              </a:rPr>
              <a:t>TEAM NAME :</a:t>
            </a:r>
            <a:r>
              <a:rPr lang="en-US" sz="4770" spc="50">
                <a:solidFill>
                  <a:srgbClr val="161F3E"/>
                </a:solidFill>
                <a:latin typeface="Heading Now 31-38"/>
                <a:ea typeface="Heading Now 31-38"/>
                <a:cs typeface="Heading Now 31-38"/>
                <a:sym typeface="Heading Now 31-38"/>
              </a:rPr>
              <a:t>  NPM INSTALL AURA</a:t>
            </a:r>
          </a:p>
        </p:txBody>
      </p:sp>
      <p:sp>
        <p:nvSpPr>
          <p:cNvPr id="5" name="TextBox 5"/>
          <p:cNvSpPr txBox="1"/>
          <p:nvPr/>
        </p:nvSpPr>
        <p:spPr>
          <a:xfrm>
            <a:off x="736673" y="4474645"/>
            <a:ext cx="13350240" cy="988019"/>
          </a:xfrm>
          <a:prstGeom prst="rect">
            <a:avLst/>
          </a:prstGeom>
        </p:spPr>
        <p:txBody>
          <a:bodyPr lIns="0" tIns="0" rIns="0" bIns="0" rtlCol="0" anchor="t">
            <a:spAutoFit/>
          </a:bodyPr>
          <a:lstStyle/>
          <a:p>
            <a:pPr algn="l">
              <a:lnSpc>
                <a:spcPts val="5148"/>
              </a:lnSpc>
            </a:pPr>
            <a:r>
              <a:rPr lang="en-US" sz="3399" b="1" spc="50">
                <a:solidFill>
                  <a:srgbClr val="1A2651"/>
                </a:solidFill>
                <a:latin typeface="Heading Now 31-38 Bold"/>
                <a:ea typeface="Heading Now 31-38 Bold"/>
                <a:cs typeface="Heading Now 31-38 Bold"/>
                <a:sym typeface="Heading Now 31-38 Bold"/>
              </a:rPr>
              <a:t>PROBLEM STATEMENT TITLE :</a:t>
            </a:r>
            <a:r>
              <a:rPr lang="en-US" sz="3399" spc="50">
                <a:solidFill>
                  <a:srgbClr val="161F3E"/>
                </a:solidFill>
                <a:latin typeface="Heading Now 31-38"/>
                <a:ea typeface="Heading Now 31-38"/>
                <a:cs typeface="Heading Now 31-38"/>
                <a:sym typeface="Heading Now 31-38"/>
              </a:rPr>
              <a:t>  RozgarLink: Skills-to-Opportunity Matching Engine</a:t>
            </a:r>
          </a:p>
        </p:txBody>
      </p:sp>
      <p:sp>
        <p:nvSpPr>
          <p:cNvPr id="6" name="TextBox 6"/>
          <p:cNvSpPr txBox="1"/>
          <p:nvPr/>
        </p:nvSpPr>
        <p:spPr>
          <a:xfrm>
            <a:off x="736673" y="3672269"/>
            <a:ext cx="13350240" cy="835619"/>
          </a:xfrm>
          <a:prstGeom prst="rect">
            <a:avLst/>
          </a:prstGeom>
        </p:spPr>
        <p:txBody>
          <a:bodyPr lIns="0" tIns="0" rIns="0" bIns="0" rtlCol="0" anchor="t">
            <a:spAutoFit/>
          </a:bodyPr>
          <a:lstStyle/>
          <a:p>
            <a:pPr algn="l">
              <a:lnSpc>
                <a:spcPts val="5148"/>
              </a:lnSpc>
            </a:pPr>
            <a:r>
              <a:rPr lang="en-US" sz="5148" b="1" spc="50">
                <a:solidFill>
                  <a:srgbClr val="4E4A76"/>
                </a:solidFill>
                <a:latin typeface="Heading Now 31-38 Bold"/>
                <a:ea typeface="Heading Now 31-38 Bold"/>
                <a:cs typeface="Heading Now 31-38 Bold"/>
                <a:sym typeface="Heading Now 31-38 Bold"/>
              </a:rPr>
              <a:t>DOMAIN &amp; NO :</a:t>
            </a:r>
            <a:r>
              <a:rPr lang="en-US" sz="5148" b="1" spc="50">
                <a:solidFill>
                  <a:srgbClr val="161F3E"/>
                </a:solidFill>
                <a:latin typeface="Heading Now 31-38 Bold"/>
                <a:ea typeface="Heading Now 31-38 Bold"/>
                <a:cs typeface="Heading Now 31-38 Bold"/>
                <a:sym typeface="Heading Now 31-38 Bold"/>
              </a:rPr>
              <a:t>  </a:t>
            </a:r>
            <a:r>
              <a:rPr lang="en-US" sz="5148" spc="50">
                <a:solidFill>
                  <a:srgbClr val="161F3E"/>
                </a:solidFill>
                <a:latin typeface="Heading Now 31-38"/>
                <a:ea typeface="Heading Now 31-38"/>
                <a:cs typeface="Heading Now 31-38"/>
                <a:sym typeface="Heading Now 31-38"/>
              </a:rPr>
              <a:t>GoVTech (7), G-01</a:t>
            </a:r>
          </a:p>
        </p:txBody>
      </p:sp>
      <p:sp>
        <p:nvSpPr>
          <p:cNvPr id="7" name="TextBox 7"/>
          <p:cNvSpPr txBox="1"/>
          <p:nvPr/>
        </p:nvSpPr>
        <p:spPr>
          <a:xfrm>
            <a:off x="736673" y="7496756"/>
            <a:ext cx="13350240" cy="736235"/>
          </a:xfrm>
          <a:prstGeom prst="rect">
            <a:avLst/>
          </a:prstGeom>
        </p:spPr>
        <p:txBody>
          <a:bodyPr lIns="0" tIns="0" rIns="0" bIns="0" rtlCol="0" anchor="t">
            <a:spAutoFit/>
          </a:bodyPr>
          <a:lstStyle/>
          <a:p>
            <a:pPr algn="l">
              <a:lnSpc>
                <a:spcPts val="4472"/>
              </a:lnSpc>
            </a:pPr>
            <a:r>
              <a:rPr lang="en-US" sz="4472" b="1" spc="43">
                <a:solidFill>
                  <a:srgbClr val="4E4A76"/>
                </a:solidFill>
                <a:latin typeface="Heading Now 31-38 Bold"/>
                <a:ea typeface="Heading Now 31-38 Bold"/>
                <a:cs typeface="Heading Now 31-38 Bold"/>
                <a:sym typeface="Heading Now 31-38 Bold"/>
              </a:rPr>
              <a:t>TEAM ID :</a:t>
            </a:r>
            <a:r>
              <a:rPr lang="en-US" sz="4472" spc="50">
                <a:solidFill>
                  <a:srgbClr val="161F3E"/>
                </a:solidFill>
                <a:latin typeface="Heading Now 31-38"/>
                <a:ea typeface="Heading Now 31-38"/>
                <a:cs typeface="Heading Now 31-38"/>
                <a:sym typeface="Heading Now 31-38"/>
              </a:rPr>
              <a:t>  VTX26-43648</a:t>
            </a:r>
          </a:p>
        </p:txBody>
      </p:sp>
      <p:grpSp>
        <p:nvGrpSpPr>
          <p:cNvPr id="8" name="Group 8"/>
          <p:cNvGrpSpPr/>
          <p:nvPr/>
        </p:nvGrpSpPr>
        <p:grpSpPr>
          <a:xfrm>
            <a:off x="16127273" y="239944"/>
            <a:ext cx="2160727" cy="2160727"/>
            <a:chOff x="0" y="0"/>
            <a:chExt cx="2880970" cy="2880970"/>
          </a:xfrm>
        </p:grpSpPr>
        <p:sp>
          <p:nvSpPr>
            <p:cNvPr id="9" name="Freeform 9"/>
            <p:cNvSpPr/>
            <p:nvPr/>
          </p:nvSpPr>
          <p:spPr>
            <a:xfrm>
              <a:off x="0" y="0"/>
              <a:ext cx="2880995" cy="2880995"/>
            </a:xfrm>
            <a:custGeom>
              <a:avLst/>
              <a:gdLst/>
              <a:ahLst/>
              <a:cxnLst/>
              <a:rect l="l" t="t" r="r" b="b"/>
              <a:pathLst>
                <a:path w="2880995" h="2880995">
                  <a:moveTo>
                    <a:pt x="0" y="0"/>
                  </a:moveTo>
                  <a:lnTo>
                    <a:pt x="2880995" y="0"/>
                  </a:lnTo>
                  <a:lnTo>
                    <a:pt x="2880995" y="2880995"/>
                  </a:lnTo>
                  <a:lnTo>
                    <a:pt x="0" y="2880995"/>
                  </a:lnTo>
                  <a:lnTo>
                    <a:pt x="0" y="0"/>
                  </a:lnTo>
                  <a:close/>
                </a:path>
              </a:pathLst>
            </a:custGeom>
            <a:blipFill>
              <a:blip r:embed="rId3"/>
              <a:stretch>
                <a:fillRect/>
              </a:stretch>
            </a:blipFill>
          </p:spPr>
          <p:txBody>
            <a:bodyPr/>
            <a:lstStyle/>
            <a:p>
              <a:endParaRPr/>
            </a:p>
          </p:txBody>
        </p:sp>
      </p:grpSp>
      <p:sp>
        <p:nvSpPr>
          <p:cNvPr id="10" name="TextBox 10"/>
          <p:cNvSpPr txBox="1"/>
          <p:nvPr/>
        </p:nvSpPr>
        <p:spPr>
          <a:xfrm>
            <a:off x="594417" y="290341"/>
            <a:ext cx="4010273" cy="2172624"/>
          </a:xfrm>
          <a:prstGeom prst="rect">
            <a:avLst/>
          </a:prstGeom>
        </p:spPr>
        <p:txBody>
          <a:bodyPr lIns="0" tIns="0" rIns="0" bIns="0" rtlCol="0" anchor="t">
            <a:spAutoFit/>
          </a:bodyPr>
          <a:lstStyle/>
          <a:p>
            <a:pPr algn="l">
              <a:lnSpc>
                <a:spcPts val="13305"/>
              </a:lnSpc>
            </a:pPr>
            <a:r>
              <a:rPr lang="en-US" sz="13305" b="1" spc="128">
                <a:solidFill>
                  <a:srgbClr val="3C3B56">
                    <a:alpha val="84314"/>
                  </a:srgbClr>
                </a:solidFill>
                <a:latin typeface="Heading Now 31-38 Bold"/>
                <a:ea typeface="Heading Now 31-38 Bold"/>
                <a:cs typeface="Heading Now 31-38 Bold"/>
                <a:sym typeface="Heading Now 31-38 Bold"/>
              </a:rPr>
              <a:t>VORTEXA</a:t>
            </a:r>
          </a:p>
        </p:txBody>
      </p:sp>
      <p:sp>
        <p:nvSpPr>
          <p:cNvPr id="11" name="TextBox 11"/>
          <p:cNvSpPr txBox="1"/>
          <p:nvPr/>
        </p:nvSpPr>
        <p:spPr>
          <a:xfrm>
            <a:off x="4686271" y="290341"/>
            <a:ext cx="1413653" cy="2172624"/>
          </a:xfrm>
          <a:prstGeom prst="rect">
            <a:avLst/>
          </a:prstGeom>
        </p:spPr>
        <p:txBody>
          <a:bodyPr lIns="0" tIns="0" rIns="0" bIns="0" rtlCol="0" anchor="t">
            <a:spAutoFit/>
          </a:bodyPr>
          <a:lstStyle/>
          <a:p>
            <a:pPr algn="l">
              <a:lnSpc>
                <a:spcPts val="13305"/>
              </a:lnSpc>
            </a:pPr>
            <a:r>
              <a:rPr lang="en-US" sz="13305" b="1" spc="128">
                <a:solidFill>
                  <a:srgbClr val="7F5E87"/>
                </a:solidFill>
                <a:latin typeface="Heading Now 31-38 Bold"/>
                <a:ea typeface="Heading Now 31-38 Bold"/>
                <a:cs typeface="Heading Now 31-38 Bold"/>
                <a:sym typeface="Heading Now 31-38 Bold"/>
              </a:rPr>
              <a:t>3.0</a:t>
            </a:r>
          </a:p>
        </p:txBody>
      </p:sp>
      <p:grpSp>
        <p:nvGrpSpPr>
          <p:cNvPr id="12" name="Group 12"/>
          <p:cNvGrpSpPr/>
          <p:nvPr/>
        </p:nvGrpSpPr>
        <p:grpSpPr>
          <a:xfrm>
            <a:off x="427873" y="2201542"/>
            <a:ext cx="5496287" cy="239620"/>
            <a:chOff x="0" y="0"/>
            <a:chExt cx="7328383" cy="319494"/>
          </a:xfrm>
        </p:grpSpPr>
        <p:sp>
          <p:nvSpPr>
            <p:cNvPr id="13" name="Freeform 13"/>
            <p:cNvSpPr/>
            <p:nvPr/>
          </p:nvSpPr>
          <p:spPr>
            <a:xfrm>
              <a:off x="0" y="0"/>
              <a:ext cx="7328408" cy="319532"/>
            </a:xfrm>
            <a:custGeom>
              <a:avLst/>
              <a:gdLst/>
              <a:ahLst/>
              <a:cxnLst/>
              <a:rect l="l" t="t" r="r" b="b"/>
              <a:pathLst>
                <a:path w="7328408" h="319532">
                  <a:moveTo>
                    <a:pt x="0" y="0"/>
                  </a:moveTo>
                  <a:lnTo>
                    <a:pt x="7328408" y="0"/>
                  </a:lnTo>
                  <a:lnTo>
                    <a:pt x="7328408" y="319532"/>
                  </a:lnTo>
                  <a:lnTo>
                    <a:pt x="0" y="319532"/>
                  </a:lnTo>
                  <a:lnTo>
                    <a:pt x="0" y="0"/>
                  </a:lnTo>
                  <a:close/>
                </a:path>
              </a:pathLst>
            </a:custGeom>
            <a:blipFill>
              <a:blip r:embed="rId4"/>
              <a:stretch>
                <a:fillRect b="11"/>
              </a:stretch>
            </a:blipFill>
          </p:spPr>
          <p:txBody>
            <a:bodyPr/>
            <a:lstStyle/>
            <a:p>
              <a:endParaRPr/>
            </a:p>
          </p:txBody>
        </p:sp>
      </p:grpSp>
      <p:sp>
        <p:nvSpPr>
          <p:cNvPr id="14" name="TextBox 14"/>
          <p:cNvSpPr txBox="1"/>
          <p:nvPr/>
        </p:nvSpPr>
        <p:spPr>
          <a:xfrm>
            <a:off x="6181496" y="1719415"/>
            <a:ext cx="2453145" cy="601942"/>
          </a:xfrm>
          <a:prstGeom prst="rect">
            <a:avLst/>
          </a:prstGeom>
        </p:spPr>
        <p:txBody>
          <a:bodyPr lIns="0" tIns="0" rIns="0" bIns="0" rtlCol="0" anchor="t">
            <a:spAutoFit/>
          </a:bodyPr>
          <a:lstStyle/>
          <a:p>
            <a:pPr algn="l">
              <a:lnSpc>
                <a:spcPts val="3608"/>
              </a:lnSpc>
            </a:pPr>
            <a:r>
              <a:rPr lang="en-US" sz="3608" b="1" spc="89">
                <a:solidFill>
                  <a:srgbClr val="3F3F3F"/>
                </a:solidFill>
                <a:latin typeface="Heading Now 31-38 Bold"/>
                <a:ea typeface="Heading Now 31-38 Bold"/>
                <a:cs typeface="Heading Now 31-38 Bold"/>
                <a:sym typeface="Heading Now 31-38 Bold"/>
              </a:rPr>
              <a:t>12 HRS HACKATHON</a:t>
            </a:r>
          </a:p>
        </p:txBody>
      </p:sp>
      <p:sp>
        <p:nvSpPr>
          <p:cNvPr id="15" name="TextBox 15"/>
          <p:cNvSpPr txBox="1"/>
          <p:nvPr/>
        </p:nvSpPr>
        <p:spPr>
          <a:xfrm>
            <a:off x="736673" y="2512828"/>
            <a:ext cx="2119255" cy="450142"/>
          </a:xfrm>
          <a:prstGeom prst="rect">
            <a:avLst/>
          </a:prstGeom>
        </p:spPr>
        <p:txBody>
          <a:bodyPr lIns="0" tIns="0" rIns="0" bIns="0" rtlCol="0" anchor="t">
            <a:spAutoFit/>
          </a:bodyPr>
          <a:lstStyle/>
          <a:p>
            <a:pPr algn="l">
              <a:lnSpc>
                <a:spcPts val="2721"/>
              </a:lnSpc>
            </a:pPr>
            <a:r>
              <a:rPr lang="en-US" sz="2721" b="1" spc="66">
                <a:solidFill>
                  <a:srgbClr val="161F3E"/>
                </a:solidFill>
                <a:latin typeface="Heading Now 31-38 Bold"/>
                <a:ea typeface="Heading Now 31-38 Bold"/>
                <a:cs typeface="Heading Now 31-38 Bold"/>
                <a:sym typeface="Heading Now 31-38 Bold"/>
              </a:rPr>
              <a:t>POWERED BY </a:t>
            </a:r>
            <a:r>
              <a:rPr lang="en-US" sz="2721" b="1" spc="66">
                <a:solidFill>
                  <a:srgbClr val="4E4A76"/>
                </a:solidFill>
                <a:latin typeface="Heading Now 31-38 Bold"/>
                <a:ea typeface="Heading Now 31-38 Bold"/>
                <a:cs typeface="Heading Now 31-38 Bold"/>
                <a:sym typeface="Heading Now 31-38 Bold"/>
              </a:rPr>
              <a:t>A.I.R.S</a:t>
            </a:r>
          </a:p>
        </p:txBody>
      </p:sp>
      <p:grpSp>
        <p:nvGrpSpPr>
          <p:cNvPr id="16" name="Group 16"/>
          <p:cNvGrpSpPr/>
          <p:nvPr/>
        </p:nvGrpSpPr>
        <p:grpSpPr>
          <a:xfrm>
            <a:off x="0" y="-303752"/>
            <a:ext cx="1750047" cy="10607154"/>
            <a:chOff x="0" y="0"/>
            <a:chExt cx="2333396" cy="14142872"/>
          </a:xfrm>
        </p:grpSpPr>
        <p:sp>
          <p:nvSpPr>
            <p:cNvPr id="17" name="Freeform 17"/>
            <p:cNvSpPr/>
            <p:nvPr/>
          </p:nvSpPr>
          <p:spPr>
            <a:xfrm>
              <a:off x="0" y="0"/>
              <a:ext cx="2333371" cy="14142847"/>
            </a:xfrm>
            <a:custGeom>
              <a:avLst/>
              <a:gdLst/>
              <a:ahLst/>
              <a:cxnLst/>
              <a:rect l="l" t="t" r="r" b="b"/>
              <a:pathLst>
                <a:path w="2333371" h="14142847">
                  <a:moveTo>
                    <a:pt x="0" y="0"/>
                  </a:moveTo>
                  <a:lnTo>
                    <a:pt x="2333371" y="0"/>
                  </a:lnTo>
                  <a:lnTo>
                    <a:pt x="2333371" y="14142847"/>
                  </a:lnTo>
                  <a:lnTo>
                    <a:pt x="0" y="14142847"/>
                  </a:lnTo>
                  <a:lnTo>
                    <a:pt x="0" y="0"/>
                  </a:lnTo>
                  <a:close/>
                </a:path>
              </a:pathLst>
            </a:custGeom>
            <a:blipFill>
              <a:blip r:embed="rId5"/>
              <a:stretch>
                <a:fillRect l="-3756" r="-3757"/>
              </a:stretch>
            </a:blipFill>
          </p:spPr>
          <p:txBody>
            <a:bodyPr/>
            <a:lstStyle/>
            <a:p>
              <a:endParaRPr/>
            </a:p>
          </p:txBody>
        </p:sp>
      </p:grpSp>
      <p:grpSp>
        <p:nvGrpSpPr>
          <p:cNvPr id="18" name="Group 18"/>
          <p:cNvGrpSpPr/>
          <p:nvPr/>
        </p:nvGrpSpPr>
        <p:grpSpPr>
          <a:xfrm>
            <a:off x="14361328" y="6635715"/>
            <a:ext cx="1750047" cy="1727254"/>
            <a:chOff x="0" y="0"/>
            <a:chExt cx="2333396" cy="2303005"/>
          </a:xfrm>
        </p:grpSpPr>
        <p:sp>
          <p:nvSpPr>
            <p:cNvPr id="19" name="Freeform 19"/>
            <p:cNvSpPr/>
            <p:nvPr/>
          </p:nvSpPr>
          <p:spPr>
            <a:xfrm>
              <a:off x="0" y="0"/>
              <a:ext cx="2333371" cy="2303018"/>
            </a:xfrm>
            <a:custGeom>
              <a:avLst/>
              <a:gdLst/>
              <a:ahLst/>
              <a:cxnLst/>
              <a:rect l="l" t="t" r="r" b="b"/>
              <a:pathLst>
                <a:path w="2333371" h="2303018">
                  <a:moveTo>
                    <a:pt x="0" y="0"/>
                  </a:moveTo>
                  <a:lnTo>
                    <a:pt x="2333371" y="0"/>
                  </a:lnTo>
                  <a:lnTo>
                    <a:pt x="2333371" y="2303018"/>
                  </a:lnTo>
                  <a:lnTo>
                    <a:pt x="0" y="2303018"/>
                  </a:lnTo>
                  <a:lnTo>
                    <a:pt x="0" y="0"/>
                  </a:lnTo>
                  <a:close/>
                </a:path>
              </a:pathLst>
            </a:custGeom>
            <a:blipFill>
              <a:blip r:embed="rId6"/>
              <a:stretch>
                <a:fillRect t="-26" r="-1" b="-25"/>
              </a:stretch>
            </a:blipFill>
          </p:spPr>
          <p:txBody>
            <a:bodyPr/>
            <a:lstStyle/>
            <a:p>
              <a:endParaRPr/>
            </a:p>
          </p:txBody>
        </p:sp>
      </p:grpSp>
      <p:grpSp>
        <p:nvGrpSpPr>
          <p:cNvPr id="20" name="Group 20"/>
          <p:cNvGrpSpPr/>
          <p:nvPr/>
        </p:nvGrpSpPr>
        <p:grpSpPr>
          <a:xfrm>
            <a:off x="12739802" y="7046871"/>
            <a:ext cx="5548198" cy="3256521"/>
            <a:chOff x="0" y="0"/>
            <a:chExt cx="7397598" cy="4342028"/>
          </a:xfrm>
        </p:grpSpPr>
        <p:sp>
          <p:nvSpPr>
            <p:cNvPr id="21" name="Freeform 21"/>
            <p:cNvSpPr/>
            <p:nvPr/>
          </p:nvSpPr>
          <p:spPr>
            <a:xfrm>
              <a:off x="0" y="0"/>
              <a:ext cx="7397623" cy="4342003"/>
            </a:xfrm>
            <a:custGeom>
              <a:avLst/>
              <a:gdLst/>
              <a:ahLst/>
              <a:cxnLst/>
              <a:rect l="l" t="t" r="r" b="b"/>
              <a:pathLst>
                <a:path w="7397623" h="4342003">
                  <a:moveTo>
                    <a:pt x="0" y="0"/>
                  </a:moveTo>
                  <a:lnTo>
                    <a:pt x="7397623" y="0"/>
                  </a:lnTo>
                  <a:lnTo>
                    <a:pt x="7397623" y="4342003"/>
                  </a:lnTo>
                  <a:lnTo>
                    <a:pt x="0" y="4342003"/>
                  </a:lnTo>
                  <a:lnTo>
                    <a:pt x="0" y="0"/>
                  </a:lnTo>
                  <a:close/>
                </a:path>
              </a:pathLst>
            </a:custGeom>
            <a:blipFill>
              <a:blip r:embed="rId7"/>
              <a:stretch>
                <a:fillRect t="-6137" b="-6137"/>
              </a:stretch>
            </a:blipFill>
          </p:spPr>
          <p:txBody>
            <a:bodyPr/>
            <a:lstStyle/>
            <a:p>
              <a:endParaRPr/>
            </a:p>
          </p:txBody>
        </p:sp>
      </p:grpSp>
      <p:grpSp>
        <p:nvGrpSpPr>
          <p:cNvPr id="22" name="Group 22"/>
          <p:cNvGrpSpPr/>
          <p:nvPr/>
        </p:nvGrpSpPr>
        <p:grpSpPr>
          <a:xfrm>
            <a:off x="16975465" y="5455063"/>
            <a:ext cx="1312535" cy="4088559"/>
            <a:chOff x="0" y="0"/>
            <a:chExt cx="1750047" cy="5451412"/>
          </a:xfrm>
        </p:grpSpPr>
        <p:sp>
          <p:nvSpPr>
            <p:cNvPr id="23" name="Freeform 23"/>
            <p:cNvSpPr/>
            <p:nvPr/>
          </p:nvSpPr>
          <p:spPr>
            <a:xfrm>
              <a:off x="0" y="0"/>
              <a:ext cx="1750060" cy="5451475"/>
            </a:xfrm>
            <a:custGeom>
              <a:avLst/>
              <a:gdLst/>
              <a:ahLst/>
              <a:cxnLst/>
              <a:rect l="l" t="t" r="r" b="b"/>
              <a:pathLst>
                <a:path w="1750060" h="5451475">
                  <a:moveTo>
                    <a:pt x="0" y="0"/>
                  </a:moveTo>
                  <a:lnTo>
                    <a:pt x="1750060" y="0"/>
                  </a:lnTo>
                  <a:lnTo>
                    <a:pt x="1750060" y="5451475"/>
                  </a:lnTo>
                  <a:lnTo>
                    <a:pt x="0" y="5451475"/>
                  </a:lnTo>
                  <a:lnTo>
                    <a:pt x="0" y="0"/>
                  </a:lnTo>
                  <a:close/>
                </a:path>
              </a:pathLst>
            </a:custGeom>
            <a:blipFill>
              <a:blip r:embed="rId8"/>
              <a:stretch>
                <a:fillRect t="-26" b="-25"/>
              </a:stretch>
            </a:blipFill>
          </p:spPr>
          <p:txBody>
            <a:bodyPr/>
            <a:lstStyle/>
            <a:p>
              <a:endParaRPr/>
            </a:p>
          </p:txBody>
        </p:sp>
      </p:grpSp>
      <p:grpSp>
        <p:nvGrpSpPr>
          <p:cNvPr id="24" name="Group 24"/>
          <p:cNvGrpSpPr/>
          <p:nvPr/>
        </p:nvGrpSpPr>
        <p:grpSpPr>
          <a:xfrm>
            <a:off x="16706945" y="7046871"/>
            <a:ext cx="1104719" cy="2372239"/>
            <a:chOff x="0" y="0"/>
            <a:chExt cx="1472959" cy="3162986"/>
          </a:xfrm>
        </p:grpSpPr>
        <p:sp>
          <p:nvSpPr>
            <p:cNvPr id="25" name="Freeform 25"/>
            <p:cNvSpPr/>
            <p:nvPr/>
          </p:nvSpPr>
          <p:spPr>
            <a:xfrm>
              <a:off x="0" y="0"/>
              <a:ext cx="1472946" cy="3162935"/>
            </a:xfrm>
            <a:custGeom>
              <a:avLst/>
              <a:gdLst/>
              <a:ahLst/>
              <a:cxnLst/>
              <a:rect l="l" t="t" r="r" b="b"/>
              <a:pathLst>
                <a:path w="1472946" h="3162935">
                  <a:moveTo>
                    <a:pt x="0" y="0"/>
                  </a:moveTo>
                  <a:lnTo>
                    <a:pt x="1472946" y="0"/>
                  </a:lnTo>
                  <a:lnTo>
                    <a:pt x="1472946" y="3162935"/>
                  </a:lnTo>
                  <a:lnTo>
                    <a:pt x="0" y="3162935"/>
                  </a:lnTo>
                  <a:lnTo>
                    <a:pt x="0" y="0"/>
                  </a:lnTo>
                  <a:close/>
                </a:path>
              </a:pathLst>
            </a:custGeom>
            <a:blipFill>
              <a:blip r:embed="rId9"/>
              <a:stretch>
                <a:fillRect t="-26" b="-28"/>
              </a:stretch>
            </a:blipFill>
          </p:spPr>
          <p:txBody>
            <a:bodyPr/>
            <a:lstStyle/>
            <a:p>
              <a:endParaRPr/>
            </a:p>
          </p:txBody>
        </p:sp>
      </p:grpSp>
      <p:grpSp>
        <p:nvGrpSpPr>
          <p:cNvPr id="26" name="Group 26"/>
          <p:cNvGrpSpPr/>
          <p:nvPr/>
        </p:nvGrpSpPr>
        <p:grpSpPr>
          <a:xfrm>
            <a:off x="14727955" y="2550928"/>
            <a:ext cx="3560045" cy="1756781"/>
            <a:chOff x="0" y="0"/>
            <a:chExt cx="4746727" cy="2342375"/>
          </a:xfrm>
        </p:grpSpPr>
        <p:sp>
          <p:nvSpPr>
            <p:cNvPr id="27" name="Freeform 27"/>
            <p:cNvSpPr/>
            <p:nvPr/>
          </p:nvSpPr>
          <p:spPr>
            <a:xfrm>
              <a:off x="0" y="0"/>
              <a:ext cx="4746752" cy="2342388"/>
            </a:xfrm>
            <a:custGeom>
              <a:avLst/>
              <a:gdLst/>
              <a:ahLst/>
              <a:cxnLst/>
              <a:rect l="l" t="t" r="r" b="b"/>
              <a:pathLst>
                <a:path w="4746752" h="2342388">
                  <a:moveTo>
                    <a:pt x="0" y="0"/>
                  </a:moveTo>
                  <a:lnTo>
                    <a:pt x="4746752" y="0"/>
                  </a:lnTo>
                  <a:lnTo>
                    <a:pt x="4746752" y="2342388"/>
                  </a:lnTo>
                  <a:lnTo>
                    <a:pt x="0" y="2342388"/>
                  </a:lnTo>
                  <a:lnTo>
                    <a:pt x="0" y="0"/>
                  </a:lnTo>
                  <a:close/>
                </a:path>
              </a:pathLst>
            </a:custGeom>
            <a:blipFill>
              <a:blip r:embed="rId10">
                <a:alphaModFix amt="56999"/>
              </a:blip>
              <a:stretch>
                <a:fillRect t="-26" b="-26"/>
              </a:stretch>
            </a:blipFill>
          </p:spPr>
          <p:txBody>
            <a:bodyPr/>
            <a:lstStyle/>
            <a:p>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6" b="-26"/>
              </a:stretch>
            </a:blipFill>
          </p:spPr>
          <p:txBody>
            <a:bodyPr/>
            <a:lstStyle/>
            <a:p>
              <a:endParaRPr/>
            </a:p>
          </p:txBody>
        </p:sp>
      </p:grpSp>
      <p:grpSp>
        <p:nvGrpSpPr>
          <p:cNvPr id="4" name="Group 4"/>
          <p:cNvGrpSpPr/>
          <p:nvPr/>
        </p:nvGrpSpPr>
        <p:grpSpPr>
          <a:xfrm>
            <a:off x="0" y="0"/>
            <a:ext cx="1750047" cy="9860651"/>
            <a:chOff x="0" y="0"/>
            <a:chExt cx="2333396" cy="13147535"/>
          </a:xfrm>
        </p:grpSpPr>
        <p:sp>
          <p:nvSpPr>
            <p:cNvPr id="5" name="Freeform 5"/>
            <p:cNvSpPr/>
            <p:nvPr/>
          </p:nvSpPr>
          <p:spPr>
            <a:xfrm>
              <a:off x="0" y="0"/>
              <a:ext cx="2333371" cy="13147548"/>
            </a:xfrm>
            <a:custGeom>
              <a:avLst/>
              <a:gdLst/>
              <a:ahLst/>
              <a:cxnLst/>
              <a:rect l="l" t="t" r="r" b="b"/>
              <a:pathLst>
                <a:path w="2333371" h="13147548">
                  <a:moveTo>
                    <a:pt x="0" y="0"/>
                  </a:moveTo>
                  <a:lnTo>
                    <a:pt x="2333371" y="0"/>
                  </a:lnTo>
                  <a:lnTo>
                    <a:pt x="2333371" y="13147548"/>
                  </a:lnTo>
                  <a:lnTo>
                    <a:pt x="0" y="13147548"/>
                  </a:lnTo>
                  <a:lnTo>
                    <a:pt x="0" y="0"/>
                  </a:lnTo>
                  <a:close/>
                </a:path>
              </a:pathLst>
            </a:custGeom>
            <a:blipFill>
              <a:blip r:embed="rId4"/>
              <a:stretch>
                <a:fillRect t="-26" r="-1" b="-26"/>
              </a:stretch>
            </a:blipFill>
          </p:spPr>
          <p:txBody>
            <a:bodyPr/>
            <a:lstStyle/>
            <a:p>
              <a:endParaRPr/>
            </a:p>
          </p:txBody>
        </p:sp>
      </p:grpSp>
      <p:grpSp>
        <p:nvGrpSpPr>
          <p:cNvPr id="6" name="Group 6"/>
          <p:cNvGrpSpPr/>
          <p:nvPr/>
        </p:nvGrpSpPr>
        <p:grpSpPr>
          <a:xfrm>
            <a:off x="14361328" y="6635715"/>
            <a:ext cx="1750047" cy="1727254"/>
            <a:chOff x="0" y="0"/>
            <a:chExt cx="2333396" cy="2303005"/>
          </a:xfrm>
        </p:grpSpPr>
        <p:sp>
          <p:nvSpPr>
            <p:cNvPr id="7" name="Freeform 7"/>
            <p:cNvSpPr/>
            <p:nvPr/>
          </p:nvSpPr>
          <p:spPr>
            <a:xfrm>
              <a:off x="0" y="0"/>
              <a:ext cx="2333371" cy="2303018"/>
            </a:xfrm>
            <a:custGeom>
              <a:avLst/>
              <a:gdLst/>
              <a:ahLst/>
              <a:cxnLst/>
              <a:rect l="l" t="t" r="r" b="b"/>
              <a:pathLst>
                <a:path w="2333371" h="2303018">
                  <a:moveTo>
                    <a:pt x="0" y="0"/>
                  </a:moveTo>
                  <a:lnTo>
                    <a:pt x="2333371" y="0"/>
                  </a:lnTo>
                  <a:lnTo>
                    <a:pt x="2333371" y="2303018"/>
                  </a:lnTo>
                  <a:lnTo>
                    <a:pt x="0" y="2303018"/>
                  </a:lnTo>
                  <a:lnTo>
                    <a:pt x="0" y="0"/>
                  </a:lnTo>
                  <a:close/>
                </a:path>
              </a:pathLst>
            </a:custGeom>
            <a:blipFill>
              <a:blip r:embed="rId5"/>
              <a:stretch>
                <a:fillRect t="-26" r="-1" b="-25"/>
              </a:stretch>
            </a:blipFill>
          </p:spPr>
          <p:txBody>
            <a:bodyPr/>
            <a:lstStyle/>
            <a:p>
              <a:endParaRPr/>
            </a:p>
          </p:txBody>
        </p:sp>
      </p:grpSp>
      <p:grpSp>
        <p:nvGrpSpPr>
          <p:cNvPr id="8" name="Group 8"/>
          <p:cNvGrpSpPr/>
          <p:nvPr/>
        </p:nvGrpSpPr>
        <p:grpSpPr>
          <a:xfrm>
            <a:off x="13059727" y="7046871"/>
            <a:ext cx="5228272" cy="3256521"/>
            <a:chOff x="0" y="0"/>
            <a:chExt cx="6971030" cy="4342028"/>
          </a:xfrm>
        </p:grpSpPr>
        <p:sp>
          <p:nvSpPr>
            <p:cNvPr id="9" name="Freeform 9"/>
            <p:cNvSpPr/>
            <p:nvPr/>
          </p:nvSpPr>
          <p:spPr>
            <a:xfrm>
              <a:off x="0" y="0"/>
              <a:ext cx="6971030" cy="4342003"/>
            </a:xfrm>
            <a:custGeom>
              <a:avLst/>
              <a:gdLst/>
              <a:ahLst/>
              <a:cxnLst/>
              <a:rect l="l" t="t" r="r" b="b"/>
              <a:pathLst>
                <a:path w="6971030" h="4342003">
                  <a:moveTo>
                    <a:pt x="0" y="0"/>
                  </a:moveTo>
                  <a:lnTo>
                    <a:pt x="6971030" y="0"/>
                  </a:lnTo>
                  <a:lnTo>
                    <a:pt x="6971030" y="4342003"/>
                  </a:lnTo>
                  <a:lnTo>
                    <a:pt x="0" y="4342003"/>
                  </a:lnTo>
                  <a:lnTo>
                    <a:pt x="0" y="0"/>
                  </a:lnTo>
                  <a:close/>
                </a:path>
              </a:pathLst>
            </a:custGeom>
            <a:blipFill>
              <a:blip r:embed="rId6"/>
              <a:stretch>
                <a:fillRect t="-2900" b="-2900"/>
              </a:stretch>
            </a:blipFill>
          </p:spPr>
          <p:txBody>
            <a:bodyPr/>
            <a:lstStyle/>
            <a:p>
              <a:endParaRPr/>
            </a:p>
          </p:txBody>
        </p:sp>
      </p:grpSp>
      <p:grpSp>
        <p:nvGrpSpPr>
          <p:cNvPr id="10" name="Group 10"/>
          <p:cNvGrpSpPr/>
          <p:nvPr/>
        </p:nvGrpSpPr>
        <p:grpSpPr>
          <a:xfrm>
            <a:off x="0" y="7046871"/>
            <a:ext cx="1312535" cy="3432648"/>
            <a:chOff x="0" y="0"/>
            <a:chExt cx="1750047" cy="4576864"/>
          </a:xfrm>
        </p:grpSpPr>
        <p:sp>
          <p:nvSpPr>
            <p:cNvPr id="11" name="Freeform 11"/>
            <p:cNvSpPr/>
            <p:nvPr/>
          </p:nvSpPr>
          <p:spPr>
            <a:xfrm>
              <a:off x="0" y="0"/>
              <a:ext cx="1750060" cy="4576826"/>
            </a:xfrm>
            <a:custGeom>
              <a:avLst/>
              <a:gdLst/>
              <a:ahLst/>
              <a:cxnLst/>
              <a:rect l="l" t="t" r="r" b="b"/>
              <a:pathLst>
                <a:path w="1750060" h="4576826">
                  <a:moveTo>
                    <a:pt x="0" y="0"/>
                  </a:moveTo>
                  <a:lnTo>
                    <a:pt x="1750060" y="0"/>
                  </a:lnTo>
                  <a:lnTo>
                    <a:pt x="1750060" y="4576826"/>
                  </a:lnTo>
                  <a:lnTo>
                    <a:pt x="0" y="4576826"/>
                  </a:lnTo>
                  <a:lnTo>
                    <a:pt x="0" y="0"/>
                  </a:lnTo>
                  <a:close/>
                </a:path>
              </a:pathLst>
            </a:custGeom>
            <a:blipFill>
              <a:blip r:embed="rId7"/>
              <a:stretch>
                <a:fillRect t="-26" b="-27"/>
              </a:stretch>
            </a:blipFill>
          </p:spPr>
          <p:txBody>
            <a:bodyPr/>
            <a:lstStyle/>
            <a:p>
              <a:endParaRPr/>
            </a:p>
          </p:txBody>
        </p:sp>
      </p:grpSp>
      <p:grpSp>
        <p:nvGrpSpPr>
          <p:cNvPr id="12" name="Group 12"/>
          <p:cNvGrpSpPr/>
          <p:nvPr/>
        </p:nvGrpSpPr>
        <p:grpSpPr>
          <a:xfrm>
            <a:off x="16975465" y="5455063"/>
            <a:ext cx="1312535" cy="4088568"/>
            <a:chOff x="0" y="0"/>
            <a:chExt cx="1750047" cy="5451424"/>
          </a:xfrm>
        </p:grpSpPr>
        <p:sp>
          <p:nvSpPr>
            <p:cNvPr id="13" name="Freeform 13"/>
            <p:cNvSpPr/>
            <p:nvPr/>
          </p:nvSpPr>
          <p:spPr>
            <a:xfrm>
              <a:off x="0" y="0"/>
              <a:ext cx="1750060" cy="5451475"/>
            </a:xfrm>
            <a:custGeom>
              <a:avLst/>
              <a:gdLst/>
              <a:ahLst/>
              <a:cxnLst/>
              <a:rect l="l" t="t" r="r" b="b"/>
              <a:pathLst>
                <a:path w="1750060" h="5451475">
                  <a:moveTo>
                    <a:pt x="0" y="0"/>
                  </a:moveTo>
                  <a:lnTo>
                    <a:pt x="1750060" y="0"/>
                  </a:lnTo>
                  <a:lnTo>
                    <a:pt x="1750060" y="5451475"/>
                  </a:lnTo>
                  <a:lnTo>
                    <a:pt x="0" y="5451475"/>
                  </a:lnTo>
                  <a:lnTo>
                    <a:pt x="0" y="0"/>
                  </a:lnTo>
                  <a:close/>
                </a:path>
              </a:pathLst>
            </a:custGeom>
            <a:blipFill>
              <a:blip r:embed="rId8"/>
              <a:stretch>
                <a:fillRect t="-26" b="-25"/>
              </a:stretch>
            </a:blipFill>
          </p:spPr>
          <p:txBody>
            <a:bodyPr/>
            <a:lstStyle/>
            <a:p>
              <a:endParaRPr/>
            </a:p>
          </p:txBody>
        </p:sp>
      </p:grpSp>
      <p:grpSp>
        <p:nvGrpSpPr>
          <p:cNvPr id="14" name="Group 14"/>
          <p:cNvGrpSpPr/>
          <p:nvPr/>
        </p:nvGrpSpPr>
        <p:grpSpPr>
          <a:xfrm>
            <a:off x="16706945" y="7046871"/>
            <a:ext cx="1104719" cy="2372239"/>
            <a:chOff x="0" y="0"/>
            <a:chExt cx="1472959" cy="3162986"/>
          </a:xfrm>
        </p:grpSpPr>
        <p:sp>
          <p:nvSpPr>
            <p:cNvPr id="15" name="Freeform 15"/>
            <p:cNvSpPr/>
            <p:nvPr/>
          </p:nvSpPr>
          <p:spPr>
            <a:xfrm>
              <a:off x="0" y="0"/>
              <a:ext cx="1472946" cy="3162935"/>
            </a:xfrm>
            <a:custGeom>
              <a:avLst/>
              <a:gdLst/>
              <a:ahLst/>
              <a:cxnLst/>
              <a:rect l="l" t="t" r="r" b="b"/>
              <a:pathLst>
                <a:path w="1472946" h="3162935">
                  <a:moveTo>
                    <a:pt x="0" y="0"/>
                  </a:moveTo>
                  <a:lnTo>
                    <a:pt x="1472946" y="0"/>
                  </a:lnTo>
                  <a:lnTo>
                    <a:pt x="1472946" y="3162935"/>
                  </a:lnTo>
                  <a:lnTo>
                    <a:pt x="0" y="3162935"/>
                  </a:lnTo>
                  <a:lnTo>
                    <a:pt x="0" y="0"/>
                  </a:lnTo>
                  <a:close/>
                </a:path>
              </a:pathLst>
            </a:custGeom>
            <a:blipFill>
              <a:blip r:embed="rId9"/>
              <a:stretch>
                <a:fillRect t="-26" b="-28"/>
              </a:stretch>
            </a:blipFill>
          </p:spPr>
          <p:txBody>
            <a:bodyPr/>
            <a:lstStyle/>
            <a:p>
              <a:endParaRPr/>
            </a:p>
          </p:txBody>
        </p:sp>
      </p:grpSp>
      <p:sp>
        <p:nvSpPr>
          <p:cNvPr id="16" name="TextBox 16"/>
          <p:cNvSpPr txBox="1"/>
          <p:nvPr/>
        </p:nvSpPr>
        <p:spPr>
          <a:xfrm>
            <a:off x="457200" y="270628"/>
            <a:ext cx="15453360" cy="1314450"/>
          </a:xfrm>
          <a:prstGeom prst="rect">
            <a:avLst/>
          </a:prstGeom>
        </p:spPr>
        <p:txBody>
          <a:bodyPr lIns="0" tIns="0" rIns="0" bIns="0" rtlCol="0" anchor="t">
            <a:spAutoFit/>
          </a:bodyPr>
          <a:lstStyle/>
          <a:p>
            <a:pPr algn="l">
              <a:lnSpc>
                <a:spcPts val="7499"/>
              </a:lnSpc>
            </a:pPr>
            <a:r>
              <a:rPr lang="en-US" sz="6600" b="1" spc="150" dirty="0">
                <a:solidFill>
                  <a:srgbClr val="172243"/>
                </a:solidFill>
                <a:latin typeface="Heading Now 31-38 Bold"/>
                <a:ea typeface="Heading Now 31-38 Bold"/>
                <a:cs typeface="Heading Now 31-38 Bold"/>
                <a:sym typeface="Heading Now 31-38 Bold"/>
              </a:rPr>
              <a:t>PROBLEM STATEMENT</a:t>
            </a:r>
          </a:p>
        </p:txBody>
      </p:sp>
      <p:grpSp>
        <p:nvGrpSpPr>
          <p:cNvPr id="17" name="Group 17"/>
          <p:cNvGrpSpPr/>
          <p:nvPr/>
        </p:nvGrpSpPr>
        <p:grpSpPr>
          <a:xfrm>
            <a:off x="457200" y="1028700"/>
            <a:ext cx="5020447" cy="535667"/>
            <a:chOff x="0" y="0"/>
            <a:chExt cx="6693929" cy="714223"/>
          </a:xfrm>
        </p:grpSpPr>
        <p:sp>
          <p:nvSpPr>
            <p:cNvPr id="18" name="Freeform 18"/>
            <p:cNvSpPr/>
            <p:nvPr/>
          </p:nvSpPr>
          <p:spPr>
            <a:xfrm>
              <a:off x="0" y="0"/>
              <a:ext cx="6693916" cy="714248"/>
            </a:xfrm>
            <a:custGeom>
              <a:avLst/>
              <a:gdLst/>
              <a:ahLst/>
              <a:cxnLst/>
              <a:rect l="l" t="t" r="r" b="b"/>
              <a:pathLst>
                <a:path w="6693916" h="714248">
                  <a:moveTo>
                    <a:pt x="0" y="0"/>
                  </a:moveTo>
                  <a:lnTo>
                    <a:pt x="6693916" y="0"/>
                  </a:lnTo>
                  <a:lnTo>
                    <a:pt x="6693916" y="714248"/>
                  </a:lnTo>
                  <a:lnTo>
                    <a:pt x="0" y="714248"/>
                  </a:lnTo>
                  <a:lnTo>
                    <a:pt x="0" y="0"/>
                  </a:lnTo>
                  <a:close/>
                </a:path>
              </a:pathLst>
            </a:custGeom>
            <a:blipFill>
              <a:blip r:embed="rId10"/>
              <a:stretch>
                <a:fillRect l="-11217" r="-11217" b="3"/>
              </a:stretch>
            </a:blipFill>
          </p:spPr>
          <p:txBody>
            <a:bodyPr/>
            <a:lstStyle/>
            <a:p>
              <a:endParaRPr/>
            </a:p>
          </p:txBody>
        </p:sp>
      </p:grpSp>
      <p:grpSp>
        <p:nvGrpSpPr>
          <p:cNvPr id="19" name="Group 19"/>
          <p:cNvGrpSpPr/>
          <p:nvPr/>
        </p:nvGrpSpPr>
        <p:grpSpPr>
          <a:xfrm>
            <a:off x="16178936" y="216170"/>
            <a:ext cx="2160727" cy="2160727"/>
            <a:chOff x="0" y="0"/>
            <a:chExt cx="2880970" cy="2880970"/>
          </a:xfrm>
        </p:grpSpPr>
        <p:sp>
          <p:nvSpPr>
            <p:cNvPr id="20" name="Freeform 20"/>
            <p:cNvSpPr/>
            <p:nvPr/>
          </p:nvSpPr>
          <p:spPr>
            <a:xfrm>
              <a:off x="0" y="0"/>
              <a:ext cx="2880995" cy="2880995"/>
            </a:xfrm>
            <a:custGeom>
              <a:avLst/>
              <a:gdLst/>
              <a:ahLst/>
              <a:cxnLst/>
              <a:rect l="l" t="t" r="r" b="b"/>
              <a:pathLst>
                <a:path w="2880995" h="2880995">
                  <a:moveTo>
                    <a:pt x="0" y="0"/>
                  </a:moveTo>
                  <a:lnTo>
                    <a:pt x="2880995" y="0"/>
                  </a:lnTo>
                  <a:lnTo>
                    <a:pt x="2880995" y="2880995"/>
                  </a:lnTo>
                  <a:lnTo>
                    <a:pt x="0" y="2880995"/>
                  </a:lnTo>
                  <a:lnTo>
                    <a:pt x="0" y="0"/>
                  </a:lnTo>
                  <a:close/>
                </a:path>
              </a:pathLst>
            </a:custGeom>
            <a:blipFill>
              <a:blip r:embed="rId11"/>
              <a:stretch>
                <a:fillRect/>
              </a:stretch>
            </a:blipFill>
          </p:spPr>
          <p:txBody>
            <a:bodyPr/>
            <a:lstStyle/>
            <a:p>
              <a:endParaRPr/>
            </a:p>
          </p:txBody>
        </p:sp>
      </p:grpSp>
      <p:grpSp>
        <p:nvGrpSpPr>
          <p:cNvPr id="21" name="Group 21"/>
          <p:cNvGrpSpPr/>
          <p:nvPr/>
        </p:nvGrpSpPr>
        <p:grpSpPr>
          <a:xfrm>
            <a:off x="13923816" y="2160727"/>
            <a:ext cx="4364184" cy="2153602"/>
            <a:chOff x="0" y="0"/>
            <a:chExt cx="5818911" cy="2871470"/>
          </a:xfrm>
        </p:grpSpPr>
        <p:sp>
          <p:nvSpPr>
            <p:cNvPr id="22" name="Freeform 22"/>
            <p:cNvSpPr/>
            <p:nvPr/>
          </p:nvSpPr>
          <p:spPr>
            <a:xfrm>
              <a:off x="0" y="0"/>
              <a:ext cx="5818886" cy="2871470"/>
            </a:xfrm>
            <a:custGeom>
              <a:avLst/>
              <a:gdLst/>
              <a:ahLst/>
              <a:cxnLst/>
              <a:rect l="l" t="t" r="r" b="b"/>
              <a:pathLst>
                <a:path w="5818886" h="2871470">
                  <a:moveTo>
                    <a:pt x="0" y="0"/>
                  </a:moveTo>
                  <a:lnTo>
                    <a:pt x="5818886" y="0"/>
                  </a:lnTo>
                  <a:lnTo>
                    <a:pt x="5818886" y="2871470"/>
                  </a:lnTo>
                  <a:lnTo>
                    <a:pt x="0" y="2871470"/>
                  </a:lnTo>
                  <a:lnTo>
                    <a:pt x="0" y="0"/>
                  </a:lnTo>
                  <a:close/>
                </a:path>
              </a:pathLst>
            </a:custGeom>
            <a:blipFill>
              <a:blip r:embed="rId12">
                <a:alphaModFix amt="68000"/>
              </a:blip>
              <a:stretch>
                <a:fillRect t="-26" b="-26"/>
              </a:stretch>
            </a:blipFill>
          </p:spPr>
          <p:txBody>
            <a:bodyPr/>
            <a:lstStyle/>
            <a:p>
              <a:endParaRPr/>
            </a:p>
          </p:txBody>
        </p:sp>
      </p:grpSp>
      <p:grpSp>
        <p:nvGrpSpPr>
          <p:cNvPr id="23" name="Group 23"/>
          <p:cNvGrpSpPr/>
          <p:nvPr/>
        </p:nvGrpSpPr>
        <p:grpSpPr>
          <a:xfrm>
            <a:off x="457200" y="1783080"/>
            <a:ext cx="15453360" cy="603504"/>
            <a:chOff x="0" y="0"/>
            <a:chExt cx="20604480" cy="804672"/>
          </a:xfrm>
        </p:grpSpPr>
        <p:sp>
          <p:nvSpPr>
            <p:cNvPr id="24" name="Freeform 24"/>
            <p:cNvSpPr/>
            <p:nvPr/>
          </p:nvSpPr>
          <p:spPr>
            <a:xfrm>
              <a:off x="0" y="0"/>
              <a:ext cx="20604480" cy="804672"/>
            </a:xfrm>
            <a:custGeom>
              <a:avLst/>
              <a:gdLst/>
              <a:ahLst/>
              <a:cxnLst/>
              <a:rect l="l" t="t" r="r" b="b"/>
              <a:pathLst>
                <a:path w="20604480" h="804672">
                  <a:moveTo>
                    <a:pt x="0" y="241427"/>
                  </a:moveTo>
                  <a:cubicBezTo>
                    <a:pt x="0" y="108077"/>
                    <a:pt x="108077" y="0"/>
                    <a:pt x="241427" y="0"/>
                  </a:cubicBezTo>
                  <a:lnTo>
                    <a:pt x="20363053" y="0"/>
                  </a:lnTo>
                  <a:cubicBezTo>
                    <a:pt x="20496403" y="0"/>
                    <a:pt x="20604480" y="108077"/>
                    <a:pt x="20604480" y="241427"/>
                  </a:cubicBezTo>
                  <a:lnTo>
                    <a:pt x="20604480" y="563245"/>
                  </a:lnTo>
                  <a:cubicBezTo>
                    <a:pt x="20604480" y="696595"/>
                    <a:pt x="20496403" y="804672"/>
                    <a:pt x="20363053" y="804672"/>
                  </a:cubicBezTo>
                  <a:lnTo>
                    <a:pt x="241427" y="804672"/>
                  </a:lnTo>
                  <a:cubicBezTo>
                    <a:pt x="108077" y="804672"/>
                    <a:pt x="0" y="696595"/>
                    <a:pt x="0" y="563245"/>
                  </a:cubicBezTo>
                  <a:close/>
                </a:path>
              </a:pathLst>
            </a:custGeom>
            <a:solidFill>
              <a:srgbClr val="172243"/>
            </a:solidFill>
          </p:spPr>
          <p:txBody>
            <a:bodyPr/>
            <a:lstStyle/>
            <a:p>
              <a:endParaRPr/>
            </a:p>
          </p:txBody>
        </p:sp>
        <p:sp>
          <p:nvSpPr>
            <p:cNvPr id="25" name="TextBox 25"/>
            <p:cNvSpPr txBox="1"/>
            <p:nvPr/>
          </p:nvSpPr>
          <p:spPr>
            <a:xfrm>
              <a:off x="0" y="-38100"/>
              <a:ext cx="20604480" cy="842772"/>
            </a:xfrm>
            <a:prstGeom prst="rect">
              <a:avLst/>
            </a:prstGeom>
          </p:spPr>
          <p:txBody>
            <a:bodyPr lIns="50800" tIns="50800" rIns="50800" bIns="50800" rtlCol="0" anchor="ctr"/>
            <a:lstStyle/>
            <a:p>
              <a:pPr algn="l">
                <a:lnSpc>
                  <a:spcPts val="2879"/>
                </a:lnSpc>
              </a:pPr>
              <a:r>
                <a:rPr lang="en-US" sz="2400" b="1">
                  <a:solidFill>
                    <a:srgbClr val="FFFFFF"/>
                  </a:solidFill>
                  <a:latin typeface="Calibri (MS) Bold"/>
                  <a:ea typeface="Calibri (MS) Bold"/>
                  <a:cs typeface="Calibri (MS) Bold"/>
                  <a:sym typeface="Calibri (MS) Bold"/>
                </a:rPr>
                <a:t>G-01: match skills to opportunities, without ever letting an AI score decide who is eligible.</a:t>
              </a:r>
            </a:p>
          </p:txBody>
        </p:sp>
      </p:grpSp>
      <p:sp>
        <p:nvSpPr>
          <p:cNvPr id="26" name="AutoShape 26"/>
          <p:cNvSpPr/>
          <p:nvPr/>
        </p:nvSpPr>
        <p:spPr>
          <a:xfrm rot="5386800">
            <a:off x="5426364" y="6299835"/>
            <a:ext cx="7435272" cy="0"/>
          </a:xfrm>
          <a:prstGeom prst="line">
            <a:avLst/>
          </a:prstGeom>
          <a:ln w="19050" cap="rnd">
            <a:solidFill>
              <a:srgbClr val="172243"/>
            </a:solidFill>
            <a:prstDash val="solid"/>
            <a:headEnd type="none" w="sm" len="sm"/>
            <a:tailEnd type="none" w="sm" len="sm"/>
          </a:ln>
        </p:spPr>
        <p:txBody>
          <a:bodyPr/>
          <a:lstStyle/>
          <a:p>
            <a:endParaRPr/>
          </a:p>
        </p:txBody>
      </p:sp>
      <p:grpSp>
        <p:nvGrpSpPr>
          <p:cNvPr id="27" name="Group 27"/>
          <p:cNvGrpSpPr/>
          <p:nvPr/>
        </p:nvGrpSpPr>
        <p:grpSpPr>
          <a:xfrm>
            <a:off x="457200" y="2606040"/>
            <a:ext cx="8412480" cy="566928"/>
            <a:chOff x="0" y="0"/>
            <a:chExt cx="11216640" cy="755904"/>
          </a:xfrm>
        </p:grpSpPr>
        <p:sp>
          <p:nvSpPr>
            <p:cNvPr id="28" name="Freeform 28"/>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txBody>
            <a:bodyPr/>
            <a:lstStyle/>
            <a:p>
              <a:endParaRPr/>
            </a:p>
          </p:txBody>
        </p:sp>
        <p:sp>
          <p:nvSpPr>
            <p:cNvPr id="29" name="TextBox 29"/>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THE PROBLEM</a:t>
              </a:r>
            </a:p>
          </p:txBody>
        </p:sp>
      </p:grpSp>
      <p:grpSp>
        <p:nvGrpSpPr>
          <p:cNvPr id="30" name="Group 30"/>
          <p:cNvGrpSpPr/>
          <p:nvPr/>
        </p:nvGrpSpPr>
        <p:grpSpPr>
          <a:xfrm>
            <a:off x="450847" y="3303775"/>
            <a:ext cx="8425177" cy="2115817"/>
            <a:chOff x="0" y="0"/>
            <a:chExt cx="11233569" cy="2821089"/>
          </a:xfrm>
        </p:grpSpPr>
        <p:sp>
          <p:nvSpPr>
            <p:cNvPr id="31" name="Freeform 31"/>
            <p:cNvSpPr/>
            <p:nvPr/>
          </p:nvSpPr>
          <p:spPr>
            <a:xfrm>
              <a:off x="0" y="0"/>
              <a:ext cx="11233658" cy="2821178"/>
            </a:xfrm>
            <a:custGeom>
              <a:avLst/>
              <a:gdLst/>
              <a:ahLst/>
              <a:cxnLst/>
              <a:rect l="l" t="t" r="r" b="b"/>
              <a:pathLst>
                <a:path w="11233658" h="2821178">
                  <a:moveTo>
                    <a:pt x="0" y="169291"/>
                  </a:moveTo>
                  <a:cubicBezTo>
                    <a:pt x="0" y="75819"/>
                    <a:pt x="75819" y="0"/>
                    <a:pt x="169291" y="0"/>
                  </a:cubicBezTo>
                  <a:lnTo>
                    <a:pt x="11064367" y="0"/>
                  </a:lnTo>
                  <a:cubicBezTo>
                    <a:pt x="11157839" y="0"/>
                    <a:pt x="11233658" y="75819"/>
                    <a:pt x="11233658" y="169291"/>
                  </a:cubicBezTo>
                  <a:lnTo>
                    <a:pt x="11233658" y="2651887"/>
                  </a:lnTo>
                  <a:cubicBezTo>
                    <a:pt x="11233658" y="2745359"/>
                    <a:pt x="11157839" y="2821178"/>
                    <a:pt x="11064367" y="2821178"/>
                  </a:cubicBezTo>
                  <a:lnTo>
                    <a:pt x="169291" y="2821178"/>
                  </a:lnTo>
                  <a:cubicBezTo>
                    <a:pt x="75819" y="2821051"/>
                    <a:pt x="0" y="2745359"/>
                    <a:pt x="0" y="2651887"/>
                  </a:cubicBezTo>
                  <a:close/>
                </a:path>
              </a:pathLst>
            </a:custGeom>
            <a:solidFill>
              <a:srgbClr val="FFFFFF"/>
            </a:solidFill>
            <a:ln w="12700" cap="sq">
              <a:solidFill>
                <a:srgbClr val="D7D0E6"/>
              </a:solidFill>
              <a:prstDash val="solid"/>
              <a:miter/>
            </a:ln>
          </p:spPr>
          <p:txBody>
            <a:bodyPr/>
            <a:lstStyle/>
            <a:p>
              <a:endParaRPr/>
            </a:p>
          </p:txBody>
        </p:sp>
        <p:sp>
          <p:nvSpPr>
            <p:cNvPr id="32" name="TextBox 32"/>
            <p:cNvSpPr txBox="1"/>
            <p:nvPr/>
          </p:nvSpPr>
          <p:spPr>
            <a:xfrm>
              <a:off x="0" y="-47625"/>
              <a:ext cx="11233569" cy="2868714"/>
            </a:xfrm>
            <a:prstGeom prst="rect">
              <a:avLst/>
            </a:prstGeom>
          </p:spPr>
          <p:txBody>
            <a:bodyPr lIns="50800" tIns="50800" rIns="50800" bIns="50800" rtlCol="0" anchor="t"/>
            <a:lstStyle/>
            <a:p>
              <a:pPr algn="l">
                <a:lnSpc>
                  <a:spcPts val="2999"/>
                </a:lnSpc>
              </a:pPr>
              <a:r>
                <a:rPr lang="en-US" sz="2499" b="1">
                  <a:solidFill>
                    <a:srgbClr val="172243"/>
                  </a:solidFill>
                  <a:latin typeface="Calibri (MS) Bold"/>
                  <a:ea typeface="Calibri (MS) Bold"/>
                  <a:cs typeface="Calibri (MS) Bold"/>
                  <a:sym typeface="Calibri (MS) Bold"/>
                </a:rPr>
                <a:t>The G-01 problem</a:t>
              </a:r>
            </a:p>
            <a:p>
              <a:pPr algn="l">
                <a:lnSpc>
                  <a:spcPts val="2760"/>
                </a:lnSpc>
              </a:pPr>
              <a:r>
                <a:rPr lang="en-US" sz="2300">
                  <a:solidFill>
                    <a:srgbClr val="1B2440"/>
                  </a:solidFill>
                  <a:latin typeface="Calibri (MS)"/>
                  <a:ea typeface="Calibri (MS)"/>
                  <a:cs typeface="Calibri (MS)"/>
                  <a:sym typeface="Calibri (MS)"/>
                </a:rPr>
                <a:t>Listings describe the same skill in different words, so </a:t>
              </a:r>
              <a:r>
                <a:rPr lang="en-US" sz="2300" b="1">
                  <a:solidFill>
                    <a:srgbClr val="1B2440"/>
                  </a:solidFill>
                  <a:latin typeface="Calibri (MS) Bold"/>
                  <a:ea typeface="Calibri (MS) Bold"/>
                  <a:cs typeface="Calibri (MS) Bold"/>
                  <a:sym typeface="Calibri (MS) Bold"/>
                </a:rPr>
                <a:t>keyword search hides roles</a:t>
              </a:r>
              <a:r>
                <a:rPr lang="en-US" sz="2300">
                  <a:solidFill>
                    <a:srgbClr val="1B2440"/>
                  </a:solidFill>
                  <a:latin typeface="Calibri (MS)"/>
                  <a:ea typeface="Calibri (MS)"/>
                  <a:cs typeface="Calibri (MS)"/>
                  <a:sym typeface="Calibri (MS)"/>
                </a:rPr>
                <a:t> from qualified candidates. Worse, </a:t>
              </a:r>
              <a:r>
                <a:rPr lang="en-US" sz="2300" b="1">
                  <a:solidFill>
                    <a:srgbClr val="1B2440"/>
                  </a:solidFill>
                  <a:latin typeface="Calibri (MS) Bold"/>
                  <a:ea typeface="Calibri (MS) Bold"/>
                  <a:cs typeface="Calibri (MS) Bold"/>
                  <a:sym typeface="Calibri (MS) Bold"/>
                </a:rPr>
                <a:t>eligibility</a:t>
              </a:r>
              <a:r>
                <a:rPr lang="en-US" sz="2300">
                  <a:solidFill>
                    <a:srgbClr val="1B2440"/>
                  </a:solidFill>
                  <a:latin typeface="Calibri (MS)"/>
                  <a:ea typeface="Calibri (MS)"/>
                  <a:cs typeface="Calibri (MS)"/>
                  <a:sym typeface="Calibri (MS)"/>
                </a:rPr>
                <a:t> conditions (a candidate must meet them) get mixed with </a:t>
              </a:r>
              <a:r>
                <a:rPr lang="en-US" sz="2300" b="1">
                  <a:solidFill>
                    <a:srgbClr val="1B2440"/>
                  </a:solidFill>
                  <a:latin typeface="Calibri (MS) Bold"/>
                  <a:ea typeface="Calibri (MS) Bold"/>
                  <a:cs typeface="Calibri (MS) Bold"/>
                  <a:sym typeface="Calibri (MS) Bold"/>
                </a:rPr>
                <a:t>preferences</a:t>
              </a:r>
              <a:r>
                <a:rPr lang="en-US" sz="2300">
                  <a:solidFill>
                    <a:srgbClr val="1B2440"/>
                  </a:solidFill>
                  <a:latin typeface="Calibri (MS)"/>
                  <a:ea typeface="Calibri (MS)"/>
                  <a:cs typeface="Calibri (MS)"/>
                  <a:sym typeface="Calibri (MS)"/>
                </a:rPr>
                <a:t> (they only affect ranking).</a:t>
              </a:r>
            </a:p>
          </p:txBody>
        </p:sp>
      </p:grpSp>
      <p:grpSp>
        <p:nvGrpSpPr>
          <p:cNvPr id="33" name="Group 33"/>
          <p:cNvGrpSpPr/>
          <p:nvPr/>
        </p:nvGrpSpPr>
        <p:grpSpPr>
          <a:xfrm>
            <a:off x="457200" y="5596128"/>
            <a:ext cx="4091940" cy="1783080"/>
            <a:chOff x="0" y="0"/>
            <a:chExt cx="5455920" cy="2377440"/>
          </a:xfrm>
        </p:grpSpPr>
        <p:sp>
          <p:nvSpPr>
            <p:cNvPr id="34" name="Freeform 34"/>
            <p:cNvSpPr/>
            <p:nvPr/>
          </p:nvSpPr>
          <p:spPr>
            <a:xfrm>
              <a:off x="0" y="0"/>
              <a:ext cx="5455920" cy="2377440"/>
            </a:xfrm>
            <a:custGeom>
              <a:avLst/>
              <a:gdLst/>
              <a:ahLst/>
              <a:cxnLst/>
              <a:rect l="l" t="t" r="r" b="b"/>
              <a:pathLst>
                <a:path w="5455920" h="2377440">
                  <a:moveTo>
                    <a:pt x="0" y="142621"/>
                  </a:moveTo>
                  <a:cubicBezTo>
                    <a:pt x="0" y="63881"/>
                    <a:pt x="63881" y="0"/>
                    <a:pt x="142621" y="0"/>
                  </a:cubicBezTo>
                  <a:lnTo>
                    <a:pt x="5313299" y="0"/>
                  </a:lnTo>
                  <a:cubicBezTo>
                    <a:pt x="5392039" y="0"/>
                    <a:pt x="5455920" y="63881"/>
                    <a:pt x="5455920" y="142621"/>
                  </a:cubicBezTo>
                  <a:lnTo>
                    <a:pt x="5455920" y="2234819"/>
                  </a:lnTo>
                  <a:cubicBezTo>
                    <a:pt x="5455920" y="2313559"/>
                    <a:pt x="5392039" y="2377440"/>
                    <a:pt x="5313299" y="2377440"/>
                  </a:cubicBezTo>
                  <a:lnTo>
                    <a:pt x="142621" y="2377440"/>
                  </a:lnTo>
                  <a:cubicBezTo>
                    <a:pt x="63881" y="2377440"/>
                    <a:pt x="0" y="2313559"/>
                    <a:pt x="0" y="2234819"/>
                  </a:cubicBezTo>
                  <a:close/>
                </a:path>
              </a:pathLst>
            </a:custGeom>
            <a:solidFill>
              <a:srgbClr val="F8DEDB"/>
            </a:solidFill>
          </p:spPr>
          <p:txBody>
            <a:bodyPr/>
            <a:lstStyle/>
            <a:p>
              <a:endParaRPr/>
            </a:p>
          </p:txBody>
        </p:sp>
        <p:sp>
          <p:nvSpPr>
            <p:cNvPr id="35" name="TextBox 35"/>
            <p:cNvSpPr txBox="1"/>
            <p:nvPr/>
          </p:nvSpPr>
          <p:spPr>
            <a:xfrm>
              <a:off x="0" y="-38100"/>
              <a:ext cx="5455920" cy="2415540"/>
            </a:xfrm>
            <a:prstGeom prst="rect">
              <a:avLst/>
            </a:prstGeom>
          </p:spPr>
          <p:txBody>
            <a:bodyPr lIns="50800" tIns="50800" rIns="50800" bIns="50800" rtlCol="0" anchor="t"/>
            <a:lstStyle/>
            <a:p>
              <a:pPr algn="l">
                <a:lnSpc>
                  <a:spcPts val="2459"/>
                </a:lnSpc>
              </a:pPr>
              <a:r>
                <a:rPr lang="en-US" sz="2049" b="1">
                  <a:solidFill>
                    <a:srgbClr val="8A2323"/>
                  </a:solidFill>
                  <a:latin typeface="Calibri (MS) Bold"/>
                  <a:ea typeface="Calibri (MS) Bold"/>
                  <a:cs typeface="Calibri (MS) Bold"/>
                  <a:sym typeface="Calibri (MS) Bold"/>
                </a:rPr>
                <a:t>Requirement treated as preference</a:t>
              </a:r>
            </a:p>
            <a:p>
              <a:pPr algn="l">
                <a:lnSpc>
                  <a:spcPts val="2459"/>
                </a:lnSpc>
              </a:pPr>
              <a:r>
                <a:rPr lang="en-US" sz="2049">
                  <a:solidFill>
                    <a:srgbClr val="1B2440"/>
                  </a:solidFill>
                  <a:latin typeface="Calibri (MS)"/>
                  <a:ea typeface="Calibri (MS)"/>
                  <a:cs typeface="Calibri (MS)"/>
                  <a:sym typeface="Calibri (MS)"/>
                </a:rPr>
                <a:t>Recommends jobs a candidate cannot formally take.</a:t>
              </a:r>
            </a:p>
          </p:txBody>
        </p:sp>
      </p:grpSp>
      <p:grpSp>
        <p:nvGrpSpPr>
          <p:cNvPr id="36" name="Group 36"/>
          <p:cNvGrpSpPr/>
          <p:nvPr/>
        </p:nvGrpSpPr>
        <p:grpSpPr>
          <a:xfrm>
            <a:off x="4777740" y="5596128"/>
            <a:ext cx="4091940" cy="1783080"/>
            <a:chOff x="0" y="0"/>
            <a:chExt cx="5455920" cy="2377440"/>
          </a:xfrm>
        </p:grpSpPr>
        <p:sp>
          <p:nvSpPr>
            <p:cNvPr id="37" name="Freeform 37"/>
            <p:cNvSpPr/>
            <p:nvPr/>
          </p:nvSpPr>
          <p:spPr>
            <a:xfrm>
              <a:off x="0" y="0"/>
              <a:ext cx="5455920" cy="2377440"/>
            </a:xfrm>
            <a:custGeom>
              <a:avLst/>
              <a:gdLst/>
              <a:ahLst/>
              <a:cxnLst/>
              <a:rect l="l" t="t" r="r" b="b"/>
              <a:pathLst>
                <a:path w="5455920" h="2377440">
                  <a:moveTo>
                    <a:pt x="0" y="142621"/>
                  </a:moveTo>
                  <a:cubicBezTo>
                    <a:pt x="0" y="63881"/>
                    <a:pt x="63881" y="0"/>
                    <a:pt x="142621" y="0"/>
                  </a:cubicBezTo>
                  <a:lnTo>
                    <a:pt x="5313299" y="0"/>
                  </a:lnTo>
                  <a:cubicBezTo>
                    <a:pt x="5392039" y="0"/>
                    <a:pt x="5455920" y="63881"/>
                    <a:pt x="5455920" y="142621"/>
                  </a:cubicBezTo>
                  <a:lnTo>
                    <a:pt x="5455920" y="2234819"/>
                  </a:lnTo>
                  <a:cubicBezTo>
                    <a:pt x="5455920" y="2313559"/>
                    <a:pt x="5392039" y="2377440"/>
                    <a:pt x="5313299" y="2377440"/>
                  </a:cubicBezTo>
                  <a:lnTo>
                    <a:pt x="142621" y="2377440"/>
                  </a:lnTo>
                  <a:cubicBezTo>
                    <a:pt x="63881" y="2377440"/>
                    <a:pt x="0" y="2313559"/>
                    <a:pt x="0" y="2234819"/>
                  </a:cubicBezTo>
                  <a:close/>
                </a:path>
              </a:pathLst>
            </a:custGeom>
            <a:solidFill>
              <a:srgbClr val="FBEFC9"/>
            </a:solidFill>
          </p:spPr>
          <p:txBody>
            <a:bodyPr/>
            <a:lstStyle/>
            <a:p>
              <a:endParaRPr/>
            </a:p>
          </p:txBody>
        </p:sp>
        <p:sp>
          <p:nvSpPr>
            <p:cNvPr id="38" name="TextBox 38"/>
            <p:cNvSpPr txBox="1"/>
            <p:nvPr/>
          </p:nvSpPr>
          <p:spPr>
            <a:xfrm>
              <a:off x="0" y="-38100"/>
              <a:ext cx="5455920" cy="2415540"/>
            </a:xfrm>
            <a:prstGeom prst="rect">
              <a:avLst/>
            </a:prstGeom>
          </p:spPr>
          <p:txBody>
            <a:bodyPr lIns="50800" tIns="50800" rIns="50800" bIns="50800" rtlCol="0" anchor="t"/>
            <a:lstStyle/>
            <a:p>
              <a:pPr algn="l">
                <a:lnSpc>
                  <a:spcPts val="2459"/>
                </a:lnSpc>
              </a:pPr>
              <a:r>
                <a:rPr lang="en-US" sz="2049" b="1">
                  <a:solidFill>
                    <a:srgbClr val="6B4A00"/>
                  </a:solidFill>
                  <a:latin typeface="Calibri (MS) Bold"/>
                  <a:ea typeface="Calibri (MS) Bold"/>
                  <a:cs typeface="Calibri (MS) Bold"/>
                  <a:sym typeface="Calibri (MS) Bold"/>
                </a:rPr>
                <a:t>Preference treated as requirement</a:t>
              </a:r>
            </a:p>
            <a:p>
              <a:pPr algn="l">
                <a:lnSpc>
                  <a:spcPts val="2459"/>
                </a:lnSpc>
              </a:pPr>
              <a:r>
                <a:rPr lang="en-US" sz="2049">
                  <a:solidFill>
                    <a:srgbClr val="1B2440"/>
                  </a:solidFill>
                  <a:latin typeface="Calibri (MS)"/>
                  <a:ea typeface="Calibri (MS)"/>
                  <a:cs typeface="Calibri (MS)"/>
                  <a:sym typeface="Calibri (MS)"/>
                </a:rPr>
                <a:t>Hides options the candidate could still pursue.</a:t>
              </a:r>
            </a:p>
          </p:txBody>
        </p:sp>
      </p:grpSp>
      <p:grpSp>
        <p:nvGrpSpPr>
          <p:cNvPr id="39" name="Group 39"/>
          <p:cNvGrpSpPr/>
          <p:nvPr/>
        </p:nvGrpSpPr>
        <p:grpSpPr>
          <a:xfrm>
            <a:off x="457200" y="7562088"/>
            <a:ext cx="8412480" cy="2450592"/>
            <a:chOff x="0" y="0"/>
            <a:chExt cx="11216640" cy="3267456"/>
          </a:xfrm>
        </p:grpSpPr>
        <p:sp>
          <p:nvSpPr>
            <p:cNvPr id="40" name="Freeform 40"/>
            <p:cNvSpPr/>
            <p:nvPr/>
          </p:nvSpPr>
          <p:spPr>
            <a:xfrm>
              <a:off x="0" y="0"/>
              <a:ext cx="11216640" cy="3267456"/>
            </a:xfrm>
            <a:custGeom>
              <a:avLst/>
              <a:gdLst/>
              <a:ahLst/>
              <a:cxnLst/>
              <a:rect l="l" t="t" r="r" b="b"/>
              <a:pathLst>
                <a:path w="11216640" h="3267456">
                  <a:moveTo>
                    <a:pt x="0" y="196088"/>
                  </a:moveTo>
                  <a:cubicBezTo>
                    <a:pt x="0" y="87757"/>
                    <a:pt x="87757" y="0"/>
                    <a:pt x="196088" y="0"/>
                  </a:cubicBezTo>
                  <a:lnTo>
                    <a:pt x="11020552" y="0"/>
                  </a:lnTo>
                  <a:cubicBezTo>
                    <a:pt x="11128883" y="0"/>
                    <a:pt x="11216640" y="87757"/>
                    <a:pt x="11216640" y="196088"/>
                  </a:cubicBezTo>
                  <a:lnTo>
                    <a:pt x="11216640" y="3071368"/>
                  </a:lnTo>
                  <a:cubicBezTo>
                    <a:pt x="11216640" y="3179699"/>
                    <a:pt x="11128883" y="3267456"/>
                    <a:pt x="11020552" y="3267456"/>
                  </a:cubicBezTo>
                  <a:lnTo>
                    <a:pt x="196088" y="3267456"/>
                  </a:lnTo>
                  <a:cubicBezTo>
                    <a:pt x="87757" y="3267456"/>
                    <a:pt x="0" y="3179699"/>
                    <a:pt x="0" y="3071368"/>
                  </a:cubicBezTo>
                  <a:close/>
                </a:path>
              </a:pathLst>
            </a:custGeom>
            <a:solidFill>
              <a:srgbClr val="172243"/>
            </a:solidFill>
          </p:spPr>
          <p:txBody>
            <a:bodyPr/>
            <a:lstStyle/>
            <a:p>
              <a:endParaRPr/>
            </a:p>
          </p:txBody>
        </p:sp>
        <p:sp>
          <p:nvSpPr>
            <p:cNvPr id="41" name="TextBox 41"/>
            <p:cNvSpPr txBox="1"/>
            <p:nvPr/>
          </p:nvSpPr>
          <p:spPr>
            <a:xfrm>
              <a:off x="0" y="-47625"/>
              <a:ext cx="11216640" cy="3315081"/>
            </a:xfrm>
            <a:prstGeom prst="rect">
              <a:avLst/>
            </a:prstGeom>
          </p:spPr>
          <p:txBody>
            <a:bodyPr lIns="50800" tIns="50800" rIns="50800" bIns="50800" rtlCol="0" anchor="t"/>
            <a:lstStyle/>
            <a:p>
              <a:pPr algn="l">
                <a:lnSpc>
                  <a:spcPts val="2999"/>
                </a:lnSpc>
              </a:pPr>
              <a:r>
                <a:rPr lang="en-US" sz="2499" b="1">
                  <a:solidFill>
                    <a:srgbClr val="FFFFFF"/>
                  </a:solidFill>
                  <a:latin typeface="Calibri (MS) Bold"/>
                  <a:ea typeface="Calibri (MS) Bold"/>
                  <a:cs typeface="Calibri (MS) Bold"/>
                  <a:sym typeface="Calibri (MS) Bold"/>
                </a:rPr>
                <a:t>Core rule: eligibility is not an AI score</a:t>
              </a:r>
            </a:p>
            <a:p>
              <a:pPr algn="l">
                <a:lnSpc>
                  <a:spcPts val="2459"/>
                </a:lnSpc>
              </a:pPr>
              <a:r>
                <a:rPr lang="en-US" sz="2049">
                  <a:solidFill>
                    <a:srgbClr val="FFFFFF"/>
                  </a:solidFill>
                  <a:latin typeface="Calibri (MS)"/>
                  <a:ea typeface="Calibri (MS)"/>
                  <a:cs typeface="Calibri (MS)"/>
                  <a:sym typeface="Calibri (MS)"/>
                </a:rPr>
                <a:t>Needs 2 years of experience, candidate has 6 months: </a:t>
              </a:r>
              <a:r>
                <a:rPr lang="en-US" sz="2049" b="1">
                  <a:solidFill>
                    <a:srgbClr val="FFB4AB"/>
                  </a:solidFill>
                  <a:latin typeface="Calibri (MS) Bold"/>
                  <a:ea typeface="Calibri (MS) Bold"/>
                  <a:cs typeface="Calibri (MS) Bold"/>
                  <a:sym typeface="Calibri (MS) Bold"/>
                </a:rPr>
                <a:t>not eligible</a:t>
              </a:r>
              <a:r>
                <a:rPr lang="en-US" sz="2049">
                  <a:solidFill>
                    <a:srgbClr val="FFFFFF"/>
                  </a:solidFill>
                  <a:latin typeface="Calibri (MS)"/>
                  <a:ea typeface="Calibri (MS)"/>
                  <a:cs typeface="Calibri (MS)"/>
                  <a:sym typeface="Calibri (MS)"/>
                </a:rPr>
                <a:t>, however high the semantic skill similarity.</a:t>
              </a:r>
            </a:p>
            <a:p>
              <a:pPr algn="l">
                <a:lnSpc>
                  <a:spcPts val="2459"/>
                </a:lnSpc>
              </a:pPr>
              <a:r>
                <a:rPr lang="en-US" sz="2049">
                  <a:solidFill>
                    <a:srgbClr val="FFFFFF"/>
                  </a:solidFill>
                  <a:latin typeface="Calibri (MS)"/>
                  <a:ea typeface="Calibri (MS)"/>
                  <a:cs typeface="Calibri (MS)"/>
                  <a:sym typeface="Calibri (MS)"/>
                </a:rPr>
                <a:t>Missing evidence returns </a:t>
              </a:r>
              <a:r>
                <a:rPr lang="en-US" sz="2049" b="1">
                  <a:solidFill>
                    <a:srgbClr val="FFD27A"/>
                  </a:solidFill>
                  <a:latin typeface="Calibri (MS) Bold"/>
                  <a:ea typeface="Calibri (MS) Bold"/>
                  <a:cs typeface="Calibri (MS) Bold"/>
                  <a:sym typeface="Calibri (MS) Bold"/>
                </a:rPr>
                <a:t>“needs more information”</a:t>
              </a:r>
              <a:r>
                <a:rPr lang="en-US" sz="2049">
                  <a:solidFill>
                    <a:srgbClr val="FFFFFF"/>
                  </a:solidFill>
                  <a:latin typeface="Calibri (MS)"/>
                  <a:ea typeface="Calibri (MS)"/>
                  <a:cs typeface="Calibri (MS)"/>
                  <a:sym typeface="Calibri (MS)"/>
                </a:rPr>
                <a:t>, never a pass. AI may interpret skills and rank eligible roles; it must </a:t>
              </a:r>
              <a:r>
                <a:rPr lang="en-US" sz="2049" b="1">
                  <a:solidFill>
                    <a:srgbClr val="FFFFFF"/>
                  </a:solidFill>
                  <a:latin typeface="Calibri (MS) Bold"/>
                  <a:ea typeface="Calibri (MS) Bold"/>
                  <a:cs typeface="Calibri (MS) Bold"/>
                  <a:sym typeface="Calibri (MS) Bold"/>
                </a:rPr>
                <a:t>never override a failed condition</a:t>
              </a:r>
              <a:r>
                <a:rPr lang="en-US" sz="2049">
                  <a:solidFill>
                    <a:srgbClr val="FFFFFF"/>
                  </a:solidFill>
                  <a:latin typeface="Calibri (MS)"/>
                  <a:ea typeface="Calibri (MS)"/>
                  <a:cs typeface="Calibri (MS)"/>
                  <a:sym typeface="Calibri (MS)"/>
                </a:rPr>
                <a:t>.</a:t>
              </a:r>
            </a:p>
            <a:p>
              <a:pPr algn="l">
                <a:lnSpc>
                  <a:spcPts val="2459"/>
                </a:lnSpc>
              </a:pPr>
              <a:r>
                <a:rPr lang="en-US" sz="2049">
                  <a:solidFill>
                    <a:srgbClr val="FFFFFF"/>
                  </a:solidFill>
                  <a:latin typeface="Calibri (MS)"/>
                  <a:ea typeface="Calibri (MS)"/>
                  <a:cs typeface="Calibri (MS)"/>
                  <a:sym typeface="Calibri (MS)"/>
                </a:rPr>
                <a:t>Goal: which roles a candidate can legitimately pursue.</a:t>
              </a:r>
            </a:p>
          </p:txBody>
        </p:sp>
      </p:grpSp>
      <p:grpSp>
        <p:nvGrpSpPr>
          <p:cNvPr id="42" name="Group 42"/>
          <p:cNvGrpSpPr/>
          <p:nvPr/>
        </p:nvGrpSpPr>
        <p:grpSpPr>
          <a:xfrm>
            <a:off x="9418320" y="2606040"/>
            <a:ext cx="8412480" cy="566928"/>
            <a:chOff x="0" y="0"/>
            <a:chExt cx="11216640" cy="755904"/>
          </a:xfrm>
        </p:grpSpPr>
        <p:sp>
          <p:nvSpPr>
            <p:cNvPr id="43" name="Freeform 43"/>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txBody>
            <a:bodyPr/>
            <a:lstStyle/>
            <a:p>
              <a:endParaRPr/>
            </a:p>
          </p:txBody>
        </p:sp>
        <p:sp>
          <p:nvSpPr>
            <p:cNvPr id="44" name="TextBox 44"/>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WHAT BREAKS, AND OUR RESPONSE</a:t>
              </a:r>
            </a:p>
          </p:txBody>
        </p:sp>
      </p:grpSp>
      <p:graphicFrame>
        <p:nvGraphicFramePr>
          <p:cNvPr id="45" name="Table 45"/>
          <p:cNvGraphicFramePr>
            <a:graphicFrameLocks noGrp="1"/>
          </p:cNvGraphicFramePr>
          <p:nvPr/>
        </p:nvGraphicFramePr>
        <p:xfrm>
          <a:off x="9418320" y="3310128"/>
          <a:ext cx="8407399" cy="4724399"/>
        </p:xfrm>
        <a:graphic>
          <a:graphicData uri="http://schemas.openxmlformats.org/drawingml/2006/table">
            <a:tbl>
              <a:tblPr/>
              <a:tblGrid>
                <a:gridCol w="1919080">
                  <a:extLst>
                    <a:ext uri="{9D8B030D-6E8A-4147-A177-3AD203B41FA5}">
                      <a16:colId xmlns:a16="http://schemas.microsoft.com/office/drawing/2014/main" val="20000"/>
                    </a:ext>
                  </a:extLst>
                </a:gridCol>
                <a:gridCol w="3198467">
                  <a:extLst>
                    <a:ext uri="{9D8B030D-6E8A-4147-A177-3AD203B41FA5}">
                      <a16:colId xmlns:a16="http://schemas.microsoft.com/office/drawing/2014/main" val="20001"/>
                    </a:ext>
                  </a:extLst>
                </a:gridCol>
                <a:gridCol w="3289852">
                  <a:extLst>
                    <a:ext uri="{9D8B030D-6E8A-4147-A177-3AD203B41FA5}">
                      <a16:colId xmlns:a16="http://schemas.microsoft.com/office/drawing/2014/main" val="20002"/>
                    </a:ext>
                  </a:extLst>
                </a:gridCol>
              </a:tblGrid>
              <a:tr h="456023">
                <a:tc>
                  <a:txBody>
                    <a:bodyPr/>
                    <a:lstStyle/>
                    <a:p>
                      <a:pPr algn="l">
                        <a:lnSpc>
                          <a:spcPts val="1860"/>
                        </a:lnSpc>
                        <a:defRPr/>
                      </a:pPr>
                      <a:r>
                        <a:rPr lang="en-US" sz="1550" b="1">
                          <a:solidFill>
                            <a:srgbClr val="FFFFFF"/>
                          </a:solidFill>
                          <a:latin typeface="Calibri (MS) Bold"/>
                          <a:ea typeface="Calibri (MS) Bold"/>
                          <a:cs typeface="Calibri (MS) Bold"/>
                          <a:sym typeface="Calibri (MS) Bold"/>
                        </a:rPr>
                        <a:t>Problem</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tc>
                  <a:txBody>
                    <a:bodyPr/>
                    <a:lstStyle/>
                    <a:p>
                      <a:pPr algn="l">
                        <a:lnSpc>
                          <a:spcPts val="1860"/>
                        </a:lnSpc>
                        <a:defRPr/>
                      </a:pPr>
                      <a:r>
                        <a:rPr lang="en-US" sz="1550" b="1">
                          <a:solidFill>
                            <a:srgbClr val="FFFFFF"/>
                          </a:solidFill>
                          <a:latin typeface="Calibri (MS) Bold"/>
                          <a:ea typeface="Calibri (MS) Bold"/>
                          <a:cs typeface="Calibri (MS) Bold"/>
                          <a:sym typeface="Calibri (MS) Bold"/>
                        </a:rPr>
                        <a:t>Practical consequence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tc>
                  <a:txBody>
                    <a:bodyPr/>
                    <a:lstStyle/>
                    <a:p>
                      <a:pPr algn="l">
                        <a:lnSpc>
                          <a:spcPts val="1860"/>
                        </a:lnSpc>
                        <a:defRPr/>
                      </a:pPr>
                      <a:r>
                        <a:rPr lang="en-US" sz="1550" b="1">
                          <a:solidFill>
                            <a:srgbClr val="FFFFFF"/>
                          </a:solidFill>
                          <a:latin typeface="Calibri (MS) Bold"/>
                          <a:ea typeface="Calibri (MS) Bold"/>
                          <a:cs typeface="Calibri (MS) Bold"/>
                          <a:sym typeface="Calibri (MS) Bold"/>
                        </a:rPr>
                        <a:t>RozgarLink response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extLst>
                  <a:ext uri="{0D108BD9-81ED-4DB2-BD59-A6C34878D82A}">
                    <a16:rowId xmlns:a16="http://schemas.microsoft.com/office/drawing/2014/main" val="10000"/>
                  </a:ext>
                </a:extLst>
              </a:tr>
              <a:tr h="711396">
                <a:tc>
                  <a:txBody>
                    <a:bodyPr/>
                    <a:lstStyle/>
                    <a:p>
                      <a:pPr algn="l">
                        <a:lnSpc>
                          <a:spcPts val="1860"/>
                        </a:lnSpc>
                        <a:defRPr/>
                      </a:pPr>
                      <a:r>
                        <a:rPr lang="en-US" sz="1550" b="1">
                          <a:solidFill>
                            <a:srgbClr val="1B2440"/>
                          </a:solidFill>
                          <a:latin typeface="Calibri (MS) Bold"/>
                          <a:ea typeface="Calibri (MS) Bold"/>
                          <a:cs typeface="Calibri (MS) Bold"/>
                          <a:sym typeface="Calibri (MS) Bold"/>
                        </a:rPr>
                        <a:t>Keyword dependence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860"/>
                        </a:lnSpc>
                        <a:defRPr/>
                      </a:pPr>
                      <a:r>
                        <a:rPr lang="en-US" sz="1550">
                          <a:solidFill>
                            <a:srgbClr val="1B2440"/>
                          </a:solidFill>
                          <a:latin typeface="Calibri (MS)"/>
                          <a:ea typeface="Calibri (MS)"/>
                          <a:cs typeface="Calibri (MS)"/>
                          <a:sym typeface="Calibri (MS)"/>
                        </a:rPr>
                        <a:t>Equivalent skills in different wording are missed</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860"/>
                        </a:lnSpc>
                        <a:defRPr/>
                      </a:pPr>
                      <a:r>
                        <a:rPr lang="en-US" sz="1550">
                          <a:solidFill>
                            <a:srgbClr val="1B2440"/>
                          </a:solidFill>
                          <a:latin typeface="Calibri (MS)"/>
                          <a:ea typeface="Calibri (MS)"/>
                          <a:cs typeface="Calibri (MS)"/>
                          <a:sym typeface="Calibri (MS)"/>
                        </a:rPr>
                        <a:t>Alias normalisation + semantic similarity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1396">
                <a:tc>
                  <a:txBody>
                    <a:bodyPr/>
                    <a:lstStyle/>
                    <a:p>
                      <a:pPr algn="l">
                        <a:lnSpc>
                          <a:spcPts val="1860"/>
                        </a:lnSpc>
                        <a:defRPr/>
                      </a:pPr>
                      <a:r>
                        <a:rPr lang="en-US" sz="1550" b="1">
                          <a:solidFill>
                            <a:srgbClr val="1B2440"/>
                          </a:solidFill>
                          <a:latin typeface="Calibri (MS) Bold"/>
                          <a:ea typeface="Calibri (MS) Bold"/>
                          <a:cs typeface="Calibri (MS) Bold"/>
                          <a:sym typeface="Calibri (MS) Bold"/>
                        </a:rPr>
                        <a:t>Eligibility mixed with preference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1860"/>
                        </a:lnSpc>
                        <a:defRPr/>
                      </a:pPr>
                      <a:r>
                        <a:rPr lang="en-US" sz="1550">
                          <a:solidFill>
                            <a:srgbClr val="1B2440"/>
                          </a:solidFill>
                          <a:latin typeface="Calibri (MS)"/>
                          <a:ea typeface="Calibri (MS)"/>
                          <a:cs typeface="Calibri (MS)"/>
                          <a:sym typeface="Calibri (MS)"/>
                        </a:rPr>
                        <a:t>High skill match wrongly implies the candidate qualifies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1860"/>
                        </a:lnSpc>
                        <a:defRPr/>
                      </a:pPr>
                      <a:r>
                        <a:rPr lang="en-US" sz="1550">
                          <a:solidFill>
                            <a:srgbClr val="1B2440"/>
                          </a:solidFill>
                          <a:latin typeface="Calibri (MS)"/>
                          <a:ea typeface="Calibri (MS)"/>
                          <a:cs typeface="Calibri (MS)"/>
                          <a:sym typeface="Calibri (MS)"/>
                        </a:rPr>
                        <a:t>Deterministic mandatory-criteria check before any ranking</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extLst>
                  <a:ext uri="{0D108BD9-81ED-4DB2-BD59-A6C34878D82A}">
                    <a16:rowId xmlns:a16="http://schemas.microsoft.com/office/drawing/2014/main" val="10002"/>
                  </a:ext>
                </a:extLst>
              </a:tr>
              <a:tr h="711396">
                <a:tc>
                  <a:txBody>
                    <a:bodyPr/>
                    <a:lstStyle/>
                    <a:p>
                      <a:pPr algn="l">
                        <a:lnSpc>
                          <a:spcPts val="1860"/>
                        </a:lnSpc>
                        <a:defRPr/>
                      </a:pPr>
                      <a:r>
                        <a:rPr lang="en-US" sz="1550" b="1">
                          <a:solidFill>
                            <a:srgbClr val="1B2440"/>
                          </a:solidFill>
                          <a:latin typeface="Calibri (MS) Bold"/>
                          <a:ea typeface="Calibri (MS) Bold"/>
                          <a:cs typeface="Calibri (MS) Bold"/>
                          <a:sym typeface="Calibri (MS) Bold"/>
                        </a:rPr>
                        <a:t>Opaque recommendations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860"/>
                        </a:lnSpc>
                        <a:defRPr/>
                      </a:pPr>
                      <a:r>
                        <a:rPr lang="en-US" sz="1550">
                          <a:solidFill>
                            <a:srgbClr val="1B2440"/>
                          </a:solidFill>
                          <a:latin typeface="Calibri (MS)"/>
                          <a:ea typeface="Calibri (MS)"/>
                          <a:cs typeface="Calibri (MS)"/>
                          <a:sym typeface="Calibri (MS)"/>
                        </a:rPr>
                        <a:t>Candidates cannot see why a role appears or which condition failed</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860"/>
                        </a:lnSpc>
                        <a:defRPr/>
                      </a:pPr>
                      <a:r>
                        <a:rPr lang="en-US" sz="1550">
                          <a:solidFill>
                            <a:srgbClr val="1B2440"/>
                          </a:solidFill>
                          <a:latin typeface="Calibri (MS)"/>
                          <a:ea typeface="Calibri (MS)"/>
                          <a:cs typeface="Calibri (MS)"/>
                          <a:sym typeface="Calibri (MS)"/>
                        </a:rPr>
                        <a:t>Criterion-level eligibility and score breakdowns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1396">
                <a:tc>
                  <a:txBody>
                    <a:bodyPr/>
                    <a:lstStyle/>
                    <a:p>
                      <a:pPr algn="l">
                        <a:lnSpc>
                          <a:spcPts val="1860"/>
                        </a:lnSpc>
                        <a:defRPr/>
                      </a:pPr>
                      <a:r>
                        <a:rPr lang="en-US" sz="1550" b="1">
                          <a:solidFill>
                            <a:srgbClr val="1B2440"/>
                          </a:solidFill>
                          <a:latin typeface="Calibri (MS) Bold"/>
                          <a:ea typeface="Calibri (MS) Bold"/>
                          <a:cs typeface="Calibri (MS) Bold"/>
                          <a:sym typeface="Calibri (MS) Bold"/>
                        </a:rPr>
                        <a:t>Skill gaps without action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1860"/>
                        </a:lnSpc>
                        <a:defRPr/>
                      </a:pPr>
                      <a:r>
                        <a:rPr lang="en-US" sz="1550">
                          <a:solidFill>
                            <a:srgbClr val="1B2440"/>
                          </a:solidFill>
                          <a:latin typeface="Calibri (MS)"/>
                          <a:ea typeface="Calibri (MS)"/>
                          <a:cs typeface="Calibri (MS)"/>
                          <a:sym typeface="Calibri (MS)"/>
                        </a:rPr>
                        <a:t>Missing skills shown with no next step</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1860"/>
                        </a:lnSpc>
                        <a:defRPr/>
                      </a:pPr>
                      <a:r>
                        <a:rPr lang="en-US" sz="1550">
                          <a:solidFill>
                            <a:srgbClr val="1B2440"/>
                          </a:solidFill>
                          <a:latin typeface="Calibri (MS)"/>
                          <a:ea typeface="Calibri (MS)"/>
                          <a:cs typeface="Calibri (MS)"/>
                          <a:sym typeface="Calibri (MS)"/>
                        </a:rPr>
                        <a:t>Gaps mapped to the team’s learning catalogue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extLst>
                  <a:ext uri="{0D108BD9-81ED-4DB2-BD59-A6C34878D82A}">
                    <a16:rowId xmlns:a16="http://schemas.microsoft.com/office/drawing/2014/main" val="10004"/>
                  </a:ext>
                </a:extLst>
              </a:tr>
              <a:tr h="711396">
                <a:tc>
                  <a:txBody>
                    <a:bodyPr/>
                    <a:lstStyle/>
                    <a:p>
                      <a:pPr algn="l">
                        <a:lnSpc>
                          <a:spcPts val="1860"/>
                        </a:lnSpc>
                        <a:defRPr/>
                      </a:pPr>
                      <a:r>
                        <a:rPr lang="en-US" sz="1550" b="1">
                          <a:solidFill>
                            <a:srgbClr val="1B2440"/>
                          </a:solidFill>
                          <a:latin typeface="Calibri (MS) Bold"/>
                          <a:ea typeface="Calibri (MS) Bold"/>
                          <a:cs typeface="Calibri (MS) Bold"/>
                          <a:sym typeface="Calibri (MS) Bold"/>
                        </a:rPr>
                        <a:t>Stale results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860"/>
                        </a:lnSpc>
                        <a:defRPr/>
                      </a:pPr>
                      <a:r>
                        <a:rPr lang="en-US" sz="1550">
                          <a:solidFill>
                            <a:srgbClr val="1B2440"/>
                          </a:solidFill>
                          <a:latin typeface="Calibri (MS)"/>
                          <a:ea typeface="Calibri (MS)"/>
                          <a:cs typeface="Calibri (MS)"/>
                          <a:sym typeface="Calibri (MS)"/>
                        </a:rPr>
                        <a:t>Profile changes leave rankings outdated</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860"/>
                        </a:lnSpc>
                        <a:defRPr/>
                      </a:pPr>
                      <a:r>
                        <a:rPr lang="en-US" sz="1550">
                          <a:solidFill>
                            <a:srgbClr val="1B2440"/>
                          </a:solidFill>
                          <a:latin typeface="Calibri (MS)"/>
                          <a:ea typeface="Calibri (MS)"/>
                          <a:cs typeface="Calibri (MS)"/>
                          <a:sym typeface="Calibri (MS)"/>
                        </a:rPr>
                        <a:t>Automatic, visible recalculation after edits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11396">
                <a:tc>
                  <a:txBody>
                    <a:bodyPr/>
                    <a:lstStyle/>
                    <a:p>
                      <a:pPr algn="l">
                        <a:lnSpc>
                          <a:spcPts val="1860"/>
                        </a:lnSpc>
                        <a:defRPr/>
                      </a:pPr>
                      <a:r>
                        <a:rPr lang="en-US" sz="1550" b="1">
                          <a:solidFill>
                            <a:srgbClr val="1B2440"/>
                          </a:solidFill>
                          <a:latin typeface="Calibri (MS) Bold"/>
                          <a:ea typeface="Calibri (MS) Bold"/>
                          <a:cs typeface="Calibri (MS) Bold"/>
                          <a:sym typeface="Calibri (MS) Bold"/>
                        </a:rPr>
                        <a:t>Unverified information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1860"/>
                        </a:lnSpc>
                        <a:defRPr/>
                      </a:pPr>
                      <a:r>
                        <a:rPr lang="en-US" sz="1550">
                          <a:solidFill>
                            <a:srgbClr val="1B2440"/>
                          </a:solidFill>
                          <a:latin typeface="Calibri (MS)"/>
                          <a:ea typeface="Calibri (MS)"/>
                          <a:cs typeface="Calibri (MS)"/>
                          <a:sym typeface="Calibri (MS)"/>
                        </a:rPr>
                        <a:t>A qualification or skill is wrongly assumed present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1860"/>
                        </a:lnSpc>
                        <a:defRPr/>
                      </a:pPr>
                      <a:r>
                        <a:rPr lang="en-US" sz="1550">
                          <a:solidFill>
                            <a:srgbClr val="1B2440"/>
                          </a:solidFill>
                          <a:latin typeface="Calibri (MS)"/>
                          <a:ea typeface="Calibri (MS)"/>
                          <a:cs typeface="Calibri (MS)"/>
                          <a:sym typeface="Calibri (MS)"/>
                        </a:rPr>
                        <a:t>Unknown, unverified and demonstrated states kept separate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extLst>
                  <a:ext uri="{0D108BD9-81ED-4DB2-BD59-A6C34878D82A}">
                    <a16:rowId xmlns:a16="http://schemas.microsoft.com/office/drawing/2014/main" val="10006"/>
                  </a:ext>
                </a:extLst>
              </a:tr>
            </a:tbl>
          </a:graphicData>
        </a:graphic>
      </p:graphicFrame>
      <p:grpSp>
        <p:nvGrpSpPr>
          <p:cNvPr id="46" name="Group 46"/>
          <p:cNvGrpSpPr/>
          <p:nvPr/>
        </p:nvGrpSpPr>
        <p:grpSpPr>
          <a:xfrm>
            <a:off x="9411967" y="8223247"/>
            <a:ext cx="8425177" cy="1795777"/>
            <a:chOff x="0" y="0"/>
            <a:chExt cx="11233569" cy="2394369"/>
          </a:xfrm>
        </p:grpSpPr>
        <p:sp>
          <p:nvSpPr>
            <p:cNvPr id="47" name="Freeform 47"/>
            <p:cNvSpPr/>
            <p:nvPr/>
          </p:nvSpPr>
          <p:spPr>
            <a:xfrm>
              <a:off x="0" y="0"/>
              <a:ext cx="11233531" cy="2394331"/>
            </a:xfrm>
            <a:custGeom>
              <a:avLst/>
              <a:gdLst/>
              <a:ahLst/>
              <a:cxnLst/>
              <a:rect l="l" t="t" r="r" b="b"/>
              <a:pathLst>
                <a:path w="11233531" h="2394331">
                  <a:moveTo>
                    <a:pt x="0" y="143637"/>
                  </a:moveTo>
                  <a:cubicBezTo>
                    <a:pt x="0" y="64262"/>
                    <a:pt x="64262" y="0"/>
                    <a:pt x="143637" y="0"/>
                  </a:cubicBezTo>
                  <a:lnTo>
                    <a:pt x="11089894" y="0"/>
                  </a:lnTo>
                  <a:cubicBezTo>
                    <a:pt x="11169269" y="0"/>
                    <a:pt x="11233531" y="64262"/>
                    <a:pt x="11233531" y="143637"/>
                  </a:cubicBezTo>
                  <a:lnTo>
                    <a:pt x="11233531" y="2250694"/>
                  </a:lnTo>
                  <a:cubicBezTo>
                    <a:pt x="11233531" y="2330069"/>
                    <a:pt x="11169269" y="2394331"/>
                    <a:pt x="11089894" y="2394331"/>
                  </a:cubicBezTo>
                  <a:lnTo>
                    <a:pt x="143637" y="2394331"/>
                  </a:lnTo>
                  <a:cubicBezTo>
                    <a:pt x="64262" y="2394331"/>
                    <a:pt x="0" y="2330069"/>
                    <a:pt x="0" y="2250694"/>
                  </a:cubicBezTo>
                  <a:close/>
                </a:path>
              </a:pathLst>
            </a:custGeom>
            <a:solidFill>
              <a:srgbClr val="ECE7F6"/>
            </a:solidFill>
            <a:ln w="12700" cap="sq">
              <a:solidFill>
                <a:srgbClr val="D7D0E6"/>
              </a:solidFill>
              <a:prstDash val="solid"/>
              <a:miter/>
            </a:ln>
          </p:spPr>
          <p:txBody>
            <a:bodyPr/>
            <a:lstStyle/>
            <a:p>
              <a:endParaRPr/>
            </a:p>
          </p:txBody>
        </p:sp>
        <p:sp>
          <p:nvSpPr>
            <p:cNvPr id="48" name="TextBox 48"/>
            <p:cNvSpPr txBox="1"/>
            <p:nvPr/>
          </p:nvSpPr>
          <p:spPr>
            <a:xfrm>
              <a:off x="0" y="-38100"/>
              <a:ext cx="11233569" cy="2432469"/>
            </a:xfrm>
            <a:prstGeom prst="rect">
              <a:avLst/>
            </a:prstGeom>
          </p:spPr>
          <p:txBody>
            <a:bodyPr lIns="50800" tIns="50800" rIns="50800" bIns="50800" rtlCol="0" anchor="t"/>
            <a:lstStyle/>
            <a:p>
              <a:pPr algn="l">
                <a:lnSpc>
                  <a:spcPts val="2580"/>
                </a:lnSpc>
              </a:pPr>
              <a:r>
                <a:rPr lang="en-US" sz="2150" b="1">
                  <a:solidFill>
                    <a:srgbClr val="172243"/>
                  </a:solidFill>
                  <a:latin typeface="Calibri (MS) Bold"/>
                  <a:ea typeface="Calibri (MS) Bold"/>
                  <a:cs typeface="Calibri (MS) Bold"/>
                  <a:sym typeface="Calibri (MS) Bold"/>
                </a:rPr>
                <a:t>Scope and limits</a:t>
              </a:r>
            </a:p>
            <a:p>
              <a:pPr marL="217170" lvl="1" indent="-108585" algn="l">
                <a:lnSpc>
                  <a:spcPts val="2160"/>
                </a:lnSpc>
                <a:buFont typeface="Arial"/>
                <a:buChar char="•"/>
              </a:pPr>
              <a:r>
                <a:rPr lang="en-US" sz="1800">
                  <a:solidFill>
                    <a:srgbClr val="1B2440"/>
                  </a:solidFill>
                  <a:latin typeface="Calibri (MS)"/>
                  <a:ea typeface="Calibri (MS)"/>
                  <a:cs typeface="Calibri (MS)"/>
                  <a:sym typeface="Calibri (MS)"/>
                </a:rPr>
                <a:t>Opportunities are manually entered or seeded (no live scraping)</a:t>
              </a:r>
            </a:p>
            <a:p>
              <a:pPr marL="217170" lvl="1" indent="-108585" algn="l">
                <a:lnSpc>
                  <a:spcPts val="2160"/>
                </a:lnSpc>
                <a:buFont typeface="Arial"/>
                <a:buChar char="•"/>
              </a:pPr>
              <a:r>
                <a:rPr lang="en-US" sz="1800">
                  <a:solidFill>
                    <a:srgbClr val="1B2440"/>
                  </a:solidFill>
                  <a:latin typeface="Calibri (MS)"/>
                  <a:ea typeface="Calibri (MS)"/>
                  <a:cs typeface="Calibri (MS)"/>
                  <a:sym typeface="Calibri (MS)"/>
                </a:rPr>
                <a:t>Course catalogue is team-supplied (no live course APIs)</a:t>
              </a:r>
            </a:p>
            <a:p>
              <a:pPr marL="217170" lvl="1" indent="-108585" algn="l">
                <a:lnSpc>
                  <a:spcPts val="2160"/>
                </a:lnSpc>
                <a:buFont typeface="Arial"/>
                <a:buChar char="•"/>
              </a:pPr>
              <a:r>
                <a:rPr lang="en-US" sz="1800">
                  <a:solidFill>
                    <a:srgbClr val="1B2440"/>
                  </a:solidFill>
                  <a:latin typeface="Calibri (MS)"/>
                  <a:ea typeface="Calibri (MS)"/>
                  <a:cs typeface="Calibri (MS)"/>
                  <a:sym typeface="Calibri (MS)"/>
                </a:rPr>
                <a:t>Scores signal relevance, not eligibility or hiring odds</a:t>
              </a:r>
            </a:p>
            <a:p>
              <a:pPr marL="217170" lvl="1" indent="-108585" algn="l">
                <a:lnSpc>
                  <a:spcPts val="2160"/>
                </a:lnSpc>
                <a:buFont typeface="Arial"/>
                <a:buChar char="•"/>
              </a:pPr>
              <a:r>
                <a:rPr lang="en-US" sz="1800">
                  <a:solidFill>
                    <a:srgbClr val="1B2440"/>
                  </a:solidFill>
                  <a:latin typeface="Calibri (MS)"/>
                  <a:ea typeface="Calibri (MS)"/>
                  <a:cs typeface="Calibri (MS)"/>
                  <a:sym typeface="Calibri (MS)"/>
                </a:rPr>
                <a:t>Matching must stay understandable, consistent and responsive when candidate details change</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6" b="-26"/>
              </a:stretch>
            </a:blipFill>
          </p:spPr>
        </p:sp>
      </p:grpSp>
      <p:grpSp>
        <p:nvGrpSpPr>
          <p:cNvPr id="4" name="Group 4"/>
          <p:cNvGrpSpPr/>
          <p:nvPr/>
        </p:nvGrpSpPr>
        <p:grpSpPr>
          <a:xfrm>
            <a:off x="0" y="0"/>
            <a:ext cx="1750047" cy="9860651"/>
            <a:chOff x="0" y="0"/>
            <a:chExt cx="2333396" cy="13147535"/>
          </a:xfrm>
        </p:grpSpPr>
        <p:sp>
          <p:nvSpPr>
            <p:cNvPr id="5" name="Freeform 5"/>
            <p:cNvSpPr/>
            <p:nvPr/>
          </p:nvSpPr>
          <p:spPr>
            <a:xfrm>
              <a:off x="0" y="0"/>
              <a:ext cx="2333371" cy="13147548"/>
            </a:xfrm>
            <a:custGeom>
              <a:avLst/>
              <a:gdLst/>
              <a:ahLst/>
              <a:cxnLst/>
              <a:rect l="l" t="t" r="r" b="b"/>
              <a:pathLst>
                <a:path w="2333371" h="13147548">
                  <a:moveTo>
                    <a:pt x="0" y="0"/>
                  </a:moveTo>
                  <a:lnTo>
                    <a:pt x="2333371" y="0"/>
                  </a:lnTo>
                  <a:lnTo>
                    <a:pt x="2333371" y="13147548"/>
                  </a:lnTo>
                  <a:lnTo>
                    <a:pt x="0" y="13147548"/>
                  </a:lnTo>
                  <a:lnTo>
                    <a:pt x="0" y="0"/>
                  </a:lnTo>
                  <a:close/>
                </a:path>
              </a:pathLst>
            </a:custGeom>
            <a:blipFill>
              <a:blip r:embed="rId4"/>
              <a:stretch>
                <a:fillRect t="-26" r="-1" b="-26"/>
              </a:stretch>
            </a:blipFill>
          </p:spPr>
        </p:sp>
      </p:grpSp>
      <p:grpSp>
        <p:nvGrpSpPr>
          <p:cNvPr id="6" name="Group 6"/>
          <p:cNvGrpSpPr/>
          <p:nvPr/>
        </p:nvGrpSpPr>
        <p:grpSpPr>
          <a:xfrm>
            <a:off x="14361328" y="6635715"/>
            <a:ext cx="1750047" cy="1727254"/>
            <a:chOff x="0" y="0"/>
            <a:chExt cx="2333396" cy="2303005"/>
          </a:xfrm>
        </p:grpSpPr>
        <p:sp>
          <p:nvSpPr>
            <p:cNvPr id="7" name="Freeform 7"/>
            <p:cNvSpPr/>
            <p:nvPr/>
          </p:nvSpPr>
          <p:spPr>
            <a:xfrm>
              <a:off x="0" y="0"/>
              <a:ext cx="2333371" cy="2303018"/>
            </a:xfrm>
            <a:custGeom>
              <a:avLst/>
              <a:gdLst/>
              <a:ahLst/>
              <a:cxnLst/>
              <a:rect l="l" t="t" r="r" b="b"/>
              <a:pathLst>
                <a:path w="2333371" h="2303018">
                  <a:moveTo>
                    <a:pt x="0" y="0"/>
                  </a:moveTo>
                  <a:lnTo>
                    <a:pt x="2333371" y="0"/>
                  </a:lnTo>
                  <a:lnTo>
                    <a:pt x="2333371" y="2303018"/>
                  </a:lnTo>
                  <a:lnTo>
                    <a:pt x="0" y="2303018"/>
                  </a:lnTo>
                  <a:lnTo>
                    <a:pt x="0" y="0"/>
                  </a:lnTo>
                  <a:close/>
                </a:path>
              </a:pathLst>
            </a:custGeom>
            <a:blipFill>
              <a:blip r:embed="rId5"/>
              <a:stretch>
                <a:fillRect t="-26" r="-1" b="-25"/>
              </a:stretch>
            </a:blipFill>
          </p:spPr>
        </p:sp>
      </p:grpSp>
      <p:grpSp>
        <p:nvGrpSpPr>
          <p:cNvPr id="8" name="Group 8"/>
          <p:cNvGrpSpPr/>
          <p:nvPr/>
        </p:nvGrpSpPr>
        <p:grpSpPr>
          <a:xfrm>
            <a:off x="13059727" y="7046871"/>
            <a:ext cx="5228272" cy="3256521"/>
            <a:chOff x="0" y="0"/>
            <a:chExt cx="6971030" cy="4342028"/>
          </a:xfrm>
        </p:grpSpPr>
        <p:sp>
          <p:nvSpPr>
            <p:cNvPr id="9" name="Freeform 9"/>
            <p:cNvSpPr/>
            <p:nvPr/>
          </p:nvSpPr>
          <p:spPr>
            <a:xfrm>
              <a:off x="0" y="0"/>
              <a:ext cx="6971030" cy="4342003"/>
            </a:xfrm>
            <a:custGeom>
              <a:avLst/>
              <a:gdLst/>
              <a:ahLst/>
              <a:cxnLst/>
              <a:rect l="l" t="t" r="r" b="b"/>
              <a:pathLst>
                <a:path w="6971030" h="4342003">
                  <a:moveTo>
                    <a:pt x="0" y="0"/>
                  </a:moveTo>
                  <a:lnTo>
                    <a:pt x="6971030" y="0"/>
                  </a:lnTo>
                  <a:lnTo>
                    <a:pt x="6971030" y="4342003"/>
                  </a:lnTo>
                  <a:lnTo>
                    <a:pt x="0" y="4342003"/>
                  </a:lnTo>
                  <a:lnTo>
                    <a:pt x="0" y="0"/>
                  </a:lnTo>
                  <a:close/>
                </a:path>
              </a:pathLst>
            </a:custGeom>
            <a:blipFill>
              <a:blip r:embed="rId6"/>
              <a:stretch>
                <a:fillRect t="-2900" b="-2900"/>
              </a:stretch>
            </a:blipFill>
          </p:spPr>
        </p:sp>
      </p:grpSp>
      <p:grpSp>
        <p:nvGrpSpPr>
          <p:cNvPr id="10" name="Group 10"/>
          <p:cNvGrpSpPr/>
          <p:nvPr/>
        </p:nvGrpSpPr>
        <p:grpSpPr>
          <a:xfrm>
            <a:off x="0" y="7046871"/>
            <a:ext cx="1312535" cy="3432648"/>
            <a:chOff x="0" y="0"/>
            <a:chExt cx="1750047" cy="4576864"/>
          </a:xfrm>
        </p:grpSpPr>
        <p:sp>
          <p:nvSpPr>
            <p:cNvPr id="11" name="Freeform 11"/>
            <p:cNvSpPr/>
            <p:nvPr/>
          </p:nvSpPr>
          <p:spPr>
            <a:xfrm>
              <a:off x="0" y="0"/>
              <a:ext cx="1750060" cy="4576826"/>
            </a:xfrm>
            <a:custGeom>
              <a:avLst/>
              <a:gdLst/>
              <a:ahLst/>
              <a:cxnLst/>
              <a:rect l="l" t="t" r="r" b="b"/>
              <a:pathLst>
                <a:path w="1750060" h="4576826">
                  <a:moveTo>
                    <a:pt x="0" y="0"/>
                  </a:moveTo>
                  <a:lnTo>
                    <a:pt x="1750060" y="0"/>
                  </a:lnTo>
                  <a:lnTo>
                    <a:pt x="1750060" y="4576826"/>
                  </a:lnTo>
                  <a:lnTo>
                    <a:pt x="0" y="4576826"/>
                  </a:lnTo>
                  <a:lnTo>
                    <a:pt x="0" y="0"/>
                  </a:lnTo>
                  <a:close/>
                </a:path>
              </a:pathLst>
            </a:custGeom>
            <a:blipFill>
              <a:blip r:embed="rId7"/>
              <a:stretch>
                <a:fillRect t="-26" b="-27"/>
              </a:stretch>
            </a:blipFill>
          </p:spPr>
        </p:sp>
      </p:grpSp>
      <p:grpSp>
        <p:nvGrpSpPr>
          <p:cNvPr id="12" name="Group 12"/>
          <p:cNvGrpSpPr/>
          <p:nvPr/>
        </p:nvGrpSpPr>
        <p:grpSpPr>
          <a:xfrm>
            <a:off x="16975465" y="5455063"/>
            <a:ext cx="1312535" cy="4088568"/>
            <a:chOff x="0" y="0"/>
            <a:chExt cx="1750047" cy="5451424"/>
          </a:xfrm>
        </p:grpSpPr>
        <p:sp>
          <p:nvSpPr>
            <p:cNvPr id="13" name="Freeform 13"/>
            <p:cNvSpPr/>
            <p:nvPr/>
          </p:nvSpPr>
          <p:spPr>
            <a:xfrm>
              <a:off x="0" y="0"/>
              <a:ext cx="1750060" cy="5451475"/>
            </a:xfrm>
            <a:custGeom>
              <a:avLst/>
              <a:gdLst/>
              <a:ahLst/>
              <a:cxnLst/>
              <a:rect l="l" t="t" r="r" b="b"/>
              <a:pathLst>
                <a:path w="1750060" h="5451475">
                  <a:moveTo>
                    <a:pt x="0" y="0"/>
                  </a:moveTo>
                  <a:lnTo>
                    <a:pt x="1750060" y="0"/>
                  </a:lnTo>
                  <a:lnTo>
                    <a:pt x="1750060" y="5451475"/>
                  </a:lnTo>
                  <a:lnTo>
                    <a:pt x="0" y="5451475"/>
                  </a:lnTo>
                  <a:lnTo>
                    <a:pt x="0" y="0"/>
                  </a:lnTo>
                  <a:close/>
                </a:path>
              </a:pathLst>
            </a:custGeom>
            <a:blipFill>
              <a:blip r:embed="rId8"/>
              <a:stretch>
                <a:fillRect t="-26" b="-25"/>
              </a:stretch>
            </a:blipFill>
          </p:spPr>
        </p:sp>
      </p:grpSp>
      <p:grpSp>
        <p:nvGrpSpPr>
          <p:cNvPr id="14" name="Group 14"/>
          <p:cNvGrpSpPr/>
          <p:nvPr/>
        </p:nvGrpSpPr>
        <p:grpSpPr>
          <a:xfrm>
            <a:off x="16706945" y="7046871"/>
            <a:ext cx="1104719" cy="2372239"/>
            <a:chOff x="0" y="0"/>
            <a:chExt cx="1472959" cy="3162986"/>
          </a:xfrm>
        </p:grpSpPr>
        <p:sp>
          <p:nvSpPr>
            <p:cNvPr id="15" name="Freeform 15"/>
            <p:cNvSpPr/>
            <p:nvPr/>
          </p:nvSpPr>
          <p:spPr>
            <a:xfrm>
              <a:off x="0" y="0"/>
              <a:ext cx="1472946" cy="3162935"/>
            </a:xfrm>
            <a:custGeom>
              <a:avLst/>
              <a:gdLst/>
              <a:ahLst/>
              <a:cxnLst/>
              <a:rect l="l" t="t" r="r" b="b"/>
              <a:pathLst>
                <a:path w="1472946" h="3162935">
                  <a:moveTo>
                    <a:pt x="0" y="0"/>
                  </a:moveTo>
                  <a:lnTo>
                    <a:pt x="1472946" y="0"/>
                  </a:lnTo>
                  <a:lnTo>
                    <a:pt x="1472946" y="3162935"/>
                  </a:lnTo>
                  <a:lnTo>
                    <a:pt x="0" y="3162935"/>
                  </a:lnTo>
                  <a:lnTo>
                    <a:pt x="0" y="0"/>
                  </a:lnTo>
                  <a:close/>
                </a:path>
              </a:pathLst>
            </a:custGeom>
            <a:blipFill>
              <a:blip r:embed="rId9"/>
              <a:stretch>
                <a:fillRect t="-26" b="-28"/>
              </a:stretch>
            </a:blipFill>
          </p:spPr>
        </p:sp>
      </p:grpSp>
      <p:sp>
        <p:nvSpPr>
          <p:cNvPr id="16" name="TextBox 16"/>
          <p:cNvSpPr txBox="1"/>
          <p:nvPr/>
        </p:nvSpPr>
        <p:spPr>
          <a:xfrm>
            <a:off x="489155" y="182652"/>
            <a:ext cx="15453360" cy="1314450"/>
          </a:xfrm>
          <a:prstGeom prst="rect">
            <a:avLst/>
          </a:prstGeom>
        </p:spPr>
        <p:txBody>
          <a:bodyPr lIns="0" tIns="0" rIns="0" bIns="0" rtlCol="0" anchor="t">
            <a:spAutoFit/>
          </a:bodyPr>
          <a:lstStyle/>
          <a:p>
            <a:pPr algn="l">
              <a:lnSpc>
                <a:spcPts val="7499"/>
              </a:lnSpc>
            </a:pPr>
            <a:r>
              <a:rPr lang="en-US" sz="6600" b="1" spc="150" dirty="0">
                <a:solidFill>
                  <a:srgbClr val="172243"/>
                </a:solidFill>
                <a:latin typeface="Heading Now 31-38 Bold"/>
                <a:ea typeface="Heading Now 31-38 Bold"/>
                <a:cs typeface="Heading Now 31-38 Bold"/>
                <a:sym typeface="Heading Now 31-38 Bold"/>
              </a:rPr>
              <a:t>IDEA TITLE / PROPOSED SOLUTION</a:t>
            </a:r>
          </a:p>
        </p:txBody>
      </p:sp>
      <p:grpSp>
        <p:nvGrpSpPr>
          <p:cNvPr id="17" name="Group 17"/>
          <p:cNvGrpSpPr/>
          <p:nvPr/>
        </p:nvGrpSpPr>
        <p:grpSpPr>
          <a:xfrm>
            <a:off x="457200" y="1028700"/>
            <a:ext cx="5020447" cy="535667"/>
            <a:chOff x="0" y="0"/>
            <a:chExt cx="6693929" cy="714223"/>
          </a:xfrm>
        </p:grpSpPr>
        <p:sp>
          <p:nvSpPr>
            <p:cNvPr id="18" name="Freeform 18"/>
            <p:cNvSpPr/>
            <p:nvPr/>
          </p:nvSpPr>
          <p:spPr>
            <a:xfrm>
              <a:off x="0" y="0"/>
              <a:ext cx="6693916" cy="714248"/>
            </a:xfrm>
            <a:custGeom>
              <a:avLst/>
              <a:gdLst/>
              <a:ahLst/>
              <a:cxnLst/>
              <a:rect l="l" t="t" r="r" b="b"/>
              <a:pathLst>
                <a:path w="6693916" h="714248">
                  <a:moveTo>
                    <a:pt x="0" y="0"/>
                  </a:moveTo>
                  <a:lnTo>
                    <a:pt x="6693916" y="0"/>
                  </a:lnTo>
                  <a:lnTo>
                    <a:pt x="6693916" y="714248"/>
                  </a:lnTo>
                  <a:lnTo>
                    <a:pt x="0" y="714248"/>
                  </a:lnTo>
                  <a:lnTo>
                    <a:pt x="0" y="0"/>
                  </a:lnTo>
                  <a:close/>
                </a:path>
              </a:pathLst>
            </a:custGeom>
            <a:blipFill>
              <a:blip r:embed="rId10"/>
              <a:stretch>
                <a:fillRect l="-11217" r="-11217" b="3"/>
              </a:stretch>
            </a:blipFill>
          </p:spPr>
        </p:sp>
      </p:grpSp>
      <p:grpSp>
        <p:nvGrpSpPr>
          <p:cNvPr id="19" name="Group 19"/>
          <p:cNvGrpSpPr/>
          <p:nvPr/>
        </p:nvGrpSpPr>
        <p:grpSpPr>
          <a:xfrm>
            <a:off x="16178936" y="216170"/>
            <a:ext cx="2160727" cy="2160727"/>
            <a:chOff x="0" y="0"/>
            <a:chExt cx="2880970" cy="2880970"/>
          </a:xfrm>
        </p:grpSpPr>
        <p:sp>
          <p:nvSpPr>
            <p:cNvPr id="20" name="Freeform 20"/>
            <p:cNvSpPr/>
            <p:nvPr/>
          </p:nvSpPr>
          <p:spPr>
            <a:xfrm>
              <a:off x="0" y="0"/>
              <a:ext cx="2880995" cy="2880995"/>
            </a:xfrm>
            <a:custGeom>
              <a:avLst/>
              <a:gdLst/>
              <a:ahLst/>
              <a:cxnLst/>
              <a:rect l="l" t="t" r="r" b="b"/>
              <a:pathLst>
                <a:path w="2880995" h="2880995">
                  <a:moveTo>
                    <a:pt x="0" y="0"/>
                  </a:moveTo>
                  <a:lnTo>
                    <a:pt x="2880995" y="0"/>
                  </a:lnTo>
                  <a:lnTo>
                    <a:pt x="2880995" y="2880995"/>
                  </a:lnTo>
                  <a:lnTo>
                    <a:pt x="0" y="2880995"/>
                  </a:lnTo>
                  <a:lnTo>
                    <a:pt x="0" y="0"/>
                  </a:lnTo>
                  <a:close/>
                </a:path>
              </a:pathLst>
            </a:custGeom>
            <a:blipFill>
              <a:blip r:embed="rId11"/>
              <a:stretch>
                <a:fillRect/>
              </a:stretch>
            </a:blipFill>
          </p:spPr>
        </p:sp>
      </p:grpSp>
      <p:grpSp>
        <p:nvGrpSpPr>
          <p:cNvPr id="21" name="Group 21"/>
          <p:cNvGrpSpPr/>
          <p:nvPr/>
        </p:nvGrpSpPr>
        <p:grpSpPr>
          <a:xfrm>
            <a:off x="13923816" y="2160727"/>
            <a:ext cx="4364184" cy="2153602"/>
            <a:chOff x="0" y="0"/>
            <a:chExt cx="5818911" cy="2871470"/>
          </a:xfrm>
        </p:grpSpPr>
        <p:sp>
          <p:nvSpPr>
            <p:cNvPr id="22" name="Freeform 22"/>
            <p:cNvSpPr/>
            <p:nvPr/>
          </p:nvSpPr>
          <p:spPr>
            <a:xfrm>
              <a:off x="0" y="0"/>
              <a:ext cx="5818886" cy="2871470"/>
            </a:xfrm>
            <a:custGeom>
              <a:avLst/>
              <a:gdLst/>
              <a:ahLst/>
              <a:cxnLst/>
              <a:rect l="l" t="t" r="r" b="b"/>
              <a:pathLst>
                <a:path w="5818886" h="2871470">
                  <a:moveTo>
                    <a:pt x="0" y="0"/>
                  </a:moveTo>
                  <a:lnTo>
                    <a:pt x="5818886" y="0"/>
                  </a:lnTo>
                  <a:lnTo>
                    <a:pt x="5818886" y="2871470"/>
                  </a:lnTo>
                  <a:lnTo>
                    <a:pt x="0" y="2871470"/>
                  </a:lnTo>
                  <a:lnTo>
                    <a:pt x="0" y="0"/>
                  </a:lnTo>
                  <a:close/>
                </a:path>
              </a:pathLst>
            </a:custGeom>
            <a:blipFill>
              <a:blip r:embed="rId12">
                <a:alphaModFix amt="68000"/>
              </a:blip>
              <a:stretch>
                <a:fillRect t="-26" b="-26"/>
              </a:stretch>
            </a:blipFill>
          </p:spPr>
        </p:sp>
      </p:grpSp>
      <p:grpSp>
        <p:nvGrpSpPr>
          <p:cNvPr id="23" name="Group 23"/>
          <p:cNvGrpSpPr/>
          <p:nvPr/>
        </p:nvGrpSpPr>
        <p:grpSpPr>
          <a:xfrm>
            <a:off x="457200" y="1783080"/>
            <a:ext cx="15453360" cy="603504"/>
            <a:chOff x="0" y="0"/>
            <a:chExt cx="20604480" cy="804672"/>
          </a:xfrm>
        </p:grpSpPr>
        <p:sp>
          <p:nvSpPr>
            <p:cNvPr id="24" name="Freeform 24"/>
            <p:cNvSpPr/>
            <p:nvPr/>
          </p:nvSpPr>
          <p:spPr>
            <a:xfrm>
              <a:off x="0" y="0"/>
              <a:ext cx="20604480" cy="804672"/>
            </a:xfrm>
            <a:custGeom>
              <a:avLst/>
              <a:gdLst/>
              <a:ahLst/>
              <a:cxnLst/>
              <a:rect l="l" t="t" r="r" b="b"/>
              <a:pathLst>
                <a:path w="20604480" h="804672">
                  <a:moveTo>
                    <a:pt x="0" y="241427"/>
                  </a:moveTo>
                  <a:cubicBezTo>
                    <a:pt x="0" y="108077"/>
                    <a:pt x="108077" y="0"/>
                    <a:pt x="241427" y="0"/>
                  </a:cubicBezTo>
                  <a:lnTo>
                    <a:pt x="20363053" y="0"/>
                  </a:lnTo>
                  <a:cubicBezTo>
                    <a:pt x="20496403" y="0"/>
                    <a:pt x="20604480" y="108077"/>
                    <a:pt x="20604480" y="241427"/>
                  </a:cubicBezTo>
                  <a:lnTo>
                    <a:pt x="20604480" y="563245"/>
                  </a:lnTo>
                  <a:cubicBezTo>
                    <a:pt x="20604480" y="696595"/>
                    <a:pt x="20496403" y="804672"/>
                    <a:pt x="20363053" y="804672"/>
                  </a:cubicBezTo>
                  <a:lnTo>
                    <a:pt x="241427" y="804672"/>
                  </a:lnTo>
                  <a:cubicBezTo>
                    <a:pt x="108077" y="804672"/>
                    <a:pt x="0" y="696595"/>
                    <a:pt x="0" y="563245"/>
                  </a:cubicBezTo>
                  <a:close/>
                </a:path>
              </a:pathLst>
            </a:custGeom>
            <a:solidFill>
              <a:srgbClr val="172243"/>
            </a:solidFill>
          </p:spPr>
        </p:sp>
        <p:sp>
          <p:nvSpPr>
            <p:cNvPr id="25" name="TextBox 25"/>
            <p:cNvSpPr txBox="1"/>
            <p:nvPr/>
          </p:nvSpPr>
          <p:spPr>
            <a:xfrm>
              <a:off x="0" y="-38100"/>
              <a:ext cx="20604480" cy="842772"/>
            </a:xfrm>
            <a:prstGeom prst="rect">
              <a:avLst/>
            </a:prstGeom>
          </p:spPr>
          <p:txBody>
            <a:bodyPr lIns="50800" tIns="50800" rIns="50800" bIns="50800" rtlCol="0" anchor="ctr"/>
            <a:lstStyle/>
            <a:p>
              <a:pPr algn="l">
                <a:lnSpc>
                  <a:spcPts val="2879"/>
                </a:lnSpc>
              </a:pPr>
              <a:r>
                <a:rPr lang="en-US" sz="2400" b="1">
                  <a:solidFill>
                    <a:srgbClr val="FFFFFF"/>
                  </a:solidFill>
                  <a:latin typeface="Calibri (MS) Bold"/>
                  <a:ea typeface="Calibri (MS) Bold"/>
                  <a:cs typeface="Calibri (MS) Bold"/>
                  <a:sym typeface="Calibri (MS) Bold"/>
                </a:rPr>
                <a:t>Validate → Match → Explain → Guide. Rules decide who qualifies; AI ranks, explains and teaches.</a:t>
              </a:r>
            </a:p>
          </p:txBody>
        </p:sp>
      </p:grpSp>
      <p:sp>
        <p:nvSpPr>
          <p:cNvPr id="26" name="AutoShape 26"/>
          <p:cNvSpPr/>
          <p:nvPr/>
        </p:nvSpPr>
        <p:spPr>
          <a:xfrm rot="5386800">
            <a:off x="5426364" y="6299835"/>
            <a:ext cx="7435272" cy="0"/>
          </a:xfrm>
          <a:prstGeom prst="line">
            <a:avLst/>
          </a:prstGeom>
          <a:ln w="19050" cap="rnd">
            <a:solidFill>
              <a:srgbClr val="172243"/>
            </a:solidFill>
            <a:prstDash val="solid"/>
            <a:headEnd type="none" w="sm" len="sm"/>
            <a:tailEnd type="none" w="sm" len="sm"/>
          </a:ln>
        </p:spPr>
      </p:sp>
      <p:grpSp>
        <p:nvGrpSpPr>
          <p:cNvPr id="27" name="Group 27"/>
          <p:cNvGrpSpPr/>
          <p:nvPr/>
        </p:nvGrpSpPr>
        <p:grpSpPr>
          <a:xfrm>
            <a:off x="457200" y="2606040"/>
            <a:ext cx="8412480" cy="566928"/>
            <a:chOff x="0" y="0"/>
            <a:chExt cx="11216640" cy="755904"/>
          </a:xfrm>
        </p:grpSpPr>
        <p:sp>
          <p:nvSpPr>
            <p:cNvPr id="28" name="Freeform 28"/>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sp>
        <p:sp>
          <p:nvSpPr>
            <p:cNvPr id="29" name="TextBox 29"/>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HOW IT WORKS: 5-STEP PIPELINE</a:t>
              </a:r>
            </a:p>
          </p:txBody>
        </p:sp>
      </p:grpSp>
      <p:grpSp>
        <p:nvGrpSpPr>
          <p:cNvPr id="30" name="Group 30"/>
          <p:cNvGrpSpPr/>
          <p:nvPr/>
        </p:nvGrpSpPr>
        <p:grpSpPr>
          <a:xfrm>
            <a:off x="450847" y="3303775"/>
            <a:ext cx="4104637" cy="881377"/>
            <a:chOff x="0" y="0"/>
            <a:chExt cx="5472849" cy="1175169"/>
          </a:xfrm>
        </p:grpSpPr>
        <p:sp>
          <p:nvSpPr>
            <p:cNvPr id="31" name="Freeform 31"/>
            <p:cNvSpPr/>
            <p:nvPr/>
          </p:nvSpPr>
          <p:spPr>
            <a:xfrm>
              <a:off x="0" y="0"/>
              <a:ext cx="5472811" cy="1175131"/>
            </a:xfrm>
            <a:custGeom>
              <a:avLst/>
              <a:gdLst/>
              <a:ahLst/>
              <a:cxnLst/>
              <a:rect l="l" t="t" r="r" b="b"/>
              <a:pathLst>
                <a:path w="5472811" h="1175131">
                  <a:moveTo>
                    <a:pt x="0" y="70485"/>
                  </a:moveTo>
                  <a:cubicBezTo>
                    <a:pt x="0" y="31623"/>
                    <a:pt x="31623" y="0"/>
                    <a:pt x="70485" y="0"/>
                  </a:cubicBezTo>
                  <a:lnTo>
                    <a:pt x="5402326" y="0"/>
                  </a:lnTo>
                  <a:cubicBezTo>
                    <a:pt x="5441315" y="0"/>
                    <a:pt x="5472811" y="31623"/>
                    <a:pt x="5472811" y="70485"/>
                  </a:cubicBezTo>
                  <a:lnTo>
                    <a:pt x="5472811" y="1104646"/>
                  </a:lnTo>
                  <a:cubicBezTo>
                    <a:pt x="5472811" y="1143635"/>
                    <a:pt x="5441188" y="1175131"/>
                    <a:pt x="5402326" y="1175131"/>
                  </a:cubicBezTo>
                  <a:lnTo>
                    <a:pt x="70485" y="1175131"/>
                  </a:lnTo>
                  <a:cubicBezTo>
                    <a:pt x="31623" y="1175131"/>
                    <a:pt x="0" y="1143635"/>
                    <a:pt x="0" y="1104646"/>
                  </a:cubicBezTo>
                  <a:close/>
                </a:path>
              </a:pathLst>
            </a:custGeom>
            <a:solidFill>
              <a:srgbClr val="FFFFFF"/>
            </a:solidFill>
            <a:ln w="12700" cap="sq">
              <a:solidFill>
                <a:srgbClr val="D7D0E6"/>
              </a:solidFill>
              <a:prstDash val="solid"/>
              <a:miter/>
            </a:ln>
          </p:spPr>
        </p:sp>
        <p:sp>
          <p:nvSpPr>
            <p:cNvPr id="32" name="TextBox 32"/>
            <p:cNvSpPr txBox="1"/>
            <p:nvPr/>
          </p:nvSpPr>
          <p:spPr>
            <a:xfrm>
              <a:off x="0" y="-38100"/>
              <a:ext cx="5472849" cy="1213269"/>
            </a:xfrm>
            <a:prstGeom prst="rect">
              <a:avLst/>
            </a:prstGeom>
          </p:spPr>
          <p:txBody>
            <a:bodyPr lIns="50800" tIns="50800" rIns="50800" bIns="50800" rtlCol="0" anchor="t"/>
            <a:lstStyle/>
            <a:p>
              <a:pPr algn="l">
                <a:lnSpc>
                  <a:spcPts val="2459"/>
                </a:lnSpc>
              </a:pPr>
              <a:r>
                <a:rPr lang="en-US" sz="2049" b="1">
                  <a:solidFill>
                    <a:srgbClr val="172243"/>
                  </a:solidFill>
                  <a:latin typeface="Calibri (MS) Bold"/>
                  <a:ea typeface="Calibri (MS) Bold"/>
                  <a:cs typeface="Calibri (MS) Bold"/>
                  <a:sym typeface="Calibri (MS) Bold"/>
                </a:rPr>
                <a:t>Candidate profile</a:t>
              </a:r>
            </a:p>
            <a:p>
              <a:pPr algn="l">
                <a:lnSpc>
                  <a:spcPts val="2040"/>
                </a:lnSpc>
              </a:pPr>
              <a:r>
                <a:rPr lang="en-US" sz="1700">
                  <a:solidFill>
                    <a:srgbClr val="4A5170"/>
                  </a:solidFill>
                  <a:latin typeface="Calibri (MS)"/>
                  <a:ea typeface="Calibri (MS)"/>
                  <a:cs typeface="Calibri (MS)"/>
                  <a:sym typeface="Calibri (MS)"/>
                </a:rPr>
                <a:t>skills, qualifications, location, preferences</a:t>
              </a:r>
            </a:p>
          </p:txBody>
        </p:sp>
      </p:grpSp>
      <p:grpSp>
        <p:nvGrpSpPr>
          <p:cNvPr id="33" name="Group 33"/>
          <p:cNvGrpSpPr/>
          <p:nvPr/>
        </p:nvGrpSpPr>
        <p:grpSpPr>
          <a:xfrm>
            <a:off x="4771387" y="3303775"/>
            <a:ext cx="4104637" cy="881377"/>
            <a:chOff x="0" y="0"/>
            <a:chExt cx="5472849" cy="1175169"/>
          </a:xfrm>
        </p:grpSpPr>
        <p:sp>
          <p:nvSpPr>
            <p:cNvPr id="34" name="Freeform 34"/>
            <p:cNvSpPr/>
            <p:nvPr/>
          </p:nvSpPr>
          <p:spPr>
            <a:xfrm>
              <a:off x="0" y="0"/>
              <a:ext cx="5472811" cy="1175131"/>
            </a:xfrm>
            <a:custGeom>
              <a:avLst/>
              <a:gdLst/>
              <a:ahLst/>
              <a:cxnLst/>
              <a:rect l="l" t="t" r="r" b="b"/>
              <a:pathLst>
                <a:path w="5472811" h="1175131">
                  <a:moveTo>
                    <a:pt x="0" y="70485"/>
                  </a:moveTo>
                  <a:cubicBezTo>
                    <a:pt x="0" y="31623"/>
                    <a:pt x="31623" y="0"/>
                    <a:pt x="70485" y="0"/>
                  </a:cubicBezTo>
                  <a:lnTo>
                    <a:pt x="5402326" y="0"/>
                  </a:lnTo>
                  <a:cubicBezTo>
                    <a:pt x="5441315" y="0"/>
                    <a:pt x="5472811" y="31623"/>
                    <a:pt x="5472811" y="70485"/>
                  </a:cubicBezTo>
                  <a:lnTo>
                    <a:pt x="5472811" y="1104646"/>
                  </a:lnTo>
                  <a:cubicBezTo>
                    <a:pt x="5472811" y="1143635"/>
                    <a:pt x="5441188" y="1175131"/>
                    <a:pt x="5402326" y="1175131"/>
                  </a:cubicBezTo>
                  <a:lnTo>
                    <a:pt x="70485" y="1175131"/>
                  </a:lnTo>
                  <a:cubicBezTo>
                    <a:pt x="31623" y="1175131"/>
                    <a:pt x="0" y="1143635"/>
                    <a:pt x="0" y="1104646"/>
                  </a:cubicBezTo>
                  <a:close/>
                </a:path>
              </a:pathLst>
            </a:custGeom>
            <a:solidFill>
              <a:srgbClr val="FFFFFF"/>
            </a:solidFill>
            <a:ln w="12700" cap="sq">
              <a:solidFill>
                <a:srgbClr val="D7D0E6"/>
              </a:solidFill>
              <a:prstDash val="solid"/>
              <a:miter/>
            </a:ln>
          </p:spPr>
        </p:sp>
        <p:sp>
          <p:nvSpPr>
            <p:cNvPr id="35" name="TextBox 35"/>
            <p:cNvSpPr txBox="1"/>
            <p:nvPr/>
          </p:nvSpPr>
          <p:spPr>
            <a:xfrm>
              <a:off x="0" y="-38100"/>
              <a:ext cx="5472849" cy="1213269"/>
            </a:xfrm>
            <a:prstGeom prst="rect">
              <a:avLst/>
            </a:prstGeom>
          </p:spPr>
          <p:txBody>
            <a:bodyPr lIns="50800" tIns="50800" rIns="50800" bIns="50800" rtlCol="0" anchor="t"/>
            <a:lstStyle/>
            <a:p>
              <a:pPr algn="l">
                <a:lnSpc>
                  <a:spcPts val="2459"/>
                </a:lnSpc>
              </a:pPr>
              <a:r>
                <a:rPr lang="en-US" sz="2049" b="1">
                  <a:solidFill>
                    <a:srgbClr val="172243"/>
                  </a:solidFill>
                  <a:latin typeface="Calibri (MS) Bold"/>
                  <a:ea typeface="Calibri (MS) Bold"/>
                  <a:cs typeface="Calibri (MS) Bold"/>
                  <a:sym typeface="Calibri (MS) Bold"/>
                </a:rPr>
                <a:t>Opportunity record</a:t>
              </a:r>
            </a:p>
            <a:p>
              <a:pPr algn="l">
                <a:lnSpc>
                  <a:spcPts val="2040"/>
                </a:lnSpc>
              </a:pPr>
              <a:r>
                <a:rPr lang="en-US" sz="1700">
                  <a:solidFill>
                    <a:srgbClr val="4A5170"/>
                  </a:solidFill>
                  <a:latin typeface="Calibri (MS)"/>
                  <a:ea typeface="Calibri (MS)"/>
                  <a:cs typeface="Calibri (MS)"/>
                  <a:sym typeface="Calibri (MS)"/>
                </a:rPr>
                <a:t>explicit mandatory + preferred criteria</a:t>
              </a:r>
            </a:p>
          </p:txBody>
        </p:sp>
      </p:grpSp>
      <p:grpSp>
        <p:nvGrpSpPr>
          <p:cNvPr id="36" name="Group 36"/>
          <p:cNvGrpSpPr/>
          <p:nvPr/>
        </p:nvGrpSpPr>
        <p:grpSpPr>
          <a:xfrm>
            <a:off x="4480560" y="4215384"/>
            <a:ext cx="365760" cy="246888"/>
            <a:chOff x="0" y="0"/>
            <a:chExt cx="487680" cy="329184"/>
          </a:xfrm>
        </p:grpSpPr>
        <p:sp>
          <p:nvSpPr>
            <p:cNvPr id="37" name="Freeform 37"/>
            <p:cNvSpPr/>
            <p:nvPr/>
          </p:nvSpPr>
          <p:spPr>
            <a:xfrm>
              <a:off x="0" y="0"/>
              <a:ext cx="487680" cy="329184"/>
            </a:xfrm>
            <a:custGeom>
              <a:avLst/>
              <a:gdLst/>
              <a:ahLst/>
              <a:cxnLst/>
              <a:rect l="l" t="t" r="r" b="b"/>
              <a:pathLst>
                <a:path w="487680" h="329184">
                  <a:moveTo>
                    <a:pt x="0" y="164592"/>
                  </a:moveTo>
                  <a:lnTo>
                    <a:pt x="121920" y="164592"/>
                  </a:lnTo>
                  <a:lnTo>
                    <a:pt x="121920" y="0"/>
                  </a:lnTo>
                  <a:lnTo>
                    <a:pt x="365760" y="0"/>
                  </a:lnTo>
                  <a:lnTo>
                    <a:pt x="365760" y="164592"/>
                  </a:lnTo>
                  <a:lnTo>
                    <a:pt x="487680" y="164592"/>
                  </a:lnTo>
                  <a:lnTo>
                    <a:pt x="243840" y="329184"/>
                  </a:lnTo>
                  <a:close/>
                </a:path>
              </a:pathLst>
            </a:custGeom>
            <a:solidFill>
              <a:srgbClr val="E4695C"/>
            </a:solidFill>
          </p:spPr>
        </p:sp>
      </p:grpSp>
      <p:grpSp>
        <p:nvGrpSpPr>
          <p:cNvPr id="38" name="Group 38"/>
          <p:cNvGrpSpPr/>
          <p:nvPr/>
        </p:nvGrpSpPr>
        <p:grpSpPr>
          <a:xfrm>
            <a:off x="457200" y="4507992"/>
            <a:ext cx="8412480" cy="868680"/>
            <a:chOff x="0" y="0"/>
            <a:chExt cx="11216640" cy="1158240"/>
          </a:xfrm>
        </p:grpSpPr>
        <p:sp>
          <p:nvSpPr>
            <p:cNvPr id="39" name="Freeform 39"/>
            <p:cNvSpPr/>
            <p:nvPr/>
          </p:nvSpPr>
          <p:spPr>
            <a:xfrm>
              <a:off x="0" y="0"/>
              <a:ext cx="11216639" cy="1158240"/>
            </a:xfrm>
            <a:custGeom>
              <a:avLst/>
              <a:gdLst/>
              <a:ahLst/>
              <a:cxnLst/>
              <a:rect l="l" t="t" r="r" b="b"/>
              <a:pathLst>
                <a:path w="11216639" h="1158240">
                  <a:moveTo>
                    <a:pt x="0" y="69469"/>
                  </a:moveTo>
                  <a:cubicBezTo>
                    <a:pt x="0" y="31115"/>
                    <a:pt x="31115" y="0"/>
                    <a:pt x="69469" y="0"/>
                  </a:cubicBezTo>
                  <a:lnTo>
                    <a:pt x="11147171" y="0"/>
                  </a:lnTo>
                  <a:cubicBezTo>
                    <a:pt x="11185525" y="0"/>
                    <a:pt x="11216639" y="31115"/>
                    <a:pt x="11216639" y="69469"/>
                  </a:cubicBezTo>
                  <a:lnTo>
                    <a:pt x="11216639" y="1088771"/>
                  </a:lnTo>
                  <a:cubicBezTo>
                    <a:pt x="11216639" y="1127125"/>
                    <a:pt x="11185525" y="1158240"/>
                    <a:pt x="11147171" y="1158240"/>
                  </a:cubicBezTo>
                  <a:lnTo>
                    <a:pt x="69469" y="1158240"/>
                  </a:lnTo>
                  <a:cubicBezTo>
                    <a:pt x="31115" y="1158240"/>
                    <a:pt x="0" y="1127125"/>
                    <a:pt x="0" y="1088771"/>
                  </a:cubicBezTo>
                  <a:close/>
                </a:path>
              </a:pathLst>
            </a:custGeom>
            <a:solidFill>
              <a:srgbClr val="172243"/>
            </a:solidFill>
          </p:spPr>
        </p:sp>
        <p:sp>
          <p:nvSpPr>
            <p:cNvPr id="40" name="TextBox 40"/>
            <p:cNvSpPr txBox="1"/>
            <p:nvPr/>
          </p:nvSpPr>
          <p:spPr>
            <a:xfrm>
              <a:off x="0" y="-47625"/>
              <a:ext cx="11216640" cy="1205865"/>
            </a:xfrm>
            <a:prstGeom prst="rect">
              <a:avLst/>
            </a:prstGeom>
          </p:spPr>
          <p:txBody>
            <a:bodyPr lIns="50800" tIns="50800" rIns="50800" bIns="50800" rtlCol="0" anchor="t"/>
            <a:lstStyle/>
            <a:p>
              <a:pPr algn="l">
                <a:lnSpc>
                  <a:spcPts val="2760"/>
                </a:lnSpc>
              </a:pPr>
              <a:r>
                <a:rPr lang="en-US" sz="2300" b="1">
                  <a:solidFill>
                    <a:srgbClr val="FFFFFF"/>
                  </a:solidFill>
                  <a:latin typeface="Calibri (MS) Bold"/>
                  <a:ea typeface="Calibri (MS) Bold"/>
                  <a:cs typeface="Calibri (MS) Bold"/>
                  <a:sym typeface="Calibri (MS) Bold"/>
                </a:rPr>
                <a:t>1  Deterministic eligibility engine</a:t>
              </a:r>
            </a:p>
            <a:p>
              <a:pPr algn="l">
                <a:lnSpc>
                  <a:spcPts val="2160"/>
                </a:lnSpc>
              </a:pPr>
              <a:r>
                <a:rPr lang="en-US" sz="1800">
                  <a:solidFill>
                    <a:srgbClr val="D9DDF0"/>
                  </a:solidFill>
                  <a:latin typeface="Calibri (MS)"/>
                  <a:ea typeface="Calibri (MS)"/>
                  <a:cs typeface="Calibri (MS)"/>
                  <a:sym typeface="Calibri (MS)"/>
                </a:rPr>
                <a:t>checks mandatory criteria only; no AI score involved</a:t>
              </a:r>
            </a:p>
          </p:txBody>
        </p:sp>
      </p:grpSp>
      <p:grpSp>
        <p:nvGrpSpPr>
          <p:cNvPr id="41" name="Group 41"/>
          <p:cNvGrpSpPr/>
          <p:nvPr/>
        </p:nvGrpSpPr>
        <p:grpSpPr>
          <a:xfrm>
            <a:off x="457200" y="5513832"/>
            <a:ext cx="2682240" cy="1371600"/>
            <a:chOff x="0" y="0"/>
            <a:chExt cx="3576320" cy="1828800"/>
          </a:xfrm>
        </p:grpSpPr>
        <p:sp>
          <p:nvSpPr>
            <p:cNvPr id="42" name="Freeform 42"/>
            <p:cNvSpPr/>
            <p:nvPr/>
          </p:nvSpPr>
          <p:spPr>
            <a:xfrm>
              <a:off x="0" y="0"/>
              <a:ext cx="3576320" cy="1828800"/>
            </a:xfrm>
            <a:custGeom>
              <a:avLst/>
              <a:gdLst/>
              <a:ahLst/>
              <a:cxnLst/>
              <a:rect l="l" t="t" r="r" b="b"/>
              <a:pathLst>
                <a:path w="3576320" h="1828800">
                  <a:moveTo>
                    <a:pt x="0" y="109728"/>
                  </a:moveTo>
                  <a:cubicBezTo>
                    <a:pt x="0" y="49149"/>
                    <a:pt x="49149" y="0"/>
                    <a:pt x="109728" y="0"/>
                  </a:cubicBezTo>
                  <a:lnTo>
                    <a:pt x="3466592" y="0"/>
                  </a:lnTo>
                  <a:cubicBezTo>
                    <a:pt x="3527171" y="0"/>
                    <a:pt x="3576320" y="49149"/>
                    <a:pt x="3576320" y="109728"/>
                  </a:cubicBezTo>
                  <a:lnTo>
                    <a:pt x="3576320" y="1719072"/>
                  </a:lnTo>
                  <a:cubicBezTo>
                    <a:pt x="3576320" y="1779651"/>
                    <a:pt x="3527171" y="1828800"/>
                    <a:pt x="3466592" y="1828800"/>
                  </a:cubicBezTo>
                  <a:lnTo>
                    <a:pt x="109728" y="1828800"/>
                  </a:lnTo>
                  <a:cubicBezTo>
                    <a:pt x="49149" y="1828800"/>
                    <a:pt x="0" y="1779651"/>
                    <a:pt x="0" y="1719072"/>
                  </a:cubicBezTo>
                  <a:close/>
                </a:path>
              </a:pathLst>
            </a:custGeom>
            <a:solidFill>
              <a:srgbClr val="F8DEDB"/>
            </a:solidFill>
          </p:spPr>
        </p:sp>
        <p:sp>
          <p:nvSpPr>
            <p:cNvPr id="43" name="TextBox 43"/>
            <p:cNvSpPr txBox="1"/>
            <p:nvPr/>
          </p:nvSpPr>
          <p:spPr>
            <a:xfrm>
              <a:off x="0" y="-38100"/>
              <a:ext cx="3576320" cy="1866900"/>
            </a:xfrm>
            <a:prstGeom prst="rect">
              <a:avLst/>
            </a:prstGeom>
          </p:spPr>
          <p:txBody>
            <a:bodyPr lIns="50800" tIns="50800" rIns="50800" bIns="50800" rtlCol="0" anchor="t"/>
            <a:lstStyle/>
            <a:p>
              <a:pPr algn="l">
                <a:lnSpc>
                  <a:spcPts val="2459"/>
                </a:lnSpc>
              </a:pPr>
              <a:r>
                <a:rPr lang="en-US" sz="2049" b="1">
                  <a:solidFill>
                    <a:srgbClr val="8A2323"/>
                  </a:solidFill>
                  <a:latin typeface="Calibri (MS) Bold"/>
                  <a:ea typeface="Calibri (MS) Bold"/>
                  <a:cs typeface="Calibri (MS) Bold"/>
                  <a:sym typeface="Calibri (MS) Bold"/>
                </a:rPr>
                <a:t>Not eligible</a:t>
              </a:r>
            </a:p>
            <a:p>
              <a:pPr algn="l">
                <a:lnSpc>
                  <a:spcPts val="2099"/>
                </a:lnSpc>
              </a:pPr>
              <a:r>
                <a:rPr lang="en-US" sz="1749">
                  <a:solidFill>
                    <a:srgbClr val="1B2440"/>
                  </a:solidFill>
                  <a:latin typeface="Calibri (MS)"/>
                  <a:ea typeface="Calibri (MS)"/>
                  <a:cs typeface="Calibri (MS)"/>
                  <a:sym typeface="Calibri (MS)"/>
                </a:rPr>
                <a:t>Exact failed condition shown; excluded from ranking.</a:t>
              </a:r>
            </a:p>
          </p:txBody>
        </p:sp>
      </p:grpSp>
      <p:grpSp>
        <p:nvGrpSpPr>
          <p:cNvPr id="44" name="Group 44"/>
          <p:cNvGrpSpPr/>
          <p:nvPr/>
        </p:nvGrpSpPr>
        <p:grpSpPr>
          <a:xfrm>
            <a:off x="3322320" y="5513832"/>
            <a:ext cx="2682240" cy="1371600"/>
            <a:chOff x="0" y="0"/>
            <a:chExt cx="3576320" cy="1828800"/>
          </a:xfrm>
        </p:grpSpPr>
        <p:sp>
          <p:nvSpPr>
            <p:cNvPr id="45" name="Freeform 45"/>
            <p:cNvSpPr/>
            <p:nvPr/>
          </p:nvSpPr>
          <p:spPr>
            <a:xfrm>
              <a:off x="0" y="0"/>
              <a:ext cx="3576320" cy="1828800"/>
            </a:xfrm>
            <a:custGeom>
              <a:avLst/>
              <a:gdLst/>
              <a:ahLst/>
              <a:cxnLst/>
              <a:rect l="l" t="t" r="r" b="b"/>
              <a:pathLst>
                <a:path w="3576320" h="1828800">
                  <a:moveTo>
                    <a:pt x="0" y="109728"/>
                  </a:moveTo>
                  <a:cubicBezTo>
                    <a:pt x="0" y="49149"/>
                    <a:pt x="49149" y="0"/>
                    <a:pt x="109728" y="0"/>
                  </a:cubicBezTo>
                  <a:lnTo>
                    <a:pt x="3466592" y="0"/>
                  </a:lnTo>
                  <a:cubicBezTo>
                    <a:pt x="3527171" y="0"/>
                    <a:pt x="3576320" y="49149"/>
                    <a:pt x="3576320" y="109728"/>
                  </a:cubicBezTo>
                  <a:lnTo>
                    <a:pt x="3576320" y="1719072"/>
                  </a:lnTo>
                  <a:cubicBezTo>
                    <a:pt x="3576320" y="1779651"/>
                    <a:pt x="3527171" y="1828800"/>
                    <a:pt x="3466592" y="1828800"/>
                  </a:cubicBezTo>
                  <a:lnTo>
                    <a:pt x="109728" y="1828800"/>
                  </a:lnTo>
                  <a:cubicBezTo>
                    <a:pt x="49149" y="1828800"/>
                    <a:pt x="0" y="1779651"/>
                    <a:pt x="0" y="1719072"/>
                  </a:cubicBezTo>
                  <a:close/>
                </a:path>
              </a:pathLst>
            </a:custGeom>
            <a:solidFill>
              <a:srgbClr val="FBEFC9"/>
            </a:solidFill>
          </p:spPr>
        </p:sp>
        <p:sp>
          <p:nvSpPr>
            <p:cNvPr id="46" name="TextBox 46"/>
            <p:cNvSpPr txBox="1"/>
            <p:nvPr/>
          </p:nvSpPr>
          <p:spPr>
            <a:xfrm>
              <a:off x="0" y="-38100"/>
              <a:ext cx="3576320" cy="1866900"/>
            </a:xfrm>
            <a:prstGeom prst="rect">
              <a:avLst/>
            </a:prstGeom>
          </p:spPr>
          <p:txBody>
            <a:bodyPr lIns="50800" tIns="50800" rIns="50800" bIns="50800" rtlCol="0" anchor="t"/>
            <a:lstStyle/>
            <a:p>
              <a:pPr algn="l">
                <a:lnSpc>
                  <a:spcPts val="2459"/>
                </a:lnSpc>
              </a:pPr>
              <a:r>
                <a:rPr lang="en-US" sz="2049" b="1">
                  <a:solidFill>
                    <a:srgbClr val="6B4A00"/>
                  </a:solidFill>
                  <a:latin typeface="Calibri (MS) Bold"/>
                  <a:ea typeface="Calibri (MS) Bold"/>
                  <a:cs typeface="Calibri (MS) Bold"/>
                  <a:sym typeface="Calibri (MS) Bold"/>
                </a:rPr>
                <a:t>Needs more info</a:t>
              </a:r>
            </a:p>
            <a:p>
              <a:pPr algn="l">
                <a:lnSpc>
                  <a:spcPts val="2099"/>
                </a:lnSpc>
              </a:pPr>
              <a:r>
                <a:rPr lang="en-US" sz="1749">
                  <a:solidFill>
                    <a:srgbClr val="1B2440"/>
                  </a:solidFill>
                  <a:latin typeface="Calibri (MS)"/>
                  <a:ea typeface="Calibri (MS)"/>
                  <a:cs typeface="Calibri (MS)"/>
                  <a:sym typeface="Calibri (MS)"/>
                </a:rPr>
                <a:t>Missing fact is named; never assumed to pass.</a:t>
              </a:r>
            </a:p>
          </p:txBody>
        </p:sp>
      </p:grpSp>
      <p:grpSp>
        <p:nvGrpSpPr>
          <p:cNvPr id="47" name="Group 47"/>
          <p:cNvGrpSpPr/>
          <p:nvPr/>
        </p:nvGrpSpPr>
        <p:grpSpPr>
          <a:xfrm>
            <a:off x="6187440" y="5513832"/>
            <a:ext cx="2682240" cy="1371600"/>
            <a:chOff x="0" y="0"/>
            <a:chExt cx="3576320" cy="1828800"/>
          </a:xfrm>
        </p:grpSpPr>
        <p:sp>
          <p:nvSpPr>
            <p:cNvPr id="48" name="Freeform 48"/>
            <p:cNvSpPr/>
            <p:nvPr/>
          </p:nvSpPr>
          <p:spPr>
            <a:xfrm>
              <a:off x="0" y="0"/>
              <a:ext cx="3576320" cy="1828800"/>
            </a:xfrm>
            <a:custGeom>
              <a:avLst/>
              <a:gdLst/>
              <a:ahLst/>
              <a:cxnLst/>
              <a:rect l="l" t="t" r="r" b="b"/>
              <a:pathLst>
                <a:path w="3576320" h="1828800">
                  <a:moveTo>
                    <a:pt x="0" y="109728"/>
                  </a:moveTo>
                  <a:cubicBezTo>
                    <a:pt x="0" y="49149"/>
                    <a:pt x="49149" y="0"/>
                    <a:pt x="109728" y="0"/>
                  </a:cubicBezTo>
                  <a:lnTo>
                    <a:pt x="3466592" y="0"/>
                  </a:lnTo>
                  <a:cubicBezTo>
                    <a:pt x="3527171" y="0"/>
                    <a:pt x="3576320" y="49149"/>
                    <a:pt x="3576320" y="109728"/>
                  </a:cubicBezTo>
                  <a:lnTo>
                    <a:pt x="3576320" y="1719072"/>
                  </a:lnTo>
                  <a:cubicBezTo>
                    <a:pt x="3576320" y="1779651"/>
                    <a:pt x="3527171" y="1828800"/>
                    <a:pt x="3466592" y="1828800"/>
                  </a:cubicBezTo>
                  <a:lnTo>
                    <a:pt x="109728" y="1828800"/>
                  </a:lnTo>
                  <a:cubicBezTo>
                    <a:pt x="49149" y="1828800"/>
                    <a:pt x="0" y="1779651"/>
                    <a:pt x="0" y="1719072"/>
                  </a:cubicBezTo>
                  <a:close/>
                </a:path>
              </a:pathLst>
            </a:custGeom>
            <a:solidFill>
              <a:srgbClr val="DDF1E3"/>
            </a:solidFill>
          </p:spPr>
        </p:sp>
        <p:sp>
          <p:nvSpPr>
            <p:cNvPr id="49" name="TextBox 49"/>
            <p:cNvSpPr txBox="1"/>
            <p:nvPr/>
          </p:nvSpPr>
          <p:spPr>
            <a:xfrm>
              <a:off x="0" y="-38100"/>
              <a:ext cx="3576320" cy="1866900"/>
            </a:xfrm>
            <a:prstGeom prst="rect">
              <a:avLst/>
            </a:prstGeom>
          </p:spPr>
          <p:txBody>
            <a:bodyPr lIns="50800" tIns="50800" rIns="50800" bIns="50800" rtlCol="0" anchor="t"/>
            <a:lstStyle/>
            <a:p>
              <a:pPr algn="l">
                <a:lnSpc>
                  <a:spcPts val="2459"/>
                </a:lnSpc>
              </a:pPr>
              <a:r>
                <a:rPr lang="en-US" sz="2049" b="1">
                  <a:solidFill>
                    <a:srgbClr val="1E5B35"/>
                  </a:solidFill>
                  <a:latin typeface="Calibri (MS) Bold"/>
                  <a:ea typeface="Calibri (MS) Bold"/>
                  <a:cs typeface="Calibri (MS) Bold"/>
                  <a:sym typeface="Calibri (MS) Bold"/>
                </a:rPr>
                <a:t>Eligible</a:t>
              </a:r>
            </a:p>
            <a:p>
              <a:pPr algn="l">
                <a:lnSpc>
                  <a:spcPts val="2099"/>
                </a:lnSpc>
              </a:pPr>
              <a:r>
                <a:rPr lang="en-US" sz="1749">
                  <a:solidFill>
                    <a:srgbClr val="1B2440"/>
                  </a:solidFill>
                  <a:latin typeface="Calibri (MS)"/>
                  <a:ea typeface="Calibri (MS)"/>
                  <a:cs typeface="Calibri (MS)"/>
                  <a:sym typeface="Calibri (MS)"/>
                </a:rPr>
                <a:t>All mandatory criteria met; continues to ranking.</a:t>
              </a:r>
            </a:p>
          </p:txBody>
        </p:sp>
      </p:grpSp>
      <p:grpSp>
        <p:nvGrpSpPr>
          <p:cNvPr id="50" name="Group 50"/>
          <p:cNvGrpSpPr/>
          <p:nvPr/>
        </p:nvGrpSpPr>
        <p:grpSpPr>
          <a:xfrm>
            <a:off x="4480560" y="6922008"/>
            <a:ext cx="365760" cy="246888"/>
            <a:chOff x="0" y="0"/>
            <a:chExt cx="487680" cy="329184"/>
          </a:xfrm>
        </p:grpSpPr>
        <p:sp>
          <p:nvSpPr>
            <p:cNvPr id="51" name="Freeform 51"/>
            <p:cNvSpPr/>
            <p:nvPr/>
          </p:nvSpPr>
          <p:spPr>
            <a:xfrm>
              <a:off x="0" y="0"/>
              <a:ext cx="487680" cy="329184"/>
            </a:xfrm>
            <a:custGeom>
              <a:avLst/>
              <a:gdLst/>
              <a:ahLst/>
              <a:cxnLst/>
              <a:rect l="l" t="t" r="r" b="b"/>
              <a:pathLst>
                <a:path w="487680" h="329184">
                  <a:moveTo>
                    <a:pt x="0" y="164592"/>
                  </a:moveTo>
                  <a:lnTo>
                    <a:pt x="121920" y="164592"/>
                  </a:lnTo>
                  <a:lnTo>
                    <a:pt x="121920" y="0"/>
                  </a:lnTo>
                  <a:lnTo>
                    <a:pt x="365760" y="0"/>
                  </a:lnTo>
                  <a:lnTo>
                    <a:pt x="365760" y="164592"/>
                  </a:lnTo>
                  <a:lnTo>
                    <a:pt x="487680" y="164592"/>
                  </a:lnTo>
                  <a:lnTo>
                    <a:pt x="243840" y="329184"/>
                  </a:lnTo>
                  <a:close/>
                </a:path>
              </a:pathLst>
            </a:custGeom>
            <a:solidFill>
              <a:srgbClr val="E4695C"/>
            </a:solidFill>
          </p:spPr>
        </p:sp>
      </p:grpSp>
      <p:grpSp>
        <p:nvGrpSpPr>
          <p:cNvPr id="52" name="Group 52"/>
          <p:cNvGrpSpPr/>
          <p:nvPr/>
        </p:nvGrpSpPr>
        <p:grpSpPr>
          <a:xfrm>
            <a:off x="450847" y="7208263"/>
            <a:ext cx="4104637" cy="927097"/>
            <a:chOff x="0" y="0"/>
            <a:chExt cx="5472849" cy="1236129"/>
          </a:xfrm>
        </p:grpSpPr>
        <p:sp>
          <p:nvSpPr>
            <p:cNvPr id="53" name="Freeform 53"/>
            <p:cNvSpPr/>
            <p:nvPr/>
          </p:nvSpPr>
          <p:spPr>
            <a:xfrm>
              <a:off x="0" y="0"/>
              <a:ext cx="5472811" cy="1236091"/>
            </a:xfrm>
            <a:custGeom>
              <a:avLst/>
              <a:gdLst/>
              <a:ahLst/>
              <a:cxnLst/>
              <a:rect l="l" t="t" r="r" b="b"/>
              <a:pathLst>
                <a:path w="5472811" h="1236091">
                  <a:moveTo>
                    <a:pt x="0" y="74168"/>
                  </a:moveTo>
                  <a:cubicBezTo>
                    <a:pt x="0" y="33147"/>
                    <a:pt x="33147" y="0"/>
                    <a:pt x="74168" y="0"/>
                  </a:cubicBezTo>
                  <a:lnTo>
                    <a:pt x="5398643" y="0"/>
                  </a:lnTo>
                  <a:cubicBezTo>
                    <a:pt x="5439664" y="0"/>
                    <a:pt x="5472811" y="33147"/>
                    <a:pt x="5472811" y="74168"/>
                  </a:cubicBezTo>
                  <a:lnTo>
                    <a:pt x="5472811" y="1161923"/>
                  </a:lnTo>
                  <a:cubicBezTo>
                    <a:pt x="5472811" y="1202944"/>
                    <a:pt x="5439664" y="1236091"/>
                    <a:pt x="5398643" y="1236091"/>
                  </a:cubicBezTo>
                  <a:lnTo>
                    <a:pt x="74168" y="1236091"/>
                  </a:lnTo>
                  <a:cubicBezTo>
                    <a:pt x="33147" y="1236091"/>
                    <a:pt x="0" y="1202944"/>
                    <a:pt x="0" y="1161923"/>
                  </a:cubicBezTo>
                  <a:close/>
                </a:path>
              </a:pathLst>
            </a:custGeom>
            <a:solidFill>
              <a:srgbClr val="DCEFF2"/>
            </a:solidFill>
            <a:ln w="12700" cap="sq">
              <a:solidFill>
                <a:srgbClr val="9CCFD6"/>
              </a:solidFill>
              <a:prstDash val="solid"/>
              <a:miter/>
            </a:ln>
          </p:spPr>
        </p:sp>
        <p:sp>
          <p:nvSpPr>
            <p:cNvPr id="54" name="TextBox 54"/>
            <p:cNvSpPr txBox="1"/>
            <p:nvPr/>
          </p:nvSpPr>
          <p:spPr>
            <a:xfrm>
              <a:off x="0" y="-38100"/>
              <a:ext cx="5472849" cy="1274229"/>
            </a:xfrm>
            <a:prstGeom prst="rect">
              <a:avLst/>
            </a:prstGeom>
          </p:spPr>
          <p:txBody>
            <a:bodyPr lIns="50800" tIns="50800" rIns="50800" bIns="50800" rtlCol="0" anchor="t"/>
            <a:lstStyle/>
            <a:p>
              <a:pPr algn="l">
                <a:lnSpc>
                  <a:spcPts val="2400"/>
                </a:lnSpc>
              </a:pPr>
              <a:r>
                <a:rPr lang="en-US" sz="2000" b="1">
                  <a:solidFill>
                    <a:srgbClr val="0B5560"/>
                  </a:solidFill>
                  <a:latin typeface="Calibri (MS) Bold"/>
                  <a:ea typeface="Calibri (MS) Bold"/>
                  <a:cs typeface="Calibri (MS) Bold"/>
                  <a:sym typeface="Calibri (MS) Bold"/>
                </a:rPr>
                <a:t>2  Semantic skill matching</a:t>
              </a:r>
            </a:p>
            <a:p>
              <a:pPr algn="l">
                <a:lnSpc>
                  <a:spcPts val="2040"/>
                </a:lnSpc>
              </a:pPr>
              <a:r>
                <a:rPr lang="en-US" sz="1700">
                  <a:solidFill>
                    <a:srgbClr val="4A5170"/>
                  </a:solidFill>
                  <a:latin typeface="Calibri (MS)"/>
                  <a:ea typeface="Calibri (MS)"/>
                  <a:cs typeface="Calibri (MS)"/>
                  <a:sym typeface="Calibri (MS)"/>
                </a:rPr>
                <a:t>aliases + embedding similarity</a:t>
              </a:r>
            </a:p>
          </p:txBody>
        </p:sp>
      </p:grpSp>
      <p:grpSp>
        <p:nvGrpSpPr>
          <p:cNvPr id="55" name="Group 55"/>
          <p:cNvGrpSpPr/>
          <p:nvPr/>
        </p:nvGrpSpPr>
        <p:grpSpPr>
          <a:xfrm>
            <a:off x="4771387" y="7208263"/>
            <a:ext cx="4104637" cy="927097"/>
            <a:chOff x="0" y="0"/>
            <a:chExt cx="5472849" cy="1236129"/>
          </a:xfrm>
        </p:grpSpPr>
        <p:sp>
          <p:nvSpPr>
            <p:cNvPr id="56" name="Freeform 56"/>
            <p:cNvSpPr/>
            <p:nvPr/>
          </p:nvSpPr>
          <p:spPr>
            <a:xfrm>
              <a:off x="0" y="0"/>
              <a:ext cx="5472811" cy="1236091"/>
            </a:xfrm>
            <a:custGeom>
              <a:avLst/>
              <a:gdLst/>
              <a:ahLst/>
              <a:cxnLst/>
              <a:rect l="l" t="t" r="r" b="b"/>
              <a:pathLst>
                <a:path w="5472811" h="1236091">
                  <a:moveTo>
                    <a:pt x="0" y="74168"/>
                  </a:moveTo>
                  <a:cubicBezTo>
                    <a:pt x="0" y="33147"/>
                    <a:pt x="33147" y="0"/>
                    <a:pt x="74168" y="0"/>
                  </a:cubicBezTo>
                  <a:lnTo>
                    <a:pt x="5398643" y="0"/>
                  </a:lnTo>
                  <a:cubicBezTo>
                    <a:pt x="5439664" y="0"/>
                    <a:pt x="5472811" y="33147"/>
                    <a:pt x="5472811" y="74168"/>
                  </a:cubicBezTo>
                  <a:lnTo>
                    <a:pt x="5472811" y="1161923"/>
                  </a:lnTo>
                  <a:cubicBezTo>
                    <a:pt x="5472811" y="1202944"/>
                    <a:pt x="5439664" y="1236091"/>
                    <a:pt x="5398643" y="1236091"/>
                  </a:cubicBezTo>
                  <a:lnTo>
                    <a:pt x="74168" y="1236091"/>
                  </a:lnTo>
                  <a:cubicBezTo>
                    <a:pt x="33147" y="1236091"/>
                    <a:pt x="0" y="1202944"/>
                    <a:pt x="0" y="1161923"/>
                  </a:cubicBezTo>
                  <a:close/>
                </a:path>
              </a:pathLst>
            </a:custGeom>
            <a:solidFill>
              <a:srgbClr val="DCEFF2"/>
            </a:solidFill>
            <a:ln w="12700" cap="sq">
              <a:solidFill>
                <a:srgbClr val="9CCFD6"/>
              </a:solidFill>
              <a:prstDash val="solid"/>
              <a:miter/>
            </a:ln>
          </p:spPr>
        </p:sp>
        <p:sp>
          <p:nvSpPr>
            <p:cNvPr id="57" name="TextBox 57"/>
            <p:cNvSpPr txBox="1"/>
            <p:nvPr/>
          </p:nvSpPr>
          <p:spPr>
            <a:xfrm>
              <a:off x="0" y="-38100"/>
              <a:ext cx="5472849" cy="1274229"/>
            </a:xfrm>
            <a:prstGeom prst="rect">
              <a:avLst/>
            </a:prstGeom>
          </p:spPr>
          <p:txBody>
            <a:bodyPr lIns="50800" tIns="50800" rIns="50800" bIns="50800" rtlCol="0" anchor="t"/>
            <a:lstStyle/>
            <a:p>
              <a:pPr algn="l">
                <a:lnSpc>
                  <a:spcPts val="2400"/>
                </a:lnSpc>
              </a:pPr>
              <a:r>
                <a:rPr lang="en-US" sz="2000" b="1">
                  <a:solidFill>
                    <a:srgbClr val="0B5560"/>
                  </a:solidFill>
                  <a:latin typeface="Calibri (MS) Bold"/>
                  <a:ea typeface="Calibri (MS) Bold"/>
                  <a:cs typeface="Calibri (MS) Bold"/>
                  <a:sym typeface="Calibri (MS) Bold"/>
                </a:rPr>
                <a:t>3  Preference-aware ranking</a:t>
              </a:r>
            </a:p>
            <a:p>
              <a:pPr algn="l">
                <a:lnSpc>
                  <a:spcPts val="2040"/>
                </a:lnSpc>
              </a:pPr>
              <a:r>
                <a:rPr lang="en-US" sz="1700">
                  <a:solidFill>
                    <a:srgbClr val="4A5170"/>
                  </a:solidFill>
                  <a:latin typeface="Calibri (MS)"/>
                  <a:ea typeface="Calibri (MS)"/>
                  <a:cs typeface="Calibri (MS)"/>
                  <a:sym typeface="Calibri (MS)"/>
                </a:rPr>
                <a:t>eligible only, versioned weights</a:t>
              </a:r>
            </a:p>
          </p:txBody>
        </p:sp>
      </p:grpSp>
      <p:grpSp>
        <p:nvGrpSpPr>
          <p:cNvPr id="58" name="Group 58"/>
          <p:cNvGrpSpPr/>
          <p:nvPr/>
        </p:nvGrpSpPr>
        <p:grpSpPr>
          <a:xfrm>
            <a:off x="450847" y="8259823"/>
            <a:ext cx="4104637" cy="927097"/>
            <a:chOff x="0" y="0"/>
            <a:chExt cx="5472849" cy="1236129"/>
          </a:xfrm>
        </p:grpSpPr>
        <p:sp>
          <p:nvSpPr>
            <p:cNvPr id="59" name="Freeform 59"/>
            <p:cNvSpPr/>
            <p:nvPr/>
          </p:nvSpPr>
          <p:spPr>
            <a:xfrm>
              <a:off x="0" y="0"/>
              <a:ext cx="5472811" cy="1236091"/>
            </a:xfrm>
            <a:custGeom>
              <a:avLst/>
              <a:gdLst/>
              <a:ahLst/>
              <a:cxnLst/>
              <a:rect l="l" t="t" r="r" b="b"/>
              <a:pathLst>
                <a:path w="5472811" h="1236091">
                  <a:moveTo>
                    <a:pt x="0" y="74168"/>
                  </a:moveTo>
                  <a:cubicBezTo>
                    <a:pt x="0" y="33147"/>
                    <a:pt x="33147" y="0"/>
                    <a:pt x="74168" y="0"/>
                  </a:cubicBezTo>
                  <a:lnTo>
                    <a:pt x="5398643" y="0"/>
                  </a:lnTo>
                  <a:cubicBezTo>
                    <a:pt x="5439664" y="0"/>
                    <a:pt x="5472811" y="33147"/>
                    <a:pt x="5472811" y="74168"/>
                  </a:cubicBezTo>
                  <a:lnTo>
                    <a:pt x="5472811" y="1161923"/>
                  </a:lnTo>
                  <a:cubicBezTo>
                    <a:pt x="5472811" y="1202944"/>
                    <a:pt x="5439664" y="1236091"/>
                    <a:pt x="5398643" y="1236091"/>
                  </a:cubicBezTo>
                  <a:lnTo>
                    <a:pt x="74168" y="1236091"/>
                  </a:lnTo>
                  <a:cubicBezTo>
                    <a:pt x="33147" y="1236091"/>
                    <a:pt x="0" y="1202944"/>
                    <a:pt x="0" y="1161923"/>
                  </a:cubicBezTo>
                  <a:close/>
                </a:path>
              </a:pathLst>
            </a:custGeom>
            <a:solidFill>
              <a:srgbClr val="DCEFF2"/>
            </a:solidFill>
            <a:ln w="12700" cap="sq">
              <a:solidFill>
                <a:srgbClr val="9CCFD6"/>
              </a:solidFill>
              <a:prstDash val="solid"/>
              <a:miter/>
            </a:ln>
          </p:spPr>
        </p:sp>
        <p:sp>
          <p:nvSpPr>
            <p:cNvPr id="60" name="TextBox 60"/>
            <p:cNvSpPr txBox="1"/>
            <p:nvPr/>
          </p:nvSpPr>
          <p:spPr>
            <a:xfrm>
              <a:off x="0" y="-38100"/>
              <a:ext cx="5472849" cy="1274229"/>
            </a:xfrm>
            <a:prstGeom prst="rect">
              <a:avLst/>
            </a:prstGeom>
          </p:spPr>
          <p:txBody>
            <a:bodyPr lIns="50800" tIns="50800" rIns="50800" bIns="50800" rtlCol="0" anchor="t"/>
            <a:lstStyle/>
            <a:p>
              <a:pPr algn="l">
                <a:lnSpc>
                  <a:spcPts val="2400"/>
                </a:lnSpc>
              </a:pPr>
              <a:r>
                <a:rPr lang="en-US" sz="2000" b="1">
                  <a:solidFill>
                    <a:srgbClr val="0B5560"/>
                  </a:solidFill>
                  <a:latin typeface="Calibri (MS) Bold"/>
                  <a:ea typeface="Calibri (MS) Bold"/>
                  <a:cs typeface="Calibri (MS) Bold"/>
                  <a:sym typeface="Calibri (MS) Bold"/>
                </a:rPr>
                <a:t>4  Explanation + skill gaps</a:t>
              </a:r>
            </a:p>
            <a:p>
              <a:pPr algn="l">
                <a:lnSpc>
                  <a:spcPts val="2040"/>
                </a:lnSpc>
              </a:pPr>
              <a:r>
                <a:rPr lang="en-US" sz="1700">
                  <a:solidFill>
                    <a:srgbClr val="4A5170"/>
                  </a:solidFill>
                  <a:latin typeface="Calibri (MS)"/>
                  <a:ea typeface="Calibri (MS)"/>
                  <a:cs typeface="Calibri (MS)"/>
                  <a:sym typeface="Calibri (MS)"/>
                </a:rPr>
                <a:t>criterion-level reasons, gap analysis</a:t>
              </a:r>
            </a:p>
          </p:txBody>
        </p:sp>
      </p:grpSp>
      <p:grpSp>
        <p:nvGrpSpPr>
          <p:cNvPr id="61" name="Group 61"/>
          <p:cNvGrpSpPr/>
          <p:nvPr/>
        </p:nvGrpSpPr>
        <p:grpSpPr>
          <a:xfrm>
            <a:off x="4771387" y="8259823"/>
            <a:ext cx="4104637" cy="927097"/>
            <a:chOff x="0" y="0"/>
            <a:chExt cx="5472849" cy="1236129"/>
          </a:xfrm>
        </p:grpSpPr>
        <p:sp>
          <p:nvSpPr>
            <p:cNvPr id="62" name="Freeform 62"/>
            <p:cNvSpPr/>
            <p:nvPr/>
          </p:nvSpPr>
          <p:spPr>
            <a:xfrm>
              <a:off x="0" y="0"/>
              <a:ext cx="5472811" cy="1236091"/>
            </a:xfrm>
            <a:custGeom>
              <a:avLst/>
              <a:gdLst/>
              <a:ahLst/>
              <a:cxnLst/>
              <a:rect l="l" t="t" r="r" b="b"/>
              <a:pathLst>
                <a:path w="5472811" h="1236091">
                  <a:moveTo>
                    <a:pt x="0" y="74168"/>
                  </a:moveTo>
                  <a:cubicBezTo>
                    <a:pt x="0" y="33147"/>
                    <a:pt x="33147" y="0"/>
                    <a:pt x="74168" y="0"/>
                  </a:cubicBezTo>
                  <a:lnTo>
                    <a:pt x="5398643" y="0"/>
                  </a:lnTo>
                  <a:cubicBezTo>
                    <a:pt x="5439664" y="0"/>
                    <a:pt x="5472811" y="33147"/>
                    <a:pt x="5472811" y="74168"/>
                  </a:cubicBezTo>
                  <a:lnTo>
                    <a:pt x="5472811" y="1161923"/>
                  </a:lnTo>
                  <a:cubicBezTo>
                    <a:pt x="5472811" y="1202944"/>
                    <a:pt x="5439664" y="1236091"/>
                    <a:pt x="5398643" y="1236091"/>
                  </a:cubicBezTo>
                  <a:lnTo>
                    <a:pt x="74168" y="1236091"/>
                  </a:lnTo>
                  <a:cubicBezTo>
                    <a:pt x="33147" y="1236091"/>
                    <a:pt x="0" y="1202944"/>
                    <a:pt x="0" y="1161923"/>
                  </a:cubicBezTo>
                  <a:close/>
                </a:path>
              </a:pathLst>
            </a:custGeom>
            <a:solidFill>
              <a:srgbClr val="DCEFF2"/>
            </a:solidFill>
            <a:ln w="12700" cap="sq">
              <a:solidFill>
                <a:srgbClr val="9CCFD6"/>
              </a:solidFill>
              <a:prstDash val="solid"/>
              <a:miter/>
            </a:ln>
          </p:spPr>
        </p:sp>
        <p:sp>
          <p:nvSpPr>
            <p:cNvPr id="63" name="TextBox 63"/>
            <p:cNvSpPr txBox="1"/>
            <p:nvPr/>
          </p:nvSpPr>
          <p:spPr>
            <a:xfrm>
              <a:off x="0" y="-38100"/>
              <a:ext cx="5472849" cy="1274229"/>
            </a:xfrm>
            <a:prstGeom prst="rect">
              <a:avLst/>
            </a:prstGeom>
          </p:spPr>
          <p:txBody>
            <a:bodyPr lIns="50800" tIns="50800" rIns="50800" bIns="50800" rtlCol="0" anchor="t"/>
            <a:lstStyle/>
            <a:p>
              <a:pPr algn="l">
                <a:lnSpc>
                  <a:spcPts val="2400"/>
                </a:lnSpc>
              </a:pPr>
              <a:r>
                <a:rPr lang="en-US" sz="2000" b="1">
                  <a:solidFill>
                    <a:srgbClr val="0B5560"/>
                  </a:solidFill>
                  <a:latin typeface="Calibri (MS) Bold"/>
                  <a:ea typeface="Calibri (MS) Bold"/>
                  <a:cs typeface="Calibri (MS) Bold"/>
                  <a:sym typeface="Calibri (MS) Bold"/>
                </a:rPr>
                <a:t>5  Catalogue learning path</a:t>
              </a:r>
            </a:p>
            <a:p>
              <a:pPr algn="l">
                <a:lnSpc>
                  <a:spcPts val="2040"/>
                </a:lnSpc>
              </a:pPr>
              <a:r>
                <a:rPr lang="en-US" sz="1700">
                  <a:solidFill>
                    <a:srgbClr val="4A5170"/>
                  </a:solidFill>
                  <a:latin typeface="Calibri (MS)"/>
                  <a:ea typeface="Calibri (MS)"/>
                  <a:cs typeface="Calibri (MS)"/>
                  <a:sym typeface="Calibri (MS)"/>
                </a:rPr>
                <a:t>or “no resource available”</a:t>
              </a:r>
            </a:p>
          </p:txBody>
        </p:sp>
      </p:grpSp>
      <p:grpSp>
        <p:nvGrpSpPr>
          <p:cNvPr id="64" name="Group 64"/>
          <p:cNvGrpSpPr/>
          <p:nvPr/>
        </p:nvGrpSpPr>
        <p:grpSpPr>
          <a:xfrm>
            <a:off x="450847" y="9357103"/>
            <a:ext cx="8425177" cy="661921"/>
            <a:chOff x="0" y="0"/>
            <a:chExt cx="11233569" cy="882561"/>
          </a:xfrm>
        </p:grpSpPr>
        <p:sp>
          <p:nvSpPr>
            <p:cNvPr id="65" name="Freeform 65"/>
            <p:cNvSpPr/>
            <p:nvPr/>
          </p:nvSpPr>
          <p:spPr>
            <a:xfrm>
              <a:off x="0" y="0"/>
              <a:ext cx="11233531" cy="882523"/>
            </a:xfrm>
            <a:custGeom>
              <a:avLst/>
              <a:gdLst/>
              <a:ahLst/>
              <a:cxnLst/>
              <a:rect l="l" t="t" r="r" b="b"/>
              <a:pathLst>
                <a:path w="11233531" h="882523">
                  <a:moveTo>
                    <a:pt x="0" y="52959"/>
                  </a:moveTo>
                  <a:cubicBezTo>
                    <a:pt x="0" y="23749"/>
                    <a:pt x="23749" y="0"/>
                    <a:pt x="52959" y="0"/>
                  </a:cubicBezTo>
                  <a:lnTo>
                    <a:pt x="11180572" y="0"/>
                  </a:lnTo>
                  <a:cubicBezTo>
                    <a:pt x="11209782" y="0"/>
                    <a:pt x="11233531" y="23749"/>
                    <a:pt x="11233531" y="52959"/>
                  </a:cubicBezTo>
                  <a:lnTo>
                    <a:pt x="11233531" y="829564"/>
                  </a:lnTo>
                  <a:cubicBezTo>
                    <a:pt x="11233531" y="858774"/>
                    <a:pt x="11209782" y="882523"/>
                    <a:pt x="11180572" y="882523"/>
                  </a:cubicBezTo>
                  <a:lnTo>
                    <a:pt x="52959" y="882523"/>
                  </a:lnTo>
                  <a:cubicBezTo>
                    <a:pt x="23749" y="882523"/>
                    <a:pt x="0" y="858901"/>
                    <a:pt x="0" y="829564"/>
                  </a:cubicBezTo>
                  <a:close/>
                </a:path>
              </a:pathLst>
            </a:custGeom>
            <a:solidFill>
              <a:srgbClr val="FDE8E4"/>
            </a:solidFill>
            <a:ln w="12700" cap="sq">
              <a:solidFill>
                <a:srgbClr val="E4695C"/>
              </a:solidFill>
              <a:prstDash val="solid"/>
              <a:miter/>
            </a:ln>
          </p:spPr>
        </p:sp>
        <p:sp>
          <p:nvSpPr>
            <p:cNvPr id="66" name="TextBox 66"/>
            <p:cNvSpPr txBox="1"/>
            <p:nvPr/>
          </p:nvSpPr>
          <p:spPr>
            <a:xfrm>
              <a:off x="0" y="-38100"/>
              <a:ext cx="11233569" cy="920661"/>
            </a:xfrm>
            <a:prstGeom prst="rect">
              <a:avLst/>
            </a:prstGeom>
          </p:spPr>
          <p:txBody>
            <a:bodyPr lIns="50800" tIns="50800" rIns="50800" bIns="50800" rtlCol="0" anchor="ctr"/>
            <a:lstStyle/>
            <a:p>
              <a:pPr algn="l">
                <a:lnSpc>
                  <a:spcPts val="2400"/>
                </a:lnSpc>
              </a:pPr>
              <a:r>
                <a:rPr lang="en-US" sz="2000" b="1">
                  <a:solidFill>
                    <a:srgbClr val="1B2440"/>
                  </a:solidFill>
                  <a:latin typeface="Calibri (MS) Bold"/>
                  <a:ea typeface="Calibri (MS) Bold"/>
                  <a:cs typeface="Calibri (MS) Bold"/>
                  <a:sym typeface="Calibri (MS) Bold"/>
                </a:rPr>
                <a:t>Any profile edit or new evidence </a:t>
              </a:r>
              <a:r>
                <a:rPr lang="en-US" sz="2000">
                  <a:solidFill>
                    <a:srgbClr val="1B2440"/>
                  </a:solidFill>
                  <a:latin typeface="Calibri (MS)"/>
                  <a:ea typeface="Calibri (MS)"/>
                  <a:cs typeface="Calibri (MS)"/>
                  <a:sym typeface="Calibri (MS)"/>
                </a:rPr>
                <a:t>triggers visible recalculation of steps 1 to 5.</a:t>
              </a:r>
            </a:p>
          </p:txBody>
        </p:sp>
      </p:grpSp>
      <p:grpSp>
        <p:nvGrpSpPr>
          <p:cNvPr id="67" name="Group 67"/>
          <p:cNvGrpSpPr/>
          <p:nvPr/>
        </p:nvGrpSpPr>
        <p:grpSpPr>
          <a:xfrm>
            <a:off x="9418320" y="2606040"/>
            <a:ext cx="8412480" cy="566928"/>
            <a:chOff x="0" y="0"/>
            <a:chExt cx="11216640" cy="755904"/>
          </a:xfrm>
        </p:grpSpPr>
        <p:sp>
          <p:nvSpPr>
            <p:cNvPr id="68" name="Freeform 68"/>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sp>
        <p:sp>
          <p:nvSpPr>
            <p:cNvPr id="69" name="TextBox 69"/>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WORKED EXAMPLE: JUNIOR DATA ANALYST</a:t>
              </a:r>
            </a:p>
          </p:txBody>
        </p:sp>
      </p:grpSp>
      <p:grpSp>
        <p:nvGrpSpPr>
          <p:cNvPr id="70" name="Group 70"/>
          <p:cNvGrpSpPr/>
          <p:nvPr/>
        </p:nvGrpSpPr>
        <p:grpSpPr>
          <a:xfrm>
            <a:off x="9411967" y="3303775"/>
            <a:ext cx="8425177" cy="1201417"/>
            <a:chOff x="0" y="0"/>
            <a:chExt cx="11233569" cy="1601889"/>
          </a:xfrm>
        </p:grpSpPr>
        <p:sp>
          <p:nvSpPr>
            <p:cNvPr id="71" name="Freeform 71"/>
            <p:cNvSpPr/>
            <p:nvPr/>
          </p:nvSpPr>
          <p:spPr>
            <a:xfrm>
              <a:off x="0" y="0"/>
              <a:ext cx="11233658" cy="1601978"/>
            </a:xfrm>
            <a:custGeom>
              <a:avLst/>
              <a:gdLst/>
              <a:ahLst/>
              <a:cxnLst/>
              <a:rect l="l" t="t" r="r" b="b"/>
              <a:pathLst>
                <a:path w="11233658" h="1601978">
                  <a:moveTo>
                    <a:pt x="0" y="96139"/>
                  </a:moveTo>
                  <a:cubicBezTo>
                    <a:pt x="0" y="43053"/>
                    <a:pt x="43053" y="0"/>
                    <a:pt x="96139" y="0"/>
                  </a:cubicBezTo>
                  <a:lnTo>
                    <a:pt x="11137519" y="0"/>
                  </a:lnTo>
                  <a:cubicBezTo>
                    <a:pt x="11190605" y="0"/>
                    <a:pt x="11233658" y="43053"/>
                    <a:pt x="11233658" y="96139"/>
                  </a:cubicBezTo>
                  <a:lnTo>
                    <a:pt x="11233658" y="1505839"/>
                  </a:lnTo>
                  <a:cubicBezTo>
                    <a:pt x="11233658" y="1558925"/>
                    <a:pt x="11190605" y="1601978"/>
                    <a:pt x="11137519" y="1601978"/>
                  </a:cubicBezTo>
                  <a:lnTo>
                    <a:pt x="96139" y="1601978"/>
                  </a:lnTo>
                  <a:cubicBezTo>
                    <a:pt x="43053" y="1601978"/>
                    <a:pt x="0" y="1558925"/>
                    <a:pt x="0" y="1505839"/>
                  </a:cubicBezTo>
                  <a:close/>
                </a:path>
              </a:pathLst>
            </a:custGeom>
            <a:solidFill>
              <a:srgbClr val="ECE7F6"/>
            </a:solidFill>
            <a:ln w="12700" cap="sq">
              <a:solidFill>
                <a:srgbClr val="D7D0E6"/>
              </a:solidFill>
              <a:prstDash val="solid"/>
              <a:miter/>
            </a:ln>
          </p:spPr>
        </p:sp>
        <p:sp>
          <p:nvSpPr>
            <p:cNvPr id="72" name="TextBox 72"/>
            <p:cNvSpPr txBox="1"/>
            <p:nvPr/>
          </p:nvSpPr>
          <p:spPr>
            <a:xfrm>
              <a:off x="0" y="-38100"/>
              <a:ext cx="11233569" cy="1639989"/>
            </a:xfrm>
            <a:prstGeom prst="rect">
              <a:avLst/>
            </a:prstGeom>
          </p:spPr>
          <p:txBody>
            <a:bodyPr lIns="50800" tIns="50800" rIns="50800" bIns="50800" rtlCol="0" anchor="ctr"/>
            <a:lstStyle/>
            <a:p>
              <a:pPr algn="l">
                <a:lnSpc>
                  <a:spcPts val="2459"/>
                </a:lnSpc>
              </a:pPr>
              <a:r>
                <a:rPr lang="en-US" sz="2049" b="1">
                  <a:solidFill>
                    <a:srgbClr val="8A2323"/>
                  </a:solidFill>
                  <a:latin typeface="Calibri (MS) Bold"/>
                  <a:ea typeface="Calibri (MS) Bold"/>
                  <a:cs typeface="Calibri (MS) Bold"/>
                  <a:sym typeface="Calibri (MS) Bold"/>
                </a:rPr>
                <a:t>Mandatory: </a:t>
              </a:r>
              <a:r>
                <a:rPr lang="en-US" sz="2049">
                  <a:solidFill>
                    <a:srgbClr val="1B2440"/>
                  </a:solidFill>
                  <a:latin typeface="Calibri (MS)"/>
                  <a:ea typeface="Calibri (MS)"/>
                  <a:cs typeface="Calibri (MS)"/>
                  <a:sym typeface="Calibri (MS)"/>
                </a:rPr>
                <a:t>any degree, 1+ year experience, SQL</a:t>
              </a:r>
            </a:p>
            <a:p>
              <a:pPr algn="l">
                <a:lnSpc>
                  <a:spcPts val="2459"/>
                </a:lnSpc>
              </a:pPr>
              <a:r>
                <a:rPr lang="en-US" sz="2049" b="1">
                  <a:solidFill>
                    <a:srgbClr val="0B5560"/>
                  </a:solidFill>
                  <a:latin typeface="Calibri (MS) Bold"/>
                  <a:ea typeface="Calibri (MS) Bold"/>
                  <a:cs typeface="Calibri (MS) Bold"/>
                  <a:sym typeface="Calibri (MS) Bold"/>
                </a:rPr>
                <a:t>Preferred: </a:t>
              </a:r>
              <a:r>
                <a:rPr lang="en-US" sz="2049">
                  <a:solidFill>
                    <a:srgbClr val="1B2440"/>
                  </a:solidFill>
                  <a:latin typeface="Calibri (MS)"/>
                  <a:ea typeface="Calibri (MS)"/>
                  <a:cs typeface="Calibri (MS)"/>
                  <a:sym typeface="Calibri (MS)"/>
                </a:rPr>
                <a:t>remote, Power BI (ranking only)</a:t>
              </a:r>
            </a:p>
          </p:txBody>
        </p:sp>
      </p:grpSp>
      <p:graphicFrame>
        <p:nvGraphicFramePr>
          <p:cNvPr id="73" name="Table 73"/>
          <p:cNvGraphicFramePr>
            <a:graphicFrameLocks noGrp="1"/>
          </p:cNvGraphicFramePr>
          <p:nvPr/>
        </p:nvGraphicFramePr>
        <p:xfrm>
          <a:off x="9418320" y="4681728"/>
          <a:ext cx="8407400" cy="3314700"/>
        </p:xfrm>
        <a:graphic>
          <a:graphicData uri="http://schemas.openxmlformats.org/drawingml/2006/table">
            <a:tbl>
              <a:tblPr/>
              <a:tblGrid>
                <a:gridCol w="456924">
                  <a:extLst>
                    <a:ext uri="{9D8B030D-6E8A-4147-A177-3AD203B41FA5}">
                      <a16:colId xmlns:a16="http://schemas.microsoft.com/office/drawing/2014/main" val="20000"/>
                    </a:ext>
                  </a:extLst>
                </a:gridCol>
                <a:gridCol w="3289852">
                  <a:extLst>
                    <a:ext uri="{9D8B030D-6E8A-4147-A177-3AD203B41FA5}">
                      <a16:colId xmlns:a16="http://schemas.microsoft.com/office/drawing/2014/main" val="20001"/>
                    </a:ext>
                  </a:extLst>
                </a:gridCol>
                <a:gridCol w="4660624">
                  <a:extLst>
                    <a:ext uri="{9D8B030D-6E8A-4147-A177-3AD203B41FA5}">
                      <a16:colId xmlns:a16="http://schemas.microsoft.com/office/drawing/2014/main" val="20002"/>
                    </a:ext>
                  </a:extLst>
                </a:gridCol>
              </a:tblGrid>
              <a:tr h="454068">
                <a:tc>
                  <a:txBody>
                    <a:bodyPr/>
                    <a:lstStyle/>
                    <a:p>
                      <a:pPr algn="l">
                        <a:lnSpc>
                          <a:spcPts val="1679"/>
                        </a:lnSpc>
                        <a:defRPr/>
                      </a:pP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tc>
                  <a:txBody>
                    <a:bodyPr/>
                    <a:lstStyle/>
                    <a:p>
                      <a:pPr algn="l">
                        <a:lnSpc>
                          <a:spcPts val="2160"/>
                        </a:lnSpc>
                        <a:defRPr/>
                      </a:pPr>
                      <a:r>
                        <a:rPr lang="en-US" sz="1800" b="1">
                          <a:solidFill>
                            <a:srgbClr val="FFFFFF"/>
                          </a:solidFill>
                          <a:latin typeface="Calibri (MS) Bold"/>
                          <a:ea typeface="Calibri (MS) Bold"/>
                          <a:cs typeface="Calibri (MS) Bold"/>
                          <a:sym typeface="Calibri (MS) Bold"/>
                        </a:rPr>
                        <a:t>Profile facts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tc>
                  <a:txBody>
                    <a:bodyPr/>
                    <a:lstStyle/>
                    <a:p>
                      <a:pPr algn="l">
                        <a:lnSpc>
                          <a:spcPts val="2160"/>
                        </a:lnSpc>
                        <a:defRPr/>
                      </a:pPr>
                      <a:r>
                        <a:rPr lang="en-US" sz="1800" b="1">
                          <a:solidFill>
                            <a:srgbClr val="FFFFFF"/>
                          </a:solidFill>
                          <a:latin typeface="Calibri (MS) Bold"/>
                          <a:ea typeface="Calibri (MS) Bold"/>
                          <a:cs typeface="Calibri (MS) Bold"/>
                          <a:sym typeface="Calibri (MS) Bold"/>
                        </a:rPr>
                        <a:t>Outcome and explanation shown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extLst>
                  <a:ext uri="{0D108BD9-81ED-4DB2-BD59-A6C34878D82A}">
                    <a16:rowId xmlns:a16="http://schemas.microsoft.com/office/drawing/2014/main" val="10000"/>
                  </a:ext>
                </a:extLst>
              </a:tr>
              <a:tr h="953544">
                <a:tc>
                  <a:txBody>
                    <a:bodyPr/>
                    <a:lstStyle/>
                    <a:p>
                      <a:pPr algn="l">
                        <a:lnSpc>
                          <a:spcPts val="2160"/>
                        </a:lnSpc>
                        <a:defRPr/>
                      </a:pPr>
                      <a:r>
                        <a:rPr lang="en-US" sz="1800" b="1">
                          <a:solidFill>
                            <a:srgbClr val="1B2440"/>
                          </a:solidFill>
                          <a:latin typeface="Calibri (MS) Bold"/>
                          <a:ea typeface="Calibri (MS) Bold"/>
                          <a:cs typeface="Calibri (MS) Bold"/>
                          <a:sym typeface="Calibri (MS) Bold"/>
                        </a:rPr>
                        <a:t>A</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DF1E3"/>
                    </a:solidFill>
                  </a:tcPr>
                </a:tc>
                <a:tc>
                  <a:txBody>
                    <a:bodyPr/>
                    <a:lstStyle/>
                    <a:p>
                      <a:pPr algn="l">
                        <a:lnSpc>
                          <a:spcPts val="2160"/>
                        </a:lnSpc>
                        <a:defRPr/>
                      </a:pPr>
                      <a:r>
                        <a:rPr lang="en-US" sz="1800">
                          <a:solidFill>
                            <a:srgbClr val="1B2440"/>
                          </a:solidFill>
                          <a:latin typeface="Calibri (MS)"/>
                          <a:ea typeface="Calibri (MS)"/>
                          <a:cs typeface="Calibri (MS)"/>
                          <a:sym typeface="Calibri (MS)"/>
                        </a:rPr>
                        <a:t>B.Sc., 18 months, SQL, lists “BI dashboards”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DF1E3"/>
                    </a:solidFill>
                  </a:tcPr>
                </a:tc>
                <a:tc>
                  <a:txBody>
                    <a:bodyPr/>
                    <a:lstStyle/>
                    <a:p>
                      <a:pPr algn="l">
                        <a:lnSpc>
                          <a:spcPts val="2160"/>
                        </a:lnSpc>
                        <a:defRPr/>
                      </a:pPr>
                      <a:r>
                        <a:rPr lang="en-US" sz="1800">
                          <a:solidFill>
                            <a:srgbClr val="1B2440"/>
                          </a:solidFill>
                          <a:latin typeface="Calibri (MS)"/>
                          <a:ea typeface="Calibri (MS)"/>
                          <a:cs typeface="Calibri (MS)"/>
                          <a:sym typeface="Calibri (MS)"/>
                        </a:rPr>
                        <a:t>Eligible, ranked. “BI dashboards” matched to Power BI (self-reported, semantic)</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DDF1E3"/>
                    </a:solidFill>
                  </a:tcPr>
                </a:tc>
                <a:extLst>
                  <a:ext uri="{0D108BD9-81ED-4DB2-BD59-A6C34878D82A}">
                    <a16:rowId xmlns:a16="http://schemas.microsoft.com/office/drawing/2014/main" val="10001"/>
                  </a:ext>
                </a:extLst>
              </a:tr>
              <a:tr h="953544">
                <a:tc>
                  <a:txBody>
                    <a:bodyPr/>
                    <a:lstStyle/>
                    <a:p>
                      <a:pPr algn="l">
                        <a:lnSpc>
                          <a:spcPts val="2160"/>
                        </a:lnSpc>
                        <a:defRPr/>
                      </a:pPr>
                      <a:r>
                        <a:rPr lang="en-US" sz="1800" b="1">
                          <a:solidFill>
                            <a:srgbClr val="1B2440"/>
                          </a:solidFill>
                          <a:latin typeface="Calibri (MS) Bold"/>
                          <a:ea typeface="Calibri (MS) Bold"/>
                          <a:cs typeface="Calibri (MS) Bold"/>
                          <a:sym typeface="Calibri (MS) Bold"/>
                        </a:rPr>
                        <a:t>B</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8DEDB"/>
                    </a:solidFill>
                  </a:tcPr>
                </a:tc>
                <a:tc>
                  <a:txBody>
                    <a:bodyPr/>
                    <a:lstStyle/>
                    <a:p>
                      <a:pPr algn="l">
                        <a:lnSpc>
                          <a:spcPts val="2160"/>
                        </a:lnSpc>
                        <a:defRPr/>
                      </a:pPr>
                      <a:r>
                        <a:rPr lang="en-US" sz="1800">
                          <a:solidFill>
                            <a:srgbClr val="1B2440"/>
                          </a:solidFill>
                          <a:latin typeface="Calibri (MS)"/>
                          <a:ea typeface="Calibri (MS)"/>
                          <a:cs typeface="Calibri (MS)"/>
                          <a:sym typeface="Calibri (MS)"/>
                        </a:rPr>
                        <a:t>B.E., 6 months, SQL, very high skill similarity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8DEDB"/>
                    </a:solidFill>
                  </a:tcPr>
                </a:tc>
                <a:tc>
                  <a:txBody>
                    <a:bodyPr/>
                    <a:lstStyle/>
                    <a:p>
                      <a:pPr algn="l">
                        <a:lnSpc>
                          <a:spcPts val="2160"/>
                        </a:lnSpc>
                        <a:defRPr/>
                      </a:pPr>
                      <a:r>
                        <a:rPr lang="en-US" sz="1800">
                          <a:solidFill>
                            <a:srgbClr val="1B2440"/>
                          </a:solidFill>
                          <a:latin typeface="Calibri (MS)"/>
                          <a:ea typeface="Calibri (MS)"/>
                          <a:cs typeface="Calibri (MS)"/>
                          <a:sym typeface="Calibri (MS)"/>
                        </a:rPr>
                        <a:t>Not eligible. Fails “at least 1 year experience”; reason displayed</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8DEDB"/>
                    </a:solidFill>
                  </a:tcPr>
                </a:tc>
                <a:extLst>
                  <a:ext uri="{0D108BD9-81ED-4DB2-BD59-A6C34878D82A}">
                    <a16:rowId xmlns:a16="http://schemas.microsoft.com/office/drawing/2014/main" val="10002"/>
                  </a:ext>
                </a:extLst>
              </a:tr>
              <a:tr h="953544">
                <a:tc>
                  <a:txBody>
                    <a:bodyPr/>
                    <a:lstStyle/>
                    <a:p>
                      <a:pPr algn="l">
                        <a:lnSpc>
                          <a:spcPts val="2160"/>
                        </a:lnSpc>
                        <a:defRPr/>
                      </a:pPr>
                      <a:r>
                        <a:rPr lang="en-US" sz="1800" b="1">
                          <a:solidFill>
                            <a:srgbClr val="1B2440"/>
                          </a:solidFill>
                          <a:latin typeface="Calibri (MS) Bold"/>
                          <a:ea typeface="Calibri (MS) Bold"/>
                          <a:cs typeface="Calibri (MS) Bold"/>
                          <a:sym typeface="Calibri (MS) Bold"/>
                        </a:rPr>
                        <a:t>C</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BEFC9"/>
                    </a:solidFill>
                  </a:tcPr>
                </a:tc>
                <a:tc>
                  <a:txBody>
                    <a:bodyPr/>
                    <a:lstStyle/>
                    <a:p>
                      <a:pPr algn="l">
                        <a:lnSpc>
                          <a:spcPts val="2160"/>
                        </a:lnSpc>
                        <a:defRPr/>
                      </a:pPr>
                      <a:r>
                        <a:rPr lang="en-US" sz="1800">
                          <a:solidFill>
                            <a:srgbClr val="1B2440"/>
                          </a:solidFill>
                          <a:latin typeface="Calibri (MS)"/>
                          <a:ea typeface="Calibri (MS)"/>
                          <a:cs typeface="Calibri (MS)"/>
                          <a:sym typeface="Calibri (MS)"/>
                        </a:rPr>
                        <a:t>Degree not stated in profile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BEFC9"/>
                    </a:solidFill>
                  </a:tcPr>
                </a:tc>
                <a:tc>
                  <a:txBody>
                    <a:bodyPr/>
                    <a:lstStyle/>
                    <a:p>
                      <a:pPr algn="l">
                        <a:lnSpc>
                          <a:spcPts val="2160"/>
                        </a:lnSpc>
                        <a:defRPr/>
                      </a:pPr>
                      <a:r>
                        <a:rPr lang="en-US" sz="1800">
                          <a:solidFill>
                            <a:srgbClr val="1B2440"/>
                          </a:solidFill>
                          <a:latin typeface="Calibri (MS)"/>
                          <a:ea typeface="Calibri (MS)"/>
                          <a:cs typeface="Calibri (MS)"/>
                          <a:sym typeface="Calibri (MS)"/>
                        </a:rPr>
                        <a:t>Needs more information. Qualification missing, so not assumed to pass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BEFC9"/>
                    </a:solidFill>
                  </a:tcPr>
                </a:tc>
                <a:extLst>
                  <a:ext uri="{0D108BD9-81ED-4DB2-BD59-A6C34878D82A}">
                    <a16:rowId xmlns:a16="http://schemas.microsoft.com/office/drawing/2014/main" val="10003"/>
                  </a:ext>
                </a:extLst>
              </a:tr>
            </a:tbl>
          </a:graphicData>
        </a:graphic>
      </p:graphicFrame>
      <p:grpSp>
        <p:nvGrpSpPr>
          <p:cNvPr id="74" name="Group 74"/>
          <p:cNvGrpSpPr/>
          <p:nvPr/>
        </p:nvGrpSpPr>
        <p:grpSpPr>
          <a:xfrm>
            <a:off x="9411967" y="8195815"/>
            <a:ext cx="8425177" cy="1823209"/>
            <a:chOff x="0" y="0"/>
            <a:chExt cx="11233569" cy="2430945"/>
          </a:xfrm>
        </p:grpSpPr>
        <p:sp>
          <p:nvSpPr>
            <p:cNvPr id="75" name="Freeform 75"/>
            <p:cNvSpPr/>
            <p:nvPr/>
          </p:nvSpPr>
          <p:spPr>
            <a:xfrm>
              <a:off x="0" y="0"/>
              <a:ext cx="11233531" cy="2430907"/>
            </a:xfrm>
            <a:custGeom>
              <a:avLst/>
              <a:gdLst/>
              <a:ahLst/>
              <a:cxnLst/>
              <a:rect l="l" t="t" r="r" b="b"/>
              <a:pathLst>
                <a:path w="11233531" h="2430907">
                  <a:moveTo>
                    <a:pt x="0" y="145796"/>
                  </a:moveTo>
                  <a:cubicBezTo>
                    <a:pt x="0" y="65278"/>
                    <a:pt x="65278" y="0"/>
                    <a:pt x="145796" y="0"/>
                  </a:cubicBezTo>
                  <a:lnTo>
                    <a:pt x="11087735" y="0"/>
                  </a:lnTo>
                  <a:cubicBezTo>
                    <a:pt x="11168253" y="0"/>
                    <a:pt x="11233531" y="65278"/>
                    <a:pt x="11233531" y="145796"/>
                  </a:cubicBezTo>
                  <a:lnTo>
                    <a:pt x="11233531" y="2285111"/>
                  </a:lnTo>
                  <a:cubicBezTo>
                    <a:pt x="11233531" y="2365629"/>
                    <a:pt x="11168253" y="2430907"/>
                    <a:pt x="11087735" y="2430907"/>
                  </a:cubicBezTo>
                  <a:lnTo>
                    <a:pt x="145796" y="2430907"/>
                  </a:lnTo>
                  <a:cubicBezTo>
                    <a:pt x="65278" y="2430907"/>
                    <a:pt x="0" y="2365629"/>
                    <a:pt x="0" y="2285111"/>
                  </a:cubicBezTo>
                  <a:close/>
                </a:path>
              </a:pathLst>
            </a:custGeom>
            <a:solidFill>
              <a:srgbClr val="FFFFFF"/>
            </a:solidFill>
            <a:ln w="12700" cap="sq">
              <a:solidFill>
                <a:srgbClr val="D7D0E6"/>
              </a:solidFill>
              <a:prstDash val="solid"/>
              <a:miter/>
            </a:ln>
          </p:spPr>
        </p:sp>
        <p:sp>
          <p:nvSpPr>
            <p:cNvPr id="76" name="TextBox 76"/>
            <p:cNvSpPr txBox="1"/>
            <p:nvPr/>
          </p:nvSpPr>
          <p:spPr>
            <a:xfrm>
              <a:off x="0" y="-38100"/>
              <a:ext cx="11233569" cy="2469045"/>
            </a:xfrm>
            <a:prstGeom prst="rect">
              <a:avLst/>
            </a:prstGeom>
          </p:spPr>
          <p:txBody>
            <a:bodyPr lIns="50800" tIns="50800" rIns="50800" bIns="50800" rtlCol="0" anchor="t"/>
            <a:lstStyle/>
            <a:p>
              <a:pPr algn="l">
                <a:lnSpc>
                  <a:spcPts val="2879"/>
                </a:lnSpc>
              </a:pPr>
              <a:r>
                <a:rPr lang="en-US" sz="2400" b="1">
                  <a:solidFill>
                    <a:srgbClr val="172243"/>
                  </a:solidFill>
                  <a:latin typeface="Calibri (MS) Bold"/>
                  <a:ea typeface="Calibri (MS) Bold"/>
                  <a:cs typeface="Calibri (MS) Bold"/>
                  <a:sym typeface="Calibri (MS) Bold"/>
                </a:rPr>
                <a:t>Three guarantees</a:t>
              </a:r>
            </a:p>
            <a:p>
              <a:pPr marL="229235" lvl="1" indent="-114617" algn="l">
                <a:lnSpc>
                  <a:spcPts val="2279"/>
                </a:lnSpc>
                <a:buFont typeface="Arial"/>
                <a:buChar char="•"/>
              </a:pPr>
              <a:r>
                <a:rPr lang="en-US" sz="1899" b="1">
                  <a:solidFill>
                    <a:srgbClr val="1B2440"/>
                  </a:solidFill>
                  <a:latin typeface="Calibri (MS) Bold"/>
                  <a:ea typeface="Calibri (MS) Bold"/>
                  <a:cs typeface="Calibri (MS) Bold"/>
                  <a:sym typeface="Calibri (MS) Bold"/>
                </a:rPr>
                <a:t>No false matches: </a:t>
              </a:r>
              <a:r>
                <a:rPr lang="en-US" sz="1899">
                  <a:solidFill>
                    <a:srgbClr val="1B2440"/>
                  </a:solidFill>
                  <a:latin typeface="Calibri (MS)"/>
                  <a:ea typeface="Calibri (MS)"/>
                  <a:cs typeface="Calibri (MS)"/>
                  <a:sym typeface="Calibri (MS)"/>
                </a:rPr>
                <a:t>a failed mandatory condition is never shown as eligible</a:t>
              </a:r>
            </a:p>
            <a:p>
              <a:pPr marL="229235" lvl="1" indent="-114617" algn="l">
                <a:lnSpc>
                  <a:spcPts val="2279"/>
                </a:lnSpc>
                <a:buFont typeface="Arial"/>
                <a:buChar char="•"/>
              </a:pPr>
              <a:r>
                <a:rPr lang="en-US" sz="1899" b="1">
                  <a:solidFill>
                    <a:srgbClr val="1B2440"/>
                  </a:solidFill>
                  <a:latin typeface="Calibri (MS) Bold"/>
                  <a:ea typeface="Calibri (MS) Bold"/>
                  <a:cs typeface="Calibri (MS) Bold"/>
                  <a:sym typeface="Calibri (MS) Bold"/>
                </a:rPr>
                <a:t>No black boxes: </a:t>
              </a:r>
              <a:r>
                <a:rPr lang="en-US" sz="1899">
                  <a:solidFill>
                    <a:srgbClr val="1B2440"/>
                  </a:solidFill>
                  <a:latin typeface="Calibri (MS)"/>
                  <a:ea typeface="Calibri (MS)"/>
                  <a:cs typeface="Calibri (MS)"/>
                  <a:sym typeface="Calibri (MS)"/>
                </a:rPr>
                <a:t>every result carries a plain-language reason</a:t>
              </a:r>
            </a:p>
            <a:p>
              <a:pPr marL="229235" lvl="1" indent="-114617" algn="l">
                <a:lnSpc>
                  <a:spcPts val="2279"/>
                </a:lnSpc>
                <a:buFont typeface="Arial"/>
                <a:buChar char="•"/>
              </a:pPr>
              <a:r>
                <a:rPr lang="en-US" sz="1899" b="1">
                  <a:solidFill>
                    <a:srgbClr val="1B2440"/>
                  </a:solidFill>
                  <a:latin typeface="Calibri (MS) Bold"/>
                  <a:ea typeface="Calibri (MS) Bold"/>
                  <a:cs typeface="Calibri (MS) Bold"/>
                  <a:sym typeface="Calibri (MS) Bold"/>
                </a:rPr>
                <a:t>No stale results: </a:t>
              </a:r>
              <a:r>
                <a:rPr lang="en-US" sz="1899">
                  <a:solidFill>
                    <a:srgbClr val="1B2440"/>
                  </a:solidFill>
                  <a:latin typeface="Calibri (MS)"/>
                  <a:ea typeface="Calibri (MS)"/>
                  <a:cs typeface="Calibri (MS)"/>
                  <a:sym typeface="Calibri (MS)"/>
                </a:rPr>
                <a:t>edits recalculate visibly</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6" b="-26"/>
              </a:stretch>
            </a:blipFill>
          </p:spPr>
          <p:txBody>
            <a:bodyPr/>
            <a:lstStyle/>
            <a:p>
              <a:endParaRPr/>
            </a:p>
          </p:txBody>
        </p:sp>
      </p:grpSp>
      <p:grpSp>
        <p:nvGrpSpPr>
          <p:cNvPr id="4" name="Group 4"/>
          <p:cNvGrpSpPr/>
          <p:nvPr/>
        </p:nvGrpSpPr>
        <p:grpSpPr>
          <a:xfrm>
            <a:off x="-5467" y="0"/>
            <a:ext cx="1750047" cy="9860651"/>
            <a:chOff x="0" y="0"/>
            <a:chExt cx="2333396" cy="13147535"/>
          </a:xfrm>
        </p:grpSpPr>
        <p:sp>
          <p:nvSpPr>
            <p:cNvPr id="5" name="Freeform 5"/>
            <p:cNvSpPr/>
            <p:nvPr/>
          </p:nvSpPr>
          <p:spPr>
            <a:xfrm>
              <a:off x="0" y="0"/>
              <a:ext cx="2333371" cy="13147548"/>
            </a:xfrm>
            <a:custGeom>
              <a:avLst/>
              <a:gdLst/>
              <a:ahLst/>
              <a:cxnLst/>
              <a:rect l="l" t="t" r="r" b="b"/>
              <a:pathLst>
                <a:path w="2333371" h="13147548">
                  <a:moveTo>
                    <a:pt x="0" y="0"/>
                  </a:moveTo>
                  <a:lnTo>
                    <a:pt x="2333371" y="0"/>
                  </a:lnTo>
                  <a:lnTo>
                    <a:pt x="2333371" y="13147548"/>
                  </a:lnTo>
                  <a:lnTo>
                    <a:pt x="0" y="13147548"/>
                  </a:lnTo>
                  <a:lnTo>
                    <a:pt x="0" y="0"/>
                  </a:lnTo>
                  <a:close/>
                </a:path>
              </a:pathLst>
            </a:custGeom>
            <a:blipFill>
              <a:blip r:embed="rId4"/>
              <a:stretch>
                <a:fillRect t="-26" r="-1" b="-26"/>
              </a:stretch>
            </a:blipFill>
          </p:spPr>
          <p:txBody>
            <a:bodyPr/>
            <a:lstStyle/>
            <a:p>
              <a:endParaRPr/>
            </a:p>
          </p:txBody>
        </p:sp>
      </p:grpSp>
      <p:grpSp>
        <p:nvGrpSpPr>
          <p:cNvPr id="6" name="Group 6"/>
          <p:cNvGrpSpPr/>
          <p:nvPr/>
        </p:nvGrpSpPr>
        <p:grpSpPr>
          <a:xfrm>
            <a:off x="14355861" y="6635715"/>
            <a:ext cx="1750047" cy="1727254"/>
            <a:chOff x="0" y="0"/>
            <a:chExt cx="2333396" cy="2303005"/>
          </a:xfrm>
        </p:grpSpPr>
        <p:sp>
          <p:nvSpPr>
            <p:cNvPr id="7" name="Freeform 7"/>
            <p:cNvSpPr/>
            <p:nvPr/>
          </p:nvSpPr>
          <p:spPr>
            <a:xfrm>
              <a:off x="0" y="0"/>
              <a:ext cx="2333371" cy="2303018"/>
            </a:xfrm>
            <a:custGeom>
              <a:avLst/>
              <a:gdLst/>
              <a:ahLst/>
              <a:cxnLst/>
              <a:rect l="l" t="t" r="r" b="b"/>
              <a:pathLst>
                <a:path w="2333371" h="2303018">
                  <a:moveTo>
                    <a:pt x="0" y="0"/>
                  </a:moveTo>
                  <a:lnTo>
                    <a:pt x="2333371" y="0"/>
                  </a:lnTo>
                  <a:lnTo>
                    <a:pt x="2333371" y="2303018"/>
                  </a:lnTo>
                  <a:lnTo>
                    <a:pt x="0" y="2303018"/>
                  </a:lnTo>
                  <a:lnTo>
                    <a:pt x="0" y="0"/>
                  </a:lnTo>
                  <a:close/>
                </a:path>
              </a:pathLst>
            </a:custGeom>
            <a:blipFill>
              <a:blip r:embed="rId5"/>
              <a:stretch>
                <a:fillRect t="-26" r="-1" b="-25"/>
              </a:stretch>
            </a:blipFill>
          </p:spPr>
          <p:txBody>
            <a:bodyPr/>
            <a:lstStyle/>
            <a:p>
              <a:endParaRPr/>
            </a:p>
          </p:txBody>
        </p:sp>
      </p:grpSp>
      <p:grpSp>
        <p:nvGrpSpPr>
          <p:cNvPr id="8" name="Group 8"/>
          <p:cNvGrpSpPr/>
          <p:nvPr/>
        </p:nvGrpSpPr>
        <p:grpSpPr>
          <a:xfrm>
            <a:off x="13054260" y="7046871"/>
            <a:ext cx="5228272" cy="3256521"/>
            <a:chOff x="0" y="0"/>
            <a:chExt cx="6971030" cy="4342028"/>
          </a:xfrm>
        </p:grpSpPr>
        <p:sp>
          <p:nvSpPr>
            <p:cNvPr id="9" name="Freeform 9"/>
            <p:cNvSpPr/>
            <p:nvPr/>
          </p:nvSpPr>
          <p:spPr>
            <a:xfrm>
              <a:off x="0" y="0"/>
              <a:ext cx="6971030" cy="4342003"/>
            </a:xfrm>
            <a:custGeom>
              <a:avLst/>
              <a:gdLst/>
              <a:ahLst/>
              <a:cxnLst/>
              <a:rect l="l" t="t" r="r" b="b"/>
              <a:pathLst>
                <a:path w="6971030" h="4342003">
                  <a:moveTo>
                    <a:pt x="0" y="0"/>
                  </a:moveTo>
                  <a:lnTo>
                    <a:pt x="6971030" y="0"/>
                  </a:lnTo>
                  <a:lnTo>
                    <a:pt x="6971030" y="4342003"/>
                  </a:lnTo>
                  <a:lnTo>
                    <a:pt x="0" y="4342003"/>
                  </a:lnTo>
                  <a:lnTo>
                    <a:pt x="0" y="0"/>
                  </a:lnTo>
                  <a:close/>
                </a:path>
              </a:pathLst>
            </a:custGeom>
            <a:blipFill>
              <a:blip r:embed="rId6"/>
              <a:stretch>
                <a:fillRect t="-2900" b="-2900"/>
              </a:stretch>
            </a:blipFill>
          </p:spPr>
          <p:txBody>
            <a:bodyPr/>
            <a:lstStyle/>
            <a:p>
              <a:endParaRPr/>
            </a:p>
          </p:txBody>
        </p:sp>
      </p:grpSp>
      <p:grpSp>
        <p:nvGrpSpPr>
          <p:cNvPr id="10" name="Group 10"/>
          <p:cNvGrpSpPr/>
          <p:nvPr/>
        </p:nvGrpSpPr>
        <p:grpSpPr>
          <a:xfrm>
            <a:off x="-5467" y="7046871"/>
            <a:ext cx="1312535" cy="3432648"/>
            <a:chOff x="0" y="0"/>
            <a:chExt cx="1750047" cy="4576864"/>
          </a:xfrm>
        </p:grpSpPr>
        <p:sp>
          <p:nvSpPr>
            <p:cNvPr id="11" name="Freeform 11"/>
            <p:cNvSpPr/>
            <p:nvPr/>
          </p:nvSpPr>
          <p:spPr>
            <a:xfrm>
              <a:off x="0" y="0"/>
              <a:ext cx="1750060" cy="4576826"/>
            </a:xfrm>
            <a:custGeom>
              <a:avLst/>
              <a:gdLst/>
              <a:ahLst/>
              <a:cxnLst/>
              <a:rect l="l" t="t" r="r" b="b"/>
              <a:pathLst>
                <a:path w="1750060" h="4576826">
                  <a:moveTo>
                    <a:pt x="0" y="0"/>
                  </a:moveTo>
                  <a:lnTo>
                    <a:pt x="1750060" y="0"/>
                  </a:lnTo>
                  <a:lnTo>
                    <a:pt x="1750060" y="4576826"/>
                  </a:lnTo>
                  <a:lnTo>
                    <a:pt x="0" y="4576826"/>
                  </a:lnTo>
                  <a:lnTo>
                    <a:pt x="0" y="0"/>
                  </a:lnTo>
                  <a:close/>
                </a:path>
              </a:pathLst>
            </a:custGeom>
            <a:blipFill>
              <a:blip r:embed="rId7"/>
              <a:stretch>
                <a:fillRect t="-26" b="-27"/>
              </a:stretch>
            </a:blipFill>
          </p:spPr>
          <p:txBody>
            <a:bodyPr/>
            <a:lstStyle/>
            <a:p>
              <a:endParaRPr/>
            </a:p>
          </p:txBody>
        </p:sp>
      </p:grpSp>
      <p:grpSp>
        <p:nvGrpSpPr>
          <p:cNvPr id="12" name="Group 12"/>
          <p:cNvGrpSpPr/>
          <p:nvPr/>
        </p:nvGrpSpPr>
        <p:grpSpPr>
          <a:xfrm>
            <a:off x="16969997" y="5455063"/>
            <a:ext cx="1312535" cy="4088568"/>
            <a:chOff x="0" y="0"/>
            <a:chExt cx="1750047" cy="5451424"/>
          </a:xfrm>
        </p:grpSpPr>
        <p:sp>
          <p:nvSpPr>
            <p:cNvPr id="13" name="Freeform 13"/>
            <p:cNvSpPr/>
            <p:nvPr/>
          </p:nvSpPr>
          <p:spPr>
            <a:xfrm>
              <a:off x="0" y="0"/>
              <a:ext cx="1750060" cy="5451475"/>
            </a:xfrm>
            <a:custGeom>
              <a:avLst/>
              <a:gdLst/>
              <a:ahLst/>
              <a:cxnLst/>
              <a:rect l="l" t="t" r="r" b="b"/>
              <a:pathLst>
                <a:path w="1750060" h="5451475">
                  <a:moveTo>
                    <a:pt x="0" y="0"/>
                  </a:moveTo>
                  <a:lnTo>
                    <a:pt x="1750060" y="0"/>
                  </a:lnTo>
                  <a:lnTo>
                    <a:pt x="1750060" y="5451475"/>
                  </a:lnTo>
                  <a:lnTo>
                    <a:pt x="0" y="5451475"/>
                  </a:lnTo>
                  <a:lnTo>
                    <a:pt x="0" y="0"/>
                  </a:lnTo>
                  <a:close/>
                </a:path>
              </a:pathLst>
            </a:custGeom>
            <a:blipFill>
              <a:blip r:embed="rId8"/>
              <a:stretch>
                <a:fillRect t="-26" b="-25"/>
              </a:stretch>
            </a:blipFill>
          </p:spPr>
          <p:txBody>
            <a:bodyPr/>
            <a:lstStyle/>
            <a:p>
              <a:endParaRPr/>
            </a:p>
          </p:txBody>
        </p:sp>
      </p:grpSp>
      <p:grpSp>
        <p:nvGrpSpPr>
          <p:cNvPr id="14" name="Group 14"/>
          <p:cNvGrpSpPr/>
          <p:nvPr/>
        </p:nvGrpSpPr>
        <p:grpSpPr>
          <a:xfrm>
            <a:off x="16701468" y="7046871"/>
            <a:ext cx="1104719" cy="2372239"/>
            <a:chOff x="0" y="0"/>
            <a:chExt cx="1472959" cy="3162986"/>
          </a:xfrm>
        </p:grpSpPr>
        <p:sp>
          <p:nvSpPr>
            <p:cNvPr id="15" name="Freeform 15"/>
            <p:cNvSpPr/>
            <p:nvPr/>
          </p:nvSpPr>
          <p:spPr>
            <a:xfrm>
              <a:off x="0" y="0"/>
              <a:ext cx="1472946" cy="3162935"/>
            </a:xfrm>
            <a:custGeom>
              <a:avLst/>
              <a:gdLst/>
              <a:ahLst/>
              <a:cxnLst/>
              <a:rect l="l" t="t" r="r" b="b"/>
              <a:pathLst>
                <a:path w="1472946" h="3162935">
                  <a:moveTo>
                    <a:pt x="0" y="0"/>
                  </a:moveTo>
                  <a:lnTo>
                    <a:pt x="1472946" y="0"/>
                  </a:lnTo>
                  <a:lnTo>
                    <a:pt x="1472946" y="3162935"/>
                  </a:lnTo>
                  <a:lnTo>
                    <a:pt x="0" y="3162935"/>
                  </a:lnTo>
                  <a:lnTo>
                    <a:pt x="0" y="0"/>
                  </a:lnTo>
                  <a:close/>
                </a:path>
              </a:pathLst>
            </a:custGeom>
            <a:blipFill>
              <a:blip r:embed="rId9"/>
              <a:stretch>
                <a:fillRect t="-26" b="-28"/>
              </a:stretch>
            </a:blipFill>
          </p:spPr>
          <p:txBody>
            <a:bodyPr/>
            <a:lstStyle/>
            <a:p>
              <a:endParaRPr/>
            </a:p>
          </p:txBody>
        </p:sp>
      </p:grpSp>
      <p:sp>
        <p:nvSpPr>
          <p:cNvPr id="16" name="TextBox 16"/>
          <p:cNvSpPr txBox="1"/>
          <p:nvPr/>
        </p:nvSpPr>
        <p:spPr>
          <a:xfrm>
            <a:off x="457200" y="255332"/>
            <a:ext cx="15453360" cy="1314450"/>
          </a:xfrm>
          <a:prstGeom prst="rect">
            <a:avLst/>
          </a:prstGeom>
        </p:spPr>
        <p:txBody>
          <a:bodyPr lIns="0" tIns="0" rIns="0" bIns="0" rtlCol="0" anchor="t">
            <a:spAutoFit/>
          </a:bodyPr>
          <a:lstStyle/>
          <a:p>
            <a:pPr algn="l">
              <a:lnSpc>
                <a:spcPts val="7499"/>
              </a:lnSpc>
            </a:pPr>
            <a:r>
              <a:rPr lang="en-US" sz="6600" b="1" spc="150" dirty="0">
                <a:solidFill>
                  <a:srgbClr val="172243"/>
                </a:solidFill>
                <a:latin typeface="Heading Now 31-38 Bold"/>
                <a:ea typeface="Heading Now 31-38 Bold"/>
                <a:cs typeface="Heading Now 31-38 Bold"/>
                <a:sym typeface="Heading Now 31-38 Bold"/>
              </a:rPr>
              <a:t>TECHNICAL APPROACH</a:t>
            </a:r>
          </a:p>
        </p:txBody>
      </p:sp>
      <p:grpSp>
        <p:nvGrpSpPr>
          <p:cNvPr id="17" name="Group 17"/>
          <p:cNvGrpSpPr/>
          <p:nvPr/>
        </p:nvGrpSpPr>
        <p:grpSpPr>
          <a:xfrm>
            <a:off x="457200" y="1028700"/>
            <a:ext cx="5020447" cy="535667"/>
            <a:chOff x="0" y="0"/>
            <a:chExt cx="6693929" cy="714223"/>
          </a:xfrm>
        </p:grpSpPr>
        <p:sp>
          <p:nvSpPr>
            <p:cNvPr id="18" name="Freeform 18"/>
            <p:cNvSpPr/>
            <p:nvPr/>
          </p:nvSpPr>
          <p:spPr>
            <a:xfrm>
              <a:off x="0" y="0"/>
              <a:ext cx="6693916" cy="714248"/>
            </a:xfrm>
            <a:custGeom>
              <a:avLst/>
              <a:gdLst/>
              <a:ahLst/>
              <a:cxnLst/>
              <a:rect l="l" t="t" r="r" b="b"/>
              <a:pathLst>
                <a:path w="6693916" h="714248">
                  <a:moveTo>
                    <a:pt x="0" y="0"/>
                  </a:moveTo>
                  <a:lnTo>
                    <a:pt x="6693916" y="0"/>
                  </a:lnTo>
                  <a:lnTo>
                    <a:pt x="6693916" y="714248"/>
                  </a:lnTo>
                  <a:lnTo>
                    <a:pt x="0" y="714248"/>
                  </a:lnTo>
                  <a:lnTo>
                    <a:pt x="0" y="0"/>
                  </a:lnTo>
                  <a:close/>
                </a:path>
              </a:pathLst>
            </a:custGeom>
            <a:blipFill>
              <a:blip r:embed="rId10"/>
              <a:stretch>
                <a:fillRect l="-11217" r="-11217" b="3"/>
              </a:stretch>
            </a:blipFill>
          </p:spPr>
          <p:txBody>
            <a:bodyPr/>
            <a:lstStyle/>
            <a:p>
              <a:endParaRPr/>
            </a:p>
          </p:txBody>
        </p:sp>
      </p:grpSp>
      <p:grpSp>
        <p:nvGrpSpPr>
          <p:cNvPr id="19" name="Group 19"/>
          <p:cNvGrpSpPr/>
          <p:nvPr/>
        </p:nvGrpSpPr>
        <p:grpSpPr>
          <a:xfrm>
            <a:off x="13923816" y="2160727"/>
            <a:ext cx="4364184" cy="2153602"/>
            <a:chOff x="0" y="0"/>
            <a:chExt cx="5818911" cy="2871470"/>
          </a:xfrm>
        </p:grpSpPr>
        <p:sp>
          <p:nvSpPr>
            <p:cNvPr id="20" name="Freeform 20"/>
            <p:cNvSpPr/>
            <p:nvPr/>
          </p:nvSpPr>
          <p:spPr>
            <a:xfrm>
              <a:off x="0" y="0"/>
              <a:ext cx="5818886" cy="2871470"/>
            </a:xfrm>
            <a:custGeom>
              <a:avLst/>
              <a:gdLst/>
              <a:ahLst/>
              <a:cxnLst/>
              <a:rect l="l" t="t" r="r" b="b"/>
              <a:pathLst>
                <a:path w="5818886" h="2871470">
                  <a:moveTo>
                    <a:pt x="0" y="0"/>
                  </a:moveTo>
                  <a:lnTo>
                    <a:pt x="5818886" y="0"/>
                  </a:lnTo>
                  <a:lnTo>
                    <a:pt x="5818886" y="2871470"/>
                  </a:lnTo>
                  <a:lnTo>
                    <a:pt x="0" y="2871470"/>
                  </a:lnTo>
                  <a:lnTo>
                    <a:pt x="0" y="0"/>
                  </a:lnTo>
                  <a:close/>
                </a:path>
              </a:pathLst>
            </a:custGeom>
            <a:blipFill>
              <a:blip r:embed="rId11">
                <a:alphaModFix amt="68000"/>
              </a:blip>
              <a:stretch>
                <a:fillRect t="-26" b="-26"/>
              </a:stretch>
            </a:blipFill>
          </p:spPr>
          <p:txBody>
            <a:bodyPr/>
            <a:lstStyle/>
            <a:p>
              <a:endParaRPr/>
            </a:p>
          </p:txBody>
        </p:sp>
      </p:grpSp>
      <p:grpSp>
        <p:nvGrpSpPr>
          <p:cNvPr id="21" name="Group 21"/>
          <p:cNvGrpSpPr/>
          <p:nvPr/>
        </p:nvGrpSpPr>
        <p:grpSpPr>
          <a:xfrm>
            <a:off x="16178936" y="216170"/>
            <a:ext cx="2160727" cy="2160727"/>
            <a:chOff x="0" y="0"/>
            <a:chExt cx="2880970" cy="2880970"/>
          </a:xfrm>
        </p:grpSpPr>
        <p:sp>
          <p:nvSpPr>
            <p:cNvPr id="22" name="Freeform 22"/>
            <p:cNvSpPr/>
            <p:nvPr/>
          </p:nvSpPr>
          <p:spPr>
            <a:xfrm>
              <a:off x="0" y="0"/>
              <a:ext cx="2880995" cy="2880995"/>
            </a:xfrm>
            <a:custGeom>
              <a:avLst/>
              <a:gdLst/>
              <a:ahLst/>
              <a:cxnLst/>
              <a:rect l="l" t="t" r="r" b="b"/>
              <a:pathLst>
                <a:path w="2880995" h="2880995">
                  <a:moveTo>
                    <a:pt x="0" y="0"/>
                  </a:moveTo>
                  <a:lnTo>
                    <a:pt x="2880995" y="0"/>
                  </a:lnTo>
                  <a:lnTo>
                    <a:pt x="2880995" y="2880995"/>
                  </a:lnTo>
                  <a:lnTo>
                    <a:pt x="0" y="2880995"/>
                  </a:lnTo>
                  <a:lnTo>
                    <a:pt x="0" y="0"/>
                  </a:lnTo>
                  <a:close/>
                </a:path>
              </a:pathLst>
            </a:custGeom>
            <a:blipFill>
              <a:blip r:embed="rId12"/>
              <a:stretch>
                <a:fillRect/>
              </a:stretch>
            </a:blipFill>
          </p:spPr>
          <p:txBody>
            <a:bodyPr/>
            <a:lstStyle/>
            <a:p>
              <a:endParaRPr/>
            </a:p>
          </p:txBody>
        </p:sp>
      </p:grpSp>
      <p:grpSp>
        <p:nvGrpSpPr>
          <p:cNvPr id="23" name="Group 23"/>
          <p:cNvGrpSpPr/>
          <p:nvPr/>
        </p:nvGrpSpPr>
        <p:grpSpPr>
          <a:xfrm>
            <a:off x="457200" y="1783080"/>
            <a:ext cx="15453360" cy="603504"/>
            <a:chOff x="0" y="0"/>
            <a:chExt cx="20604480" cy="804672"/>
          </a:xfrm>
        </p:grpSpPr>
        <p:sp>
          <p:nvSpPr>
            <p:cNvPr id="24" name="Freeform 24"/>
            <p:cNvSpPr/>
            <p:nvPr/>
          </p:nvSpPr>
          <p:spPr>
            <a:xfrm>
              <a:off x="0" y="0"/>
              <a:ext cx="20604480" cy="804672"/>
            </a:xfrm>
            <a:custGeom>
              <a:avLst/>
              <a:gdLst/>
              <a:ahLst/>
              <a:cxnLst/>
              <a:rect l="l" t="t" r="r" b="b"/>
              <a:pathLst>
                <a:path w="20604480" h="804672">
                  <a:moveTo>
                    <a:pt x="0" y="241427"/>
                  </a:moveTo>
                  <a:cubicBezTo>
                    <a:pt x="0" y="108077"/>
                    <a:pt x="108077" y="0"/>
                    <a:pt x="241427" y="0"/>
                  </a:cubicBezTo>
                  <a:lnTo>
                    <a:pt x="20363053" y="0"/>
                  </a:lnTo>
                  <a:cubicBezTo>
                    <a:pt x="20496403" y="0"/>
                    <a:pt x="20604480" y="108077"/>
                    <a:pt x="20604480" y="241427"/>
                  </a:cubicBezTo>
                  <a:lnTo>
                    <a:pt x="20604480" y="563245"/>
                  </a:lnTo>
                  <a:cubicBezTo>
                    <a:pt x="20604480" y="696595"/>
                    <a:pt x="20496403" y="804672"/>
                    <a:pt x="20363053" y="804672"/>
                  </a:cubicBezTo>
                  <a:lnTo>
                    <a:pt x="241427" y="804672"/>
                  </a:lnTo>
                  <a:cubicBezTo>
                    <a:pt x="108077" y="804672"/>
                    <a:pt x="0" y="696595"/>
                    <a:pt x="0" y="563245"/>
                  </a:cubicBezTo>
                  <a:close/>
                </a:path>
              </a:pathLst>
            </a:custGeom>
            <a:solidFill>
              <a:srgbClr val="172243"/>
            </a:solidFill>
          </p:spPr>
          <p:txBody>
            <a:bodyPr/>
            <a:lstStyle/>
            <a:p>
              <a:endParaRPr/>
            </a:p>
          </p:txBody>
        </p:sp>
        <p:sp>
          <p:nvSpPr>
            <p:cNvPr id="25" name="TextBox 25"/>
            <p:cNvSpPr txBox="1"/>
            <p:nvPr/>
          </p:nvSpPr>
          <p:spPr>
            <a:xfrm>
              <a:off x="0" y="-38100"/>
              <a:ext cx="20604480" cy="842772"/>
            </a:xfrm>
            <a:prstGeom prst="rect">
              <a:avLst/>
            </a:prstGeom>
          </p:spPr>
          <p:txBody>
            <a:bodyPr lIns="50800" tIns="50800" rIns="50800" bIns="50800" rtlCol="0" anchor="ctr"/>
            <a:lstStyle/>
            <a:p>
              <a:pPr algn="l">
                <a:lnSpc>
                  <a:spcPts val="2879"/>
                </a:lnSpc>
              </a:pPr>
              <a:r>
                <a:rPr lang="en-US" sz="2400" b="1">
                  <a:solidFill>
                    <a:srgbClr val="FFFFFF"/>
                  </a:solidFill>
                  <a:latin typeface="Calibri (MS) Bold"/>
                  <a:ea typeface="Calibri (MS) Bold"/>
                  <a:cs typeface="Calibri (MS) Bold"/>
                  <a:sym typeface="Calibri (MS) Bold"/>
                </a:rPr>
                <a:t>Portals call a Node/Express API; the API calls a deterministic core and AI adapters. AI has no path into eligibility.</a:t>
              </a:r>
            </a:p>
          </p:txBody>
        </p:sp>
      </p:grpSp>
      <p:sp>
        <p:nvSpPr>
          <p:cNvPr id="26" name="AutoShape 26"/>
          <p:cNvSpPr/>
          <p:nvPr/>
        </p:nvSpPr>
        <p:spPr>
          <a:xfrm rot="5386800">
            <a:off x="5426364" y="6299835"/>
            <a:ext cx="7435272" cy="0"/>
          </a:xfrm>
          <a:prstGeom prst="line">
            <a:avLst/>
          </a:prstGeom>
          <a:ln w="19050" cap="rnd">
            <a:solidFill>
              <a:srgbClr val="172243"/>
            </a:solidFill>
            <a:prstDash val="solid"/>
            <a:headEnd type="none" w="sm" len="sm"/>
            <a:tailEnd type="none" w="sm" len="sm"/>
          </a:ln>
        </p:spPr>
        <p:txBody>
          <a:bodyPr/>
          <a:lstStyle/>
          <a:p>
            <a:endParaRPr/>
          </a:p>
        </p:txBody>
      </p:sp>
      <p:grpSp>
        <p:nvGrpSpPr>
          <p:cNvPr id="27" name="Group 27"/>
          <p:cNvGrpSpPr/>
          <p:nvPr/>
        </p:nvGrpSpPr>
        <p:grpSpPr>
          <a:xfrm>
            <a:off x="457200" y="2606040"/>
            <a:ext cx="8412480" cy="566928"/>
            <a:chOff x="0" y="0"/>
            <a:chExt cx="11216640" cy="755904"/>
          </a:xfrm>
        </p:grpSpPr>
        <p:sp>
          <p:nvSpPr>
            <p:cNvPr id="28" name="Freeform 28"/>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txBody>
            <a:bodyPr/>
            <a:lstStyle/>
            <a:p>
              <a:endParaRPr/>
            </a:p>
          </p:txBody>
        </p:sp>
        <p:sp>
          <p:nvSpPr>
            <p:cNvPr id="29" name="TextBox 29"/>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ARCHITECTURE: TOP TO BOTTOM</a:t>
              </a:r>
            </a:p>
          </p:txBody>
        </p:sp>
      </p:grpSp>
      <p:grpSp>
        <p:nvGrpSpPr>
          <p:cNvPr id="30" name="Group 30"/>
          <p:cNvGrpSpPr/>
          <p:nvPr/>
        </p:nvGrpSpPr>
        <p:grpSpPr>
          <a:xfrm>
            <a:off x="450847" y="3303775"/>
            <a:ext cx="2012947" cy="652777"/>
            <a:chOff x="0" y="0"/>
            <a:chExt cx="2683929" cy="870369"/>
          </a:xfrm>
        </p:grpSpPr>
        <p:sp>
          <p:nvSpPr>
            <p:cNvPr id="31" name="Freeform 31"/>
            <p:cNvSpPr/>
            <p:nvPr/>
          </p:nvSpPr>
          <p:spPr>
            <a:xfrm>
              <a:off x="0" y="0"/>
              <a:ext cx="2683891" cy="870331"/>
            </a:xfrm>
            <a:custGeom>
              <a:avLst/>
              <a:gdLst/>
              <a:ahLst/>
              <a:cxnLst/>
              <a:rect l="l" t="t" r="r" b="b"/>
              <a:pathLst>
                <a:path w="2683891" h="870331">
                  <a:moveTo>
                    <a:pt x="0" y="52197"/>
                  </a:moveTo>
                  <a:cubicBezTo>
                    <a:pt x="0" y="23368"/>
                    <a:pt x="23368" y="0"/>
                    <a:pt x="52197" y="0"/>
                  </a:cubicBezTo>
                  <a:lnTo>
                    <a:pt x="2631694" y="0"/>
                  </a:lnTo>
                  <a:cubicBezTo>
                    <a:pt x="2660523" y="0"/>
                    <a:pt x="2683891" y="23368"/>
                    <a:pt x="2683891" y="52197"/>
                  </a:cubicBezTo>
                  <a:lnTo>
                    <a:pt x="2683891" y="818134"/>
                  </a:lnTo>
                  <a:cubicBezTo>
                    <a:pt x="2683891" y="846963"/>
                    <a:pt x="2660523" y="870331"/>
                    <a:pt x="2631694" y="870331"/>
                  </a:cubicBezTo>
                  <a:lnTo>
                    <a:pt x="52197" y="870331"/>
                  </a:lnTo>
                  <a:cubicBezTo>
                    <a:pt x="23368" y="870331"/>
                    <a:pt x="0" y="846963"/>
                    <a:pt x="0" y="818134"/>
                  </a:cubicBezTo>
                  <a:close/>
                </a:path>
              </a:pathLst>
            </a:custGeom>
            <a:solidFill>
              <a:srgbClr val="FFFFFF"/>
            </a:solidFill>
            <a:ln w="12700" cap="sq">
              <a:solidFill>
                <a:srgbClr val="D7D0E6"/>
              </a:solidFill>
              <a:prstDash val="solid"/>
              <a:miter/>
            </a:ln>
          </p:spPr>
          <p:txBody>
            <a:bodyPr/>
            <a:lstStyle/>
            <a:p>
              <a:endParaRPr/>
            </a:p>
          </p:txBody>
        </p:sp>
        <p:sp>
          <p:nvSpPr>
            <p:cNvPr id="32" name="TextBox 32"/>
            <p:cNvSpPr txBox="1"/>
            <p:nvPr/>
          </p:nvSpPr>
          <p:spPr>
            <a:xfrm>
              <a:off x="0" y="-38100"/>
              <a:ext cx="2683929" cy="908469"/>
            </a:xfrm>
            <a:prstGeom prst="rect">
              <a:avLst/>
            </a:prstGeom>
          </p:spPr>
          <p:txBody>
            <a:bodyPr lIns="50800" tIns="50800" rIns="50800" bIns="50800" rtlCol="0" anchor="ctr"/>
            <a:lstStyle/>
            <a:p>
              <a:pPr algn="ctr">
                <a:lnSpc>
                  <a:spcPts val="2040"/>
                </a:lnSpc>
              </a:pPr>
              <a:r>
                <a:rPr lang="en-US" sz="1700" b="1">
                  <a:solidFill>
                    <a:srgbClr val="1B2440"/>
                  </a:solidFill>
                  <a:latin typeface="Calibri (MS) Bold"/>
                  <a:ea typeface="Calibri (MS) Bold"/>
                  <a:cs typeface="Calibri (MS) Bold"/>
                  <a:sym typeface="Calibri (MS) Bold"/>
                </a:rPr>
                <a:t>Candidate / job seeker</a:t>
              </a:r>
            </a:p>
          </p:txBody>
        </p:sp>
      </p:grpSp>
      <p:grpSp>
        <p:nvGrpSpPr>
          <p:cNvPr id="33" name="Group 33"/>
          <p:cNvGrpSpPr/>
          <p:nvPr/>
        </p:nvGrpSpPr>
        <p:grpSpPr>
          <a:xfrm>
            <a:off x="2588257" y="3303775"/>
            <a:ext cx="2012947" cy="652777"/>
            <a:chOff x="0" y="0"/>
            <a:chExt cx="2683929" cy="870369"/>
          </a:xfrm>
        </p:grpSpPr>
        <p:sp>
          <p:nvSpPr>
            <p:cNvPr id="34" name="Freeform 34"/>
            <p:cNvSpPr/>
            <p:nvPr/>
          </p:nvSpPr>
          <p:spPr>
            <a:xfrm>
              <a:off x="0" y="0"/>
              <a:ext cx="2683891" cy="870331"/>
            </a:xfrm>
            <a:custGeom>
              <a:avLst/>
              <a:gdLst/>
              <a:ahLst/>
              <a:cxnLst/>
              <a:rect l="l" t="t" r="r" b="b"/>
              <a:pathLst>
                <a:path w="2683891" h="870331">
                  <a:moveTo>
                    <a:pt x="0" y="52197"/>
                  </a:moveTo>
                  <a:cubicBezTo>
                    <a:pt x="0" y="23368"/>
                    <a:pt x="23368" y="0"/>
                    <a:pt x="52197" y="0"/>
                  </a:cubicBezTo>
                  <a:lnTo>
                    <a:pt x="2631694" y="0"/>
                  </a:lnTo>
                  <a:cubicBezTo>
                    <a:pt x="2660523" y="0"/>
                    <a:pt x="2683891" y="23368"/>
                    <a:pt x="2683891" y="52197"/>
                  </a:cubicBezTo>
                  <a:lnTo>
                    <a:pt x="2683891" y="818134"/>
                  </a:lnTo>
                  <a:cubicBezTo>
                    <a:pt x="2683891" y="846963"/>
                    <a:pt x="2660523" y="870331"/>
                    <a:pt x="2631694" y="870331"/>
                  </a:cubicBezTo>
                  <a:lnTo>
                    <a:pt x="52197" y="870331"/>
                  </a:lnTo>
                  <a:cubicBezTo>
                    <a:pt x="23368" y="870331"/>
                    <a:pt x="0" y="846963"/>
                    <a:pt x="0" y="818134"/>
                  </a:cubicBezTo>
                  <a:close/>
                </a:path>
              </a:pathLst>
            </a:custGeom>
            <a:solidFill>
              <a:srgbClr val="FFFFFF"/>
            </a:solidFill>
            <a:ln w="12700" cap="sq">
              <a:solidFill>
                <a:srgbClr val="D7D0E6"/>
              </a:solidFill>
              <a:prstDash val="solid"/>
              <a:miter/>
            </a:ln>
          </p:spPr>
          <p:txBody>
            <a:bodyPr/>
            <a:lstStyle/>
            <a:p>
              <a:endParaRPr/>
            </a:p>
          </p:txBody>
        </p:sp>
        <p:sp>
          <p:nvSpPr>
            <p:cNvPr id="35" name="TextBox 35"/>
            <p:cNvSpPr txBox="1"/>
            <p:nvPr/>
          </p:nvSpPr>
          <p:spPr>
            <a:xfrm>
              <a:off x="0" y="-38100"/>
              <a:ext cx="2683929" cy="908469"/>
            </a:xfrm>
            <a:prstGeom prst="rect">
              <a:avLst/>
            </a:prstGeom>
          </p:spPr>
          <p:txBody>
            <a:bodyPr lIns="50800" tIns="50800" rIns="50800" bIns="50800" rtlCol="0" anchor="ctr"/>
            <a:lstStyle/>
            <a:p>
              <a:pPr algn="ctr">
                <a:lnSpc>
                  <a:spcPts val="2040"/>
                </a:lnSpc>
              </a:pPr>
              <a:r>
                <a:rPr lang="en-US" sz="1700" b="1">
                  <a:solidFill>
                    <a:srgbClr val="1B2440"/>
                  </a:solidFill>
                  <a:latin typeface="Calibri (MS) Bold"/>
                  <a:ea typeface="Calibri (MS) Bold"/>
                  <a:cs typeface="Calibri (MS) Bold"/>
                  <a:sym typeface="Calibri (MS) Bold"/>
                </a:rPr>
                <a:t>Recruiter / employer</a:t>
              </a:r>
            </a:p>
          </p:txBody>
        </p:sp>
      </p:grpSp>
      <p:grpSp>
        <p:nvGrpSpPr>
          <p:cNvPr id="36" name="Group 36"/>
          <p:cNvGrpSpPr/>
          <p:nvPr/>
        </p:nvGrpSpPr>
        <p:grpSpPr>
          <a:xfrm>
            <a:off x="4725667" y="3303775"/>
            <a:ext cx="2012947" cy="652777"/>
            <a:chOff x="0" y="0"/>
            <a:chExt cx="2683929" cy="870369"/>
          </a:xfrm>
        </p:grpSpPr>
        <p:sp>
          <p:nvSpPr>
            <p:cNvPr id="37" name="Freeform 37"/>
            <p:cNvSpPr/>
            <p:nvPr/>
          </p:nvSpPr>
          <p:spPr>
            <a:xfrm>
              <a:off x="0" y="0"/>
              <a:ext cx="2683891" cy="870331"/>
            </a:xfrm>
            <a:custGeom>
              <a:avLst/>
              <a:gdLst/>
              <a:ahLst/>
              <a:cxnLst/>
              <a:rect l="l" t="t" r="r" b="b"/>
              <a:pathLst>
                <a:path w="2683891" h="870331">
                  <a:moveTo>
                    <a:pt x="0" y="52197"/>
                  </a:moveTo>
                  <a:cubicBezTo>
                    <a:pt x="0" y="23368"/>
                    <a:pt x="23368" y="0"/>
                    <a:pt x="52197" y="0"/>
                  </a:cubicBezTo>
                  <a:lnTo>
                    <a:pt x="2631694" y="0"/>
                  </a:lnTo>
                  <a:cubicBezTo>
                    <a:pt x="2660523" y="0"/>
                    <a:pt x="2683891" y="23368"/>
                    <a:pt x="2683891" y="52197"/>
                  </a:cubicBezTo>
                  <a:lnTo>
                    <a:pt x="2683891" y="818134"/>
                  </a:lnTo>
                  <a:cubicBezTo>
                    <a:pt x="2683891" y="846963"/>
                    <a:pt x="2660523" y="870331"/>
                    <a:pt x="2631694" y="870331"/>
                  </a:cubicBezTo>
                  <a:lnTo>
                    <a:pt x="52197" y="870331"/>
                  </a:lnTo>
                  <a:cubicBezTo>
                    <a:pt x="23368" y="870331"/>
                    <a:pt x="0" y="846963"/>
                    <a:pt x="0" y="818134"/>
                  </a:cubicBezTo>
                  <a:close/>
                </a:path>
              </a:pathLst>
            </a:custGeom>
            <a:solidFill>
              <a:srgbClr val="FFFFFF"/>
            </a:solidFill>
            <a:ln w="12700" cap="sq">
              <a:solidFill>
                <a:srgbClr val="D7D0E6"/>
              </a:solidFill>
              <a:prstDash val="solid"/>
              <a:miter/>
            </a:ln>
          </p:spPr>
          <p:txBody>
            <a:bodyPr/>
            <a:lstStyle/>
            <a:p>
              <a:endParaRPr/>
            </a:p>
          </p:txBody>
        </p:sp>
        <p:sp>
          <p:nvSpPr>
            <p:cNvPr id="38" name="TextBox 38"/>
            <p:cNvSpPr txBox="1"/>
            <p:nvPr/>
          </p:nvSpPr>
          <p:spPr>
            <a:xfrm>
              <a:off x="0" y="-38100"/>
              <a:ext cx="2683929" cy="908469"/>
            </a:xfrm>
            <a:prstGeom prst="rect">
              <a:avLst/>
            </a:prstGeom>
          </p:spPr>
          <p:txBody>
            <a:bodyPr lIns="50800" tIns="50800" rIns="50800" bIns="50800" rtlCol="0" anchor="ctr"/>
            <a:lstStyle/>
            <a:p>
              <a:pPr algn="ctr">
                <a:lnSpc>
                  <a:spcPts val="2040"/>
                </a:lnSpc>
              </a:pPr>
              <a:r>
                <a:rPr lang="en-US" sz="1700" b="1">
                  <a:solidFill>
                    <a:srgbClr val="1B2440"/>
                  </a:solidFill>
                  <a:latin typeface="Calibri (MS) Bold"/>
                  <a:ea typeface="Calibri (MS) Bold"/>
                  <a:cs typeface="Calibri (MS) Bold"/>
                  <a:sym typeface="Calibri (MS) Bold"/>
                </a:rPr>
                <a:t>Training provider</a:t>
              </a:r>
            </a:p>
          </p:txBody>
        </p:sp>
      </p:grpSp>
      <p:grpSp>
        <p:nvGrpSpPr>
          <p:cNvPr id="39" name="Group 39"/>
          <p:cNvGrpSpPr/>
          <p:nvPr/>
        </p:nvGrpSpPr>
        <p:grpSpPr>
          <a:xfrm>
            <a:off x="6863077" y="3303775"/>
            <a:ext cx="2012947" cy="652777"/>
            <a:chOff x="0" y="0"/>
            <a:chExt cx="2683929" cy="870369"/>
          </a:xfrm>
        </p:grpSpPr>
        <p:sp>
          <p:nvSpPr>
            <p:cNvPr id="40" name="Freeform 40"/>
            <p:cNvSpPr/>
            <p:nvPr/>
          </p:nvSpPr>
          <p:spPr>
            <a:xfrm>
              <a:off x="0" y="0"/>
              <a:ext cx="2683891" cy="870331"/>
            </a:xfrm>
            <a:custGeom>
              <a:avLst/>
              <a:gdLst/>
              <a:ahLst/>
              <a:cxnLst/>
              <a:rect l="l" t="t" r="r" b="b"/>
              <a:pathLst>
                <a:path w="2683891" h="870331">
                  <a:moveTo>
                    <a:pt x="0" y="52197"/>
                  </a:moveTo>
                  <a:cubicBezTo>
                    <a:pt x="0" y="23368"/>
                    <a:pt x="23368" y="0"/>
                    <a:pt x="52197" y="0"/>
                  </a:cubicBezTo>
                  <a:lnTo>
                    <a:pt x="2631694" y="0"/>
                  </a:lnTo>
                  <a:cubicBezTo>
                    <a:pt x="2660523" y="0"/>
                    <a:pt x="2683891" y="23368"/>
                    <a:pt x="2683891" y="52197"/>
                  </a:cubicBezTo>
                  <a:lnTo>
                    <a:pt x="2683891" y="818134"/>
                  </a:lnTo>
                  <a:cubicBezTo>
                    <a:pt x="2683891" y="846963"/>
                    <a:pt x="2660523" y="870331"/>
                    <a:pt x="2631694" y="870331"/>
                  </a:cubicBezTo>
                  <a:lnTo>
                    <a:pt x="52197" y="870331"/>
                  </a:lnTo>
                  <a:cubicBezTo>
                    <a:pt x="23368" y="870331"/>
                    <a:pt x="0" y="846963"/>
                    <a:pt x="0" y="818134"/>
                  </a:cubicBezTo>
                  <a:close/>
                </a:path>
              </a:pathLst>
            </a:custGeom>
            <a:solidFill>
              <a:srgbClr val="FFFFFF"/>
            </a:solidFill>
            <a:ln w="12700" cap="sq">
              <a:solidFill>
                <a:srgbClr val="D7D0E6"/>
              </a:solidFill>
              <a:prstDash val="solid"/>
              <a:miter/>
            </a:ln>
          </p:spPr>
          <p:txBody>
            <a:bodyPr/>
            <a:lstStyle/>
            <a:p>
              <a:endParaRPr/>
            </a:p>
          </p:txBody>
        </p:sp>
        <p:sp>
          <p:nvSpPr>
            <p:cNvPr id="41" name="TextBox 41"/>
            <p:cNvSpPr txBox="1"/>
            <p:nvPr/>
          </p:nvSpPr>
          <p:spPr>
            <a:xfrm>
              <a:off x="0" y="-38100"/>
              <a:ext cx="2683929" cy="908469"/>
            </a:xfrm>
            <a:prstGeom prst="rect">
              <a:avLst/>
            </a:prstGeom>
          </p:spPr>
          <p:txBody>
            <a:bodyPr lIns="50800" tIns="50800" rIns="50800" bIns="50800" rtlCol="0" anchor="ctr"/>
            <a:lstStyle/>
            <a:p>
              <a:pPr algn="ctr">
                <a:lnSpc>
                  <a:spcPts val="2040"/>
                </a:lnSpc>
              </a:pPr>
              <a:r>
                <a:rPr lang="en-US" sz="1700" b="1">
                  <a:solidFill>
                    <a:srgbClr val="1B2440"/>
                  </a:solidFill>
                  <a:latin typeface="Calibri (MS) Bold"/>
                  <a:ea typeface="Calibri (MS) Bold"/>
                  <a:cs typeface="Calibri (MS) Bold"/>
                  <a:sym typeface="Calibri (MS) Bold"/>
                </a:rPr>
                <a:t>Admin (restricted)</a:t>
              </a:r>
            </a:p>
          </p:txBody>
        </p:sp>
      </p:grpSp>
      <p:grpSp>
        <p:nvGrpSpPr>
          <p:cNvPr id="42" name="Group 42"/>
          <p:cNvGrpSpPr/>
          <p:nvPr/>
        </p:nvGrpSpPr>
        <p:grpSpPr>
          <a:xfrm>
            <a:off x="4507992" y="3986784"/>
            <a:ext cx="310896" cy="228600"/>
            <a:chOff x="0" y="0"/>
            <a:chExt cx="414528" cy="304800"/>
          </a:xfrm>
        </p:grpSpPr>
        <p:sp>
          <p:nvSpPr>
            <p:cNvPr id="43" name="Freeform 43"/>
            <p:cNvSpPr/>
            <p:nvPr/>
          </p:nvSpPr>
          <p:spPr>
            <a:xfrm>
              <a:off x="0" y="0"/>
              <a:ext cx="414528" cy="304800"/>
            </a:xfrm>
            <a:custGeom>
              <a:avLst/>
              <a:gdLst/>
              <a:ahLst/>
              <a:cxnLst/>
              <a:rect l="l" t="t" r="r" b="b"/>
              <a:pathLst>
                <a:path w="414528" h="304800">
                  <a:moveTo>
                    <a:pt x="0" y="152400"/>
                  </a:moveTo>
                  <a:lnTo>
                    <a:pt x="103632" y="152400"/>
                  </a:lnTo>
                  <a:lnTo>
                    <a:pt x="103632" y="0"/>
                  </a:lnTo>
                  <a:lnTo>
                    <a:pt x="310896" y="0"/>
                  </a:lnTo>
                  <a:lnTo>
                    <a:pt x="310896" y="152400"/>
                  </a:lnTo>
                  <a:lnTo>
                    <a:pt x="414528" y="152400"/>
                  </a:lnTo>
                  <a:lnTo>
                    <a:pt x="207264" y="304800"/>
                  </a:lnTo>
                  <a:close/>
                </a:path>
              </a:pathLst>
            </a:custGeom>
            <a:solidFill>
              <a:srgbClr val="E4695C"/>
            </a:solidFill>
          </p:spPr>
          <p:txBody>
            <a:bodyPr/>
            <a:lstStyle/>
            <a:p>
              <a:endParaRPr/>
            </a:p>
          </p:txBody>
        </p:sp>
      </p:grpSp>
      <p:sp>
        <p:nvSpPr>
          <p:cNvPr id="44" name="TextBox 44"/>
          <p:cNvSpPr txBox="1"/>
          <p:nvPr/>
        </p:nvSpPr>
        <p:spPr>
          <a:xfrm>
            <a:off x="4983480" y="3948684"/>
            <a:ext cx="3200400" cy="312420"/>
          </a:xfrm>
          <a:prstGeom prst="rect">
            <a:avLst/>
          </a:prstGeom>
        </p:spPr>
        <p:txBody>
          <a:bodyPr lIns="0" tIns="0" rIns="0" bIns="0" rtlCol="0" anchor="t">
            <a:spAutoFit/>
          </a:bodyPr>
          <a:lstStyle/>
          <a:p>
            <a:pPr algn="l">
              <a:lnSpc>
                <a:spcPts val="2040"/>
              </a:lnSpc>
            </a:pPr>
            <a:r>
              <a:rPr lang="en-US" sz="1700" i="1">
                <a:solidFill>
                  <a:srgbClr val="4A5170"/>
                </a:solidFill>
                <a:latin typeface="Calibri (MS) Italics"/>
                <a:ea typeface="Calibri (MS) Italics"/>
                <a:cs typeface="Calibri (MS) Italics"/>
                <a:sym typeface="Calibri (MS) Italics"/>
              </a:rPr>
              <a:t>HTTPS + JWT session</a:t>
            </a:r>
          </a:p>
        </p:txBody>
      </p:sp>
      <p:grpSp>
        <p:nvGrpSpPr>
          <p:cNvPr id="45" name="Group 45"/>
          <p:cNvGrpSpPr/>
          <p:nvPr/>
        </p:nvGrpSpPr>
        <p:grpSpPr>
          <a:xfrm>
            <a:off x="450847" y="4254751"/>
            <a:ext cx="8425177" cy="1978657"/>
            <a:chOff x="0" y="0"/>
            <a:chExt cx="11233569" cy="2638209"/>
          </a:xfrm>
        </p:grpSpPr>
        <p:sp>
          <p:nvSpPr>
            <p:cNvPr id="46" name="Freeform 46"/>
            <p:cNvSpPr/>
            <p:nvPr/>
          </p:nvSpPr>
          <p:spPr>
            <a:xfrm>
              <a:off x="0" y="0"/>
              <a:ext cx="11233531" cy="2638171"/>
            </a:xfrm>
            <a:custGeom>
              <a:avLst/>
              <a:gdLst/>
              <a:ahLst/>
              <a:cxnLst/>
              <a:rect l="l" t="t" r="r" b="b"/>
              <a:pathLst>
                <a:path w="11233531" h="2638171">
                  <a:moveTo>
                    <a:pt x="0" y="158242"/>
                  </a:moveTo>
                  <a:cubicBezTo>
                    <a:pt x="0" y="70866"/>
                    <a:pt x="70866" y="0"/>
                    <a:pt x="158242" y="0"/>
                  </a:cubicBezTo>
                  <a:lnTo>
                    <a:pt x="11075289" y="0"/>
                  </a:lnTo>
                  <a:cubicBezTo>
                    <a:pt x="11162665" y="0"/>
                    <a:pt x="11233531" y="70866"/>
                    <a:pt x="11233531" y="158242"/>
                  </a:cubicBezTo>
                  <a:lnTo>
                    <a:pt x="11233531" y="2479929"/>
                  </a:lnTo>
                  <a:cubicBezTo>
                    <a:pt x="11233531" y="2567305"/>
                    <a:pt x="11162665" y="2638171"/>
                    <a:pt x="11075289" y="2638171"/>
                  </a:cubicBezTo>
                  <a:lnTo>
                    <a:pt x="158242" y="2638171"/>
                  </a:lnTo>
                  <a:cubicBezTo>
                    <a:pt x="70866" y="2638171"/>
                    <a:pt x="0" y="2567305"/>
                    <a:pt x="0" y="2479929"/>
                  </a:cubicBezTo>
                  <a:close/>
                </a:path>
              </a:pathLst>
            </a:custGeom>
            <a:solidFill>
              <a:srgbClr val="ECE7F6"/>
            </a:solidFill>
            <a:ln w="12700" cap="sq">
              <a:solidFill>
                <a:srgbClr val="D7D0E6"/>
              </a:solidFill>
              <a:prstDash val="solid"/>
              <a:miter/>
            </a:ln>
          </p:spPr>
          <p:txBody>
            <a:bodyPr/>
            <a:lstStyle/>
            <a:p>
              <a:endParaRPr/>
            </a:p>
          </p:txBody>
        </p:sp>
        <p:sp>
          <p:nvSpPr>
            <p:cNvPr id="47" name="TextBox 47"/>
            <p:cNvSpPr txBox="1"/>
            <p:nvPr/>
          </p:nvSpPr>
          <p:spPr>
            <a:xfrm>
              <a:off x="0" y="-38100"/>
              <a:ext cx="11233569" cy="2676309"/>
            </a:xfrm>
            <a:prstGeom prst="rect">
              <a:avLst/>
            </a:prstGeom>
          </p:spPr>
          <p:txBody>
            <a:bodyPr lIns="50800" tIns="50800" rIns="50800" bIns="50800" rtlCol="0" anchor="t"/>
            <a:lstStyle/>
            <a:p>
              <a:pPr algn="l">
                <a:lnSpc>
                  <a:spcPts val="2040"/>
                </a:lnSpc>
              </a:pPr>
              <a:r>
                <a:rPr lang="en-US" sz="1700" b="1">
                  <a:solidFill>
                    <a:srgbClr val="4A5170"/>
                  </a:solidFill>
                  <a:latin typeface="Calibri (MS) Bold"/>
                  <a:ea typeface="Calibri (MS) Bold"/>
                  <a:cs typeface="Calibri (MS) Bold"/>
                  <a:sym typeface="Calibri (MS) Bold"/>
                </a:rPr>
                <a:t>CLIENT</a:t>
              </a:r>
            </a:p>
            <a:p>
              <a:pPr algn="l">
                <a:lnSpc>
                  <a:spcPts val="2459"/>
                </a:lnSpc>
              </a:pPr>
              <a:r>
                <a:rPr lang="en-US" sz="2049" b="1">
                  <a:solidFill>
                    <a:srgbClr val="172243"/>
                  </a:solidFill>
                  <a:latin typeface="Calibri (MS) Bold"/>
                  <a:ea typeface="Calibri (MS) Bold"/>
                  <a:cs typeface="Calibri (MS) Bold"/>
                  <a:sym typeface="Calibri (MS) Bold"/>
                </a:rPr>
                <a:t>Next.js + React + TypeScript + Tailwind + shadcn/ui</a:t>
              </a:r>
            </a:p>
            <a:p>
              <a:pPr marL="223203" lvl="1" indent="-111601" algn="l">
                <a:lnSpc>
                  <a:spcPts val="2220"/>
                </a:lnSpc>
                <a:buFont typeface="Arial"/>
                <a:buChar char="•"/>
              </a:pPr>
              <a:r>
                <a:rPr lang="en-US" sz="1850">
                  <a:solidFill>
                    <a:srgbClr val="1B2440"/>
                  </a:solidFill>
                  <a:latin typeface="Calibri (MS)"/>
                  <a:ea typeface="Calibri (MS)"/>
                  <a:cs typeface="Calibri (MS)"/>
                  <a:sym typeface="Calibri (MS)"/>
                </a:rPr>
                <a:t>Candidate, Recruiter and Provider portals</a:t>
              </a:r>
            </a:p>
            <a:p>
              <a:pPr marL="223203" lvl="1" indent="-111601" algn="l">
                <a:lnSpc>
                  <a:spcPts val="2220"/>
                </a:lnSpc>
                <a:buFont typeface="Arial"/>
                <a:buChar char="•"/>
              </a:pPr>
              <a:r>
                <a:rPr lang="en-US" sz="1850">
                  <a:solidFill>
                    <a:srgbClr val="1B2440"/>
                  </a:solidFill>
                  <a:latin typeface="Calibri (MS)"/>
                  <a:ea typeface="Calibri (MS)"/>
                  <a:cs typeface="Calibri (MS)"/>
                  <a:sym typeface="Calibri (MS)"/>
                </a:rPr>
                <a:t>Landing + auth, language selector (English + 22)</a:t>
              </a:r>
            </a:p>
            <a:p>
              <a:pPr marL="223203" lvl="1" indent="-111601" algn="l">
                <a:lnSpc>
                  <a:spcPts val="2220"/>
                </a:lnSpc>
                <a:buFont typeface="Arial"/>
                <a:buChar char="•"/>
              </a:pPr>
              <a:r>
                <a:rPr lang="en-US" sz="1850">
                  <a:solidFill>
                    <a:srgbClr val="1B2440"/>
                  </a:solidFill>
                  <a:latin typeface="Calibri (MS)"/>
                  <a:ea typeface="Calibri (MS)"/>
                  <a:cs typeface="Calibri (MS)"/>
                  <a:sym typeface="Calibri (MS)"/>
                </a:rPr>
                <a:t>Mic/camera capture, demo-mode labels</a:t>
              </a:r>
            </a:p>
            <a:p>
              <a:pPr marL="223203" lvl="1" indent="-111601" algn="l">
                <a:lnSpc>
                  <a:spcPts val="2220"/>
                </a:lnSpc>
                <a:buFont typeface="Arial"/>
                <a:buChar char="•"/>
              </a:pPr>
              <a:r>
                <a:rPr lang="en-US" sz="1850">
                  <a:solidFill>
                    <a:srgbClr val="1B2440"/>
                  </a:solidFill>
                  <a:latin typeface="Calibri (MS)"/>
                  <a:ea typeface="Calibri (MS)"/>
                  <a:cs typeface="Calibri (MS)"/>
                  <a:sym typeface="Calibri (MS)"/>
                </a:rPr>
                <a:t>Dashboard, opportunity entry, profile editing, match explanations</a:t>
              </a:r>
            </a:p>
          </p:txBody>
        </p:sp>
      </p:grpSp>
      <p:grpSp>
        <p:nvGrpSpPr>
          <p:cNvPr id="48" name="Group 48"/>
          <p:cNvGrpSpPr/>
          <p:nvPr/>
        </p:nvGrpSpPr>
        <p:grpSpPr>
          <a:xfrm>
            <a:off x="4507992" y="6245352"/>
            <a:ext cx="310896" cy="228600"/>
            <a:chOff x="0" y="0"/>
            <a:chExt cx="414528" cy="304800"/>
          </a:xfrm>
        </p:grpSpPr>
        <p:sp>
          <p:nvSpPr>
            <p:cNvPr id="49" name="Freeform 49"/>
            <p:cNvSpPr/>
            <p:nvPr/>
          </p:nvSpPr>
          <p:spPr>
            <a:xfrm>
              <a:off x="0" y="0"/>
              <a:ext cx="414528" cy="304800"/>
            </a:xfrm>
            <a:custGeom>
              <a:avLst/>
              <a:gdLst/>
              <a:ahLst/>
              <a:cxnLst/>
              <a:rect l="l" t="t" r="r" b="b"/>
              <a:pathLst>
                <a:path w="414528" h="304800">
                  <a:moveTo>
                    <a:pt x="0" y="152400"/>
                  </a:moveTo>
                  <a:lnTo>
                    <a:pt x="103632" y="152400"/>
                  </a:lnTo>
                  <a:lnTo>
                    <a:pt x="103632" y="0"/>
                  </a:lnTo>
                  <a:lnTo>
                    <a:pt x="310896" y="0"/>
                  </a:lnTo>
                  <a:lnTo>
                    <a:pt x="310896" y="152400"/>
                  </a:lnTo>
                  <a:lnTo>
                    <a:pt x="414528" y="152400"/>
                  </a:lnTo>
                  <a:lnTo>
                    <a:pt x="207264" y="304800"/>
                  </a:lnTo>
                  <a:close/>
                </a:path>
              </a:pathLst>
            </a:custGeom>
            <a:solidFill>
              <a:srgbClr val="E4695C"/>
            </a:solidFill>
          </p:spPr>
          <p:txBody>
            <a:bodyPr/>
            <a:lstStyle/>
            <a:p>
              <a:endParaRPr/>
            </a:p>
          </p:txBody>
        </p:sp>
      </p:grpSp>
      <p:grpSp>
        <p:nvGrpSpPr>
          <p:cNvPr id="50" name="Group 50"/>
          <p:cNvGrpSpPr/>
          <p:nvPr/>
        </p:nvGrpSpPr>
        <p:grpSpPr>
          <a:xfrm>
            <a:off x="450847" y="6513319"/>
            <a:ext cx="8425177" cy="1978657"/>
            <a:chOff x="0" y="0"/>
            <a:chExt cx="11233569" cy="2638209"/>
          </a:xfrm>
        </p:grpSpPr>
        <p:sp>
          <p:nvSpPr>
            <p:cNvPr id="51" name="Freeform 51"/>
            <p:cNvSpPr/>
            <p:nvPr/>
          </p:nvSpPr>
          <p:spPr>
            <a:xfrm>
              <a:off x="0" y="0"/>
              <a:ext cx="11233531" cy="2638171"/>
            </a:xfrm>
            <a:custGeom>
              <a:avLst/>
              <a:gdLst/>
              <a:ahLst/>
              <a:cxnLst/>
              <a:rect l="l" t="t" r="r" b="b"/>
              <a:pathLst>
                <a:path w="11233531" h="2638171">
                  <a:moveTo>
                    <a:pt x="0" y="158242"/>
                  </a:moveTo>
                  <a:cubicBezTo>
                    <a:pt x="0" y="70866"/>
                    <a:pt x="70866" y="0"/>
                    <a:pt x="158242" y="0"/>
                  </a:cubicBezTo>
                  <a:lnTo>
                    <a:pt x="11075289" y="0"/>
                  </a:lnTo>
                  <a:cubicBezTo>
                    <a:pt x="11162665" y="0"/>
                    <a:pt x="11233531" y="70866"/>
                    <a:pt x="11233531" y="158242"/>
                  </a:cubicBezTo>
                  <a:lnTo>
                    <a:pt x="11233531" y="2479929"/>
                  </a:lnTo>
                  <a:cubicBezTo>
                    <a:pt x="11233531" y="2567305"/>
                    <a:pt x="11162665" y="2638171"/>
                    <a:pt x="11075289" y="2638171"/>
                  </a:cubicBezTo>
                  <a:lnTo>
                    <a:pt x="158242" y="2638171"/>
                  </a:lnTo>
                  <a:cubicBezTo>
                    <a:pt x="70866" y="2638171"/>
                    <a:pt x="0" y="2567305"/>
                    <a:pt x="0" y="2479929"/>
                  </a:cubicBezTo>
                  <a:close/>
                </a:path>
              </a:pathLst>
            </a:custGeom>
            <a:solidFill>
              <a:srgbClr val="ECE7F6"/>
            </a:solidFill>
            <a:ln w="12700" cap="sq">
              <a:solidFill>
                <a:srgbClr val="D7D0E6"/>
              </a:solidFill>
              <a:prstDash val="solid"/>
              <a:miter/>
            </a:ln>
          </p:spPr>
          <p:txBody>
            <a:bodyPr/>
            <a:lstStyle/>
            <a:p>
              <a:endParaRPr/>
            </a:p>
          </p:txBody>
        </p:sp>
        <p:sp>
          <p:nvSpPr>
            <p:cNvPr id="52" name="TextBox 52"/>
            <p:cNvSpPr txBox="1"/>
            <p:nvPr/>
          </p:nvSpPr>
          <p:spPr>
            <a:xfrm>
              <a:off x="0" y="-38100"/>
              <a:ext cx="11233569" cy="2676309"/>
            </a:xfrm>
            <a:prstGeom prst="rect">
              <a:avLst/>
            </a:prstGeom>
          </p:spPr>
          <p:txBody>
            <a:bodyPr lIns="50800" tIns="50800" rIns="50800" bIns="50800" rtlCol="0" anchor="t"/>
            <a:lstStyle/>
            <a:p>
              <a:pPr algn="l">
                <a:lnSpc>
                  <a:spcPts val="2459"/>
                </a:lnSpc>
              </a:pPr>
              <a:r>
                <a:rPr lang="en-US" sz="2049" b="1">
                  <a:solidFill>
                    <a:srgbClr val="172243"/>
                  </a:solidFill>
                  <a:latin typeface="Calibri (MS) Bold"/>
                  <a:ea typeface="Calibri (MS) Bold"/>
                  <a:cs typeface="Calibri (MS) Bold"/>
                  <a:sym typeface="Calibri (MS) Bold"/>
                </a:rPr>
                <a:t>BACKEND API: Node.js + Express</a:t>
              </a:r>
            </a:p>
            <a:p>
              <a:pPr algn="l">
                <a:lnSpc>
                  <a:spcPts val="2040"/>
                </a:lnSpc>
              </a:pPr>
              <a:r>
                <a:rPr lang="en-US" sz="1700" i="1">
                  <a:solidFill>
                    <a:srgbClr val="4A5170"/>
                  </a:solidFill>
                  <a:latin typeface="Calibri (MS) Italics"/>
                  <a:ea typeface="Calibri (MS) Italics"/>
                  <a:cs typeface="Calibri (MS) Italics"/>
                  <a:sym typeface="Calibri (MS) Italics"/>
                </a:rPr>
                <a:t>secrets and AI calls stay server-side</a:t>
              </a:r>
            </a:p>
            <a:p>
              <a:pPr algn="l">
                <a:lnSpc>
                  <a:spcPts val="2220"/>
                </a:lnSpc>
              </a:pPr>
              <a:r>
                <a:rPr lang="en-US" sz="1850" b="1">
                  <a:solidFill>
                    <a:srgbClr val="1B2440"/>
                  </a:solidFill>
                  <a:latin typeface="Calibri (MS) Bold"/>
                  <a:ea typeface="Calibri (MS) Bold"/>
                  <a:cs typeface="Calibri (MS) Bold"/>
                  <a:sym typeface="Calibri (MS) Bold"/>
                </a:rPr>
                <a:t>Security: </a:t>
              </a:r>
              <a:r>
                <a:rPr lang="en-US" sz="1850">
                  <a:solidFill>
                    <a:srgbClr val="1B2440"/>
                  </a:solidFill>
                  <a:latin typeface="Calibri (MS)"/>
                  <a:ea typeface="Calibri (MS)"/>
                  <a:cs typeface="Calibri (MS)"/>
                  <a:sym typeface="Calibri (MS)"/>
                </a:rPr>
                <a:t>JWT auth + roles, validation, rate limiting</a:t>
              </a:r>
            </a:p>
            <a:p>
              <a:pPr algn="l">
                <a:lnSpc>
                  <a:spcPts val="2220"/>
                </a:lnSpc>
              </a:pPr>
              <a:r>
                <a:rPr lang="en-US" sz="1850" b="1">
                  <a:solidFill>
                    <a:srgbClr val="1B2440"/>
                  </a:solidFill>
                  <a:latin typeface="Calibri (MS) Bold"/>
                  <a:ea typeface="Calibri (MS) Bold"/>
                  <a:cs typeface="Calibri (MS) Bold"/>
                  <a:sym typeface="Calibri (MS) Bold"/>
                </a:rPr>
                <a:t>Safety: </a:t>
              </a:r>
              <a:r>
                <a:rPr lang="en-US" sz="1850">
                  <a:solidFill>
                    <a:srgbClr val="1B2440"/>
                  </a:solidFill>
                  <a:latin typeface="Calibri (MS)"/>
                  <a:ea typeface="Calibri (MS)"/>
                  <a:cs typeface="Calibri (MS)"/>
                  <a:sym typeface="Calibri (MS)"/>
                </a:rPr>
                <a:t>upload checks, audit logging, rate-limited AI endpoints</a:t>
              </a:r>
            </a:p>
            <a:p>
              <a:pPr algn="l">
                <a:lnSpc>
                  <a:spcPts val="2220"/>
                </a:lnSpc>
              </a:pPr>
              <a:r>
                <a:rPr lang="en-US" sz="1850" b="1">
                  <a:solidFill>
                    <a:srgbClr val="1B2440"/>
                  </a:solidFill>
                  <a:latin typeface="Calibri (MS) Bold"/>
                  <a:ea typeface="Calibri (MS) Bold"/>
                  <a:cs typeface="Calibri (MS) Bold"/>
                  <a:sym typeface="Calibri (MS) Bold"/>
                </a:rPr>
                <a:t>Ranking: </a:t>
              </a:r>
              <a:r>
                <a:rPr lang="en-US" sz="1850">
                  <a:solidFill>
                    <a:srgbClr val="1B2440"/>
                  </a:solidFill>
                  <a:latin typeface="Calibri (MS)"/>
                  <a:ea typeface="Calibri (MS)"/>
                  <a:cs typeface="Calibri (MS)"/>
                  <a:sym typeface="Calibri (MS)"/>
                </a:rPr>
                <a:t>eligible candidates only</a:t>
              </a:r>
            </a:p>
            <a:p>
              <a:pPr algn="l">
                <a:lnSpc>
                  <a:spcPts val="2220"/>
                </a:lnSpc>
              </a:pPr>
              <a:r>
                <a:rPr lang="en-US" sz="1850" b="1">
                  <a:solidFill>
                    <a:srgbClr val="1B2440"/>
                  </a:solidFill>
                  <a:latin typeface="Calibri (MS) Bold"/>
                  <a:ea typeface="Calibri (MS) Bold"/>
                  <a:cs typeface="Calibri (MS) Bold"/>
                  <a:sym typeface="Calibri (MS) Bold"/>
                </a:rPr>
                <a:t>Orchestration: </a:t>
              </a:r>
              <a:r>
                <a:rPr lang="en-US" sz="1850">
                  <a:solidFill>
                    <a:srgbClr val="1B2440"/>
                  </a:solidFill>
                  <a:latin typeface="Calibri (MS)"/>
                  <a:ea typeface="Calibri (MS)"/>
                  <a:cs typeface="Calibri (MS)"/>
                  <a:sym typeface="Calibri (MS)"/>
                </a:rPr>
                <a:t>matching runs again whenever profile data changes</a:t>
              </a:r>
            </a:p>
          </p:txBody>
        </p:sp>
      </p:grpSp>
      <p:grpSp>
        <p:nvGrpSpPr>
          <p:cNvPr id="53" name="Group 53"/>
          <p:cNvGrpSpPr/>
          <p:nvPr/>
        </p:nvGrpSpPr>
        <p:grpSpPr>
          <a:xfrm>
            <a:off x="4507992" y="8503920"/>
            <a:ext cx="310896" cy="228600"/>
            <a:chOff x="0" y="0"/>
            <a:chExt cx="414528" cy="304800"/>
          </a:xfrm>
        </p:grpSpPr>
        <p:sp>
          <p:nvSpPr>
            <p:cNvPr id="54" name="Freeform 54"/>
            <p:cNvSpPr/>
            <p:nvPr/>
          </p:nvSpPr>
          <p:spPr>
            <a:xfrm>
              <a:off x="0" y="0"/>
              <a:ext cx="414528" cy="304800"/>
            </a:xfrm>
            <a:custGeom>
              <a:avLst/>
              <a:gdLst/>
              <a:ahLst/>
              <a:cxnLst/>
              <a:rect l="l" t="t" r="r" b="b"/>
              <a:pathLst>
                <a:path w="414528" h="304800">
                  <a:moveTo>
                    <a:pt x="0" y="152400"/>
                  </a:moveTo>
                  <a:lnTo>
                    <a:pt x="103632" y="152400"/>
                  </a:lnTo>
                  <a:lnTo>
                    <a:pt x="103632" y="0"/>
                  </a:lnTo>
                  <a:lnTo>
                    <a:pt x="310896" y="0"/>
                  </a:lnTo>
                  <a:lnTo>
                    <a:pt x="310896" y="152400"/>
                  </a:lnTo>
                  <a:lnTo>
                    <a:pt x="414528" y="152400"/>
                  </a:lnTo>
                  <a:lnTo>
                    <a:pt x="207264" y="304800"/>
                  </a:lnTo>
                  <a:close/>
                </a:path>
              </a:pathLst>
            </a:custGeom>
            <a:solidFill>
              <a:srgbClr val="E4695C"/>
            </a:solidFill>
          </p:spPr>
          <p:txBody>
            <a:bodyPr/>
            <a:lstStyle/>
            <a:p>
              <a:endParaRPr/>
            </a:p>
          </p:txBody>
        </p:sp>
      </p:grpSp>
      <p:grpSp>
        <p:nvGrpSpPr>
          <p:cNvPr id="55" name="Group 55"/>
          <p:cNvGrpSpPr/>
          <p:nvPr/>
        </p:nvGrpSpPr>
        <p:grpSpPr>
          <a:xfrm>
            <a:off x="450847" y="8771887"/>
            <a:ext cx="8425177" cy="1247137"/>
            <a:chOff x="0" y="0"/>
            <a:chExt cx="11233569" cy="1662849"/>
          </a:xfrm>
        </p:grpSpPr>
        <p:sp>
          <p:nvSpPr>
            <p:cNvPr id="56" name="Freeform 56"/>
            <p:cNvSpPr/>
            <p:nvPr/>
          </p:nvSpPr>
          <p:spPr>
            <a:xfrm>
              <a:off x="0" y="0"/>
              <a:ext cx="11233658" cy="1662938"/>
            </a:xfrm>
            <a:custGeom>
              <a:avLst/>
              <a:gdLst/>
              <a:ahLst/>
              <a:cxnLst/>
              <a:rect l="l" t="t" r="r" b="b"/>
              <a:pathLst>
                <a:path w="11233658" h="1662938">
                  <a:moveTo>
                    <a:pt x="0" y="99822"/>
                  </a:moveTo>
                  <a:cubicBezTo>
                    <a:pt x="0" y="44704"/>
                    <a:pt x="44704" y="0"/>
                    <a:pt x="99822" y="0"/>
                  </a:cubicBezTo>
                  <a:lnTo>
                    <a:pt x="11133836" y="0"/>
                  </a:lnTo>
                  <a:cubicBezTo>
                    <a:pt x="11188954" y="0"/>
                    <a:pt x="11233658" y="44704"/>
                    <a:pt x="11233658" y="99822"/>
                  </a:cubicBezTo>
                  <a:lnTo>
                    <a:pt x="11233658" y="1563116"/>
                  </a:lnTo>
                  <a:cubicBezTo>
                    <a:pt x="11233658" y="1618234"/>
                    <a:pt x="11188954" y="1662938"/>
                    <a:pt x="11133836" y="1662938"/>
                  </a:cubicBezTo>
                  <a:lnTo>
                    <a:pt x="99822" y="1662938"/>
                  </a:lnTo>
                  <a:cubicBezTo>
                    <a:pt x="44704" y="1662938"/>
                    <a:pt x="0" y="1618234"/>
                    <a:pt x="0" y="1563116"/>
                  </a:cubicBezTo>
                  <a:close/>
                </a:path>
              </a:pathLst>
            </a:custGeom>
            <a:solidFill>
              <a:srgbClr val="ECE7F6"/>
            </a:solidFill>
            <a:ln w="12700" cap="sq">
              <a:solidFill>
                <a:srgbClr val="D7D0E6"/>
              </a:solidFill>
              <a:prstDash val="solid"/>
              <a:miter/>
            </a:ln>
          </p:spPr>
          <p:txBody>
            <a:bodyPr/>
            <a:lstStyle/>
            <a:p>
              <a:endParaRPr/>
            </a:p>
          </p:txBody>
        </p:sp>
        <p:sp>
          <p:nvSpPr>
            <p:cNvPr id="57" name="TextBox 57"/>
            <p:cNvSpPr txBox="1"/>
            <p:nvPr/>
          </p:nvSpPr>
          <p:spPr>
            <a:xfrm>
              <a:off x="0" y="-38100"/>
              <a:ext cx="11233569" cy="1700949"/>
            </a:xfrm>
            <a:prstGeom prst="rect">
              <a:avLst/>
            </a:prstGeom>
          </p:spPr>
          <p:txBody>
            <a:bodyPr lIns="50800" tIns="50800" rIns="50800" bIns="50800" rtlCol="0" anchor="t"/>
            <a:lstStyle/>
            <a:p>
              <a:pPr algn="l">
                <a:lnSpc>
                  <a:spcPts val="2459"/>
                </a:lnSpc>
              </a:pPr>
              <a:r>
                <a:rPr lang="en-US" sz="2049" b="1">
                  <a:solidFill>
                    <a:srgbClr val="172243"/>
                  </a:solidFill>
                  <a:latin typeface="Calibri (MS) Bold"/>
                  <a:ea typeface="Calibri (MS) Bold"/>
                  <a:cs typeface="Calibri (MS) Bold"/>
                  <a:sym typeface="Calibri (MS) Bold"/>
                </a:rPr>
                <a:t>DATA: MongoDB + controlled file storage</a:t>
              </a:r>
            </a:p>
            <a:p>
              <a:pPr algn="l">
                <a:lnSpc>
                  <a:spcPts val="2099"/>
                </a:lnSpc>
              </a:pPr>
              <a:r>
                <a:rPr lang="en-US" sz="1749">
                  <a:solidFill>
                    <a:srgbClr val="1B2440"/>
                  </a:solidFill>
                  <a:latin typeface="Calibri (MS)"/>
                  <a:ea typeface="Calibri (MS)"/>
                  <a:cs typeface="Calibri (MS)"/>
                  <a:sym typeface="Calibri (MS)"/>
                </a:rPr>
                <a:t>users, candidates, opportunities + versioned criteria, skills + aliases, applications, resources, match results, resume versions, interview sessions, audit log</a:t>
              </a:r>
            </a:p>
          </p:txBody>
        </p:sp>
      </p:grpSp>
      <p:grpSp>
        <p:nvGrpSpPr>
          <p:cNvPr id="58" name="Group 58"/>
          <p:cNvGrpSpPr/>
          <p:nvPr/>
        </p:nvGrpSpPr>
        <p:grpSpPr>
          <a:xfrm>
            <a:off x="9418320" y="2606040"/>
            <a:ext cx="8412480" cy="566928"/>
            <a:chOff x="0" y="0"/>
            <a:chExt cx="11216640" cy="755904"/>
          </a:xfrm>
        </p:grpSpPr>
        <p:sp>
          <p:nvSpPr>
            <p:cNvPr id="59" name="Freeform 59"/>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txBody>
            <a:bodyPr/>
            <a:lstStyle/>
            <a:p>
              <a:endParaRPr/>
            </a:p>
          </p:txBody>
        </p:sp>
        <p:sp>
          <p:nvSpPr>
            <p:cNvPr id="60" name="TextBox 60"/>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MATCHING CORE, AI AND STACK</a:t>
              </a:r>
            </a:p>
          </p:txBody>
        </p:sp>
      </p:grpSp>
      <p:grpSp>
        <p:nvGrpSpPr>
          <p:cNvPr id="61" name="Group 61"/>
          <p:cNvGrpSpPr/>
          <p:nvPr/>
        </p:nvGrpSpPr>
        <p:grpSpPr>
          <a:xfrm>
            <a:off x="9418320" y="3310128"/>
            <a:ext cx="8412480" cy="2057400"/>
            <a:chOff x="0" y="0"/>
            <a:chExt cx="11216640" cy="2743200"/>
          </a:xfrm>
        </p:grpSpPr>
        <p:sp>
          <p:nvSpPr>
            <p:cNvPr id="62" name="Freeform 62"/>
            <p:cNvSpPr/>
            <p:nvPr/>
          </p:nvSpPr>
          <p:spPr>
            <a:xfrm>
              <a:off x="0" y="0"/>
              <a:ext cx="11216640" cy="2743200"/>
            </a:xfrm>
            <a:custGeom>
              <a:avLst/>
              <a:gdLst/>
              <a:ahLst/>
              <a:cxnLst/>
              <a:rect l="l" t="t" r="r" b="b"/>
              <a:pathLst>
                <a:path w="11216640" h="2743200">
                  <a:moveTo>
                    <a:pt x="0" y="164592"/>
                  </a:moveTo>
                  <a:cubicBezTo>
                    <a:pt x="0" y="73660"/>
                    <a:pt x="73660" y="0"/>
                    <a:pt x="164592" y="0"/>
                  </a:cubicBezTo>
                  <a:lnTo>
                    <a:pt x="11052048" y="0"/>
                  </a:lnTo>
                  <a:cubicBezTo>
                    <a:pt x="11142980" y="0"/>
                    <a:pt x="11216640" y="73660"/>
                    <a:pt x="11216640" y="164592"/>
                  </a:cubicBezTo>
                  <a:lnTo>
                    <a:pt x="11216640" y="2578608"/>
                  </a:lnTo>
                  <a:cubicBezTo>
                    <a:pt x="11216640" y="2669540"/>
                    <a:pt x="11142980" y="2743200"/>
                    <a:pt x="11052048" y="2743200"/>
                  </a:cubicBezTo>
                  <a:lnTo>
                    <a:pt x="164592" y="2743200"/>
                  </a:lnTo>
                  <a:cubicBezTo>
                    <a:pt x="73660" y="2743200"/>
                    <a:pt x="0" y="2669540"/>
                    <a:pt x="0" y="2578608"/>
                  </a:cubicBezTo>
                  <a:close/>
                </a:path>
              </a:pathLst>
            </a:custGeom>
            <a:solidFill>
              <a:srgbClr val="172243"/>
            </a:solidFill>
          </p:spPr>
          <p:txBody>
            <a:bodyPr/>
            <a:lstStyle/>
            <a:p>
              <a:endParaRPr/>
            </a:p>
          </p:txBody>
        </p:sp>
        <p:sp>
          <p:nvSpPr>
            <p:cNvPr id="63" name="TextBox 63"/>
            <p:cNvSpPr txBox="1"/>
            <p:nvPr/>
          </p:nvSpPr>
          <p:spPr>
            <a:xfrm>
              <a:off x="0" y="-38100"/>
              <a:ext cx="11216640" cy="2781300"/>
            </a:xfrm>
            <a:prstGeom prst="rect">
              <a:avLst/>
            </a:prstGeom>
          </p:spPr>
          <p:txBody>
            <a:bodyPr lIns="50800" tIns="50800" rIns="50800" bIns="50800" rtlCol="0" anchor="t"/>
            <a:lstStyle/>
            <a:p>
              <a:pPr algn="l">
                <a:lnSpc>
                  <a:spcPts val="2459"/>
                </a:lnSpc>
              </a:pPr>
              <a:r>
                <a:rPr lang="en-US" sz="2049" b="1">
                  <a:solidFill>
                    <a:srgbClr val="FFFFFF"/>
                  </a:solidFill>
                  <a:latin typeface="Calibri (MS) Bold"/>
                  <a:ea typeface="Calibri (MS) Bold"/>
                  <a:cs typeface="Calibri (MS) Bold"/>
                  <a:sym typeface="Calibri (MS) Bold"/>
                </a:rPr>
                <a:t>DETERMINISTIC MATCHING CORE (rule-based)</a:t>
              </a:r>
            </a:p>
            <a:p>
              <a:pPr algn="l">
                <a:lnSpc>
                  <a:spcPts val="2459"/>
                </a:lnSpc>
              </a:pPr>
              <a:r>
                <a:rPr lang="en-US" sz="2049" b="1">
                  <a:solidFill>
                    <a:srgbClr val="FFD27A"/>
                  </a:solidFill>
                  <a:latin typeface="Calibri (MS) Bold"/>
                  <a:ea typeface="Calibri (MS) Bold"/>
                  <a:cs typeface="Calibri (MS) Bold"/>
                  <a:sym typeface="Calibri (MS) Bold"/>
                </a:rPr>
                <a:t>Stage 1 Eligibility engine: </a:t>
              </a:r>
              <a:r>
                <a:rPr lang="en-US" sz="2049">
                  <a:solidFill>
                    <a:srgbClr val="FFFFFF"/>
                  </a:solidFill>
                  <a:latin typeface="Calibri (MS)"/>
                  <a:ea typeface="Calibri (MS)"/>
                  <a:cs typeface="Calibri (MS)"/>
                  <a:sym typeface="Calibri (MS)"/>
                </a:rPr>
                <a:t>Eligible, Ineligible or Needs more information, with a reason per criterion</a:t>
              </a:r>
            </a:p>
            <a:p>
              <a:pPr algn="l">
                <a:lnSpc>
                  <a:spcPts val="2459"/>
                </a:lnSpc>
              </a:pPr>
              <a:r>
                <a:rPr lang="en-US" sz="2049" b="1">
                  <a:solidFill>
                    <a:srgbClr val="FFD27A"/>
                  </a:solidFill>
                  <a:latin typeface="Calibri (MS) Bold"/>
                  <a:ea typeface="Calibri (MS) Bold"/>
                  <a:cs typeface="Calibri (MS) Bold"/>
                  <a:sym typeface="Calibri (MS) Bold"/>
                </a:rPr>
                <a:t>Stage 2 Ranking: </a:t>
              </a:r>
              <a:r>
                <a:rPr lang="en-US" sz="2049">
                  <a:solidFill>
                    <a:srgbClr val="FFFFFF"/>
                  </a:solidFill>
                  <a:latin typeface="Calibri (MS)"/>
                  <a:ea typeface="Calibri (MS)"/>
                  <a:cs typeface="Calibri (MS)"/>
                  <a:sym typeface="Calibri (MS)"/>
                </a:rPr>
                <a:t>eligible only</a:t>
              </a:r>
            </a:p>
            <a:p>
              <a:pPr algn="l">
                <a:lnSpc>
                  <a:spcPts val="2459"/>
                </a:lnSpc>
              </a:pPr>
              <a:r>
                <a:rPr lang="en-US" sz="2049" b="1">
                  <a:solidFill>
                    <a:srgbClr val="FFD27A"/>
                  </a:solidFill>
                  <a:latin typeface="Calibri (MS) Bold"/>
                  <a:ea typeface="Calibri (MS) Bold"/>
                  <a:cs typeface="Calibri (MS) Bold"/>
                  <a:sym typeface="Calibri (MS) Bold"/>
                </a:rPr>
                <a:t>Also: </a:t>
              </a:r>
              <a:r>
                <a:rPr lang="en-US" sz="2049">
                  <a:solidFill>
                    <a:srgbClr val="FFFFFF"/>
                  </a:solidFill>
                  <a:latin typeface="Calibri (MS)"/>
                  <a:ea typeface="Calibri (MS)"/>
                  <a:cs typeface="Calibri (MS)"/>
                  <a:sym typeface="Calibri (MS)"/>
                </a:rPr>
                <a:t>explanation builder, skill-gap engine, learning-path mapper</a:t>
              </a:r>
            </a:p>
          </p:txBody>
        </p:sp>
      </p:grpSp>
      <p:grpSp>
        <p:nvGrpSpPr>
          <p:cNvPr id="64" name="Group 64"/>
          <p:cNvGrpSpPr/>
          <p:nvPr/>
        </p:nvGrpSpPr>
        <p:grpSpPr>
          <a:xfrm>
            <a:off x="9418320" y="5504688"/>
            <a:ext cx="4114800" cy="2514600"/>
            <a:chOff x="0" y="0"/>
            <a:chExt cx="5486400" cy="3352800"/>
          </a:xfrm>
        </p:grpSpPr>
        <p:sp>
          <p:nvSpPr>
            <p:cNvPr id="65" name="Freeform 65"/>
            <p:cNvSpPr/>
            <p:nvPr/>
          </p:nvSpPr>
          <p:spPr>
            <a:xfrm>
              <a:off x="0" y="0"/>
              <a:ext cx="5486400" cy="3352800"/>
            </a:xfrm>
            <a:custGeom>
              <a:avLst/>
              <a:gdLst/>
              <a:ahLst/>
              <a:cxnLst/>
              <a:rect l="l" t="t" r="r" b="b"/>
              <a:pathLst>
                <a:path w="5486400" h="3352800">
                  <a:moveTo>
                    <a:pt x="0" y="201168"/>
                  </a:moveTo>
                  <a:cubicBezTo>
                    <a:pt x="0" y="90043"/>
                    <a:pt x="90043" y="0"/>
                    <a:pt x="201168" y="0"/>
                  </a:cubicBezTo>
                  <a:lnTo>
                    <a:pt x="5285232" y="0"/>
                  </a:lnTo>
                  <a:cubicBezTo>
                    <a:pt x="5396357" y="0"/>
                    <a:pt x="5486400" y="90043"/>
                    <a:pt x="5486400" y="201168"/>
                  </a:cubicBezTo>
                  <a:lnTo>
                    <a:pt x="5486400" y="3151632"/>
                  </a:lnTo>
                  <a:cubicBezTo>
                    <a:pt x="5486400" y="3262757"/>
                    <a:pt x="5396357" y="3352800"/>
                    <a:pt x="5285232" y="3352800"/>
                  </a:cubicBezTo>
                  <a:lnTo>
                    <a:pt x="201168" y="3352800"/>
                  </a:lnTo>
                  <a:cubicBezTo>
                    <a:pt x="90043" y="3352800"/>
                    <a:pt x="0" y="3262757"/>
                    <a:pt x="0" y="3151632"/>
                  </a:cubicBezTo>
                  <a:close/>
                </a:path>
              </a:pathLst>
            </a:custGeom>
            <a:solidFill>
              <a:srgbClr val="FBEFC9"/>
            </a:solidFill>
          </p:spPr>
          <p:txBody>
            <a:bodyPr/>
            <a:lstStyle/>
            <a:p>
              <a:endParaRPr/>
            </a:p>
          </p:txBody>
        </p:sp>
        <p:sp>
          <p:nvSpPr>
            <p:cNvPr id="66" name="TextBox 66"/>
            <p:cNvSpPr txBox="1"/>
            <p:nvPr/>
          </p:nvSpPr>
          <p:spPr>
            <a:xfrm>
              <a:off x="0" y="-38100"/>
              <a:ext cx="5486400" cy="3390900"/>
            </a:xfrm>
            <a:prstGeom prst="rect">
              <a:avLst/>
            </a:prstGeom>
          </p:spPr>
          <p:txBody>
            <a:bodyPr lIns="50800" tIns="50800" rIns="50800" bIns="50800" rtlCol="0" anchor="t"/>
            <a:lstStyle/>
            <a:p>
              <a:pPr algn="l">
                <a:lnSpc>
                  <a:spcPts val="2400"/>
                </a:lnSpc>
              </a:pPr>
              <a:r>
                <a:rPr lang="en-US" sz="2000" b="1">
                  <a:solidFill>
                    <a:srgbClr val="6B4A00"/>
                  </a:solidFill>
                  <a:latin typeface="Calibri (MS) Bold"/>
                  <a:ea typeface="Calibri (MS) Bold"/>
                  <a:cs typeface="Calibri (MS) Bold"/>
                  <a:sym typeface="Calibri (MS) Bold"/>
                </a:rPr>
                <a:t>AI + LANGUAGE (advisory)</a:t>
              </a:r>
            </a:p>
            <a:p>
              <a:pPr algn="l">
                <a:lnSpc>
                  <a:spcPts val="2279"/>
                </a:lnSpc>
              </a:pPr>
              <a:r>
                <a:rPr lang="en-US" sz="1899" b="1">
                  <a:solidFill>
                    <a:srgbClr val="1B2440"/>
                  </a:solidFill>
                  <a:latin typeface="Calibri (MS) Bold"/>
                  <a:ea typeface="Calibri (MS) Bold"/>
                  <a:cs typeface="Calibri (MS) Bold"/>
                  <a:sym typeface="Calibri (MS) Bold"/>
                </a:rPr>
                <a:t>Gemini: </a:t>
              </a:r>
              <a:r>
                <a:rPr lang="en-US" sz="1899">
                  <a:solidFill>
                    <a:srgbClr val="1B2440"/>
                  </a:solidFill>
                  <a:latin typeface="Calibri (MS)"/>
                  <a:ea typeface="Calibri (MS)"/>
                  <a:cs typeface="Calibri (MS)"/>
                  <a:sym typeface="Calibri (MS)"/>
                </a:rPr>
                <a:t>Career Assistant, skill extraction + similarity</a:t>
              </a:r>
            </a:p>
            <a:p>
              <a:pPr algn="l">
                <a:lnSpc>
                  <a:spcPts val="2279"/>
                </a:lnSpc>
              </a:pPr>
              <a:r>
                <a:rPr lang="en-US" sz="1899" b="1">
                  <a:solidFill>
                    <a:srgbClr val="1B2440"/>
                  </a:solidFill>
                  <a:latin typeface="Calibri (MS) Bold"/>
                  <a:ea typeface="Calibri (MS) Bold"/>
                  <a:cs typeface="Calibri (MS) Bold"/>
                  <a:sym typeface="Calibri (MS) Bold"/>
                </a:rPr>
                <a:t>Groq: </a:t>
              </a:r>
              <a:r>
                <a:rPr lang="en-US" sz="1899">
                  <a:solidFill>
                    <a:srgbClr val="1B2440"/>
                  </a:solidFill>
                  <a:latin typeface="Calibri (MS)"/>
                  <a:ea typeface="Calibri (MS)"/>
                  <a:cs typeface="Calibri (MS)"/>
                  <a:sym typeface="Calibri (MS)"/>
                </a:rPr>
                <a:t>AI Tutor lessons in English, Hindi, Marathi</a:t>
              </a:r>
            </a:p>
            <a:p>
              <a:pPr algn="l">
                <a:lnSpc>
                  <a:spcPts val="2279"/>
                </a:lnSpc>
              </a:pPr>
              <a:r>
                <a:rPr lang="en-US" sz="1899" b="1">
                  <a:solidFill>
                    <a:srgbClr val="1B2440"/>
                  </a:solidFill>
                  <a:latin typeface="Calibri (MS) Bold"/>
                  <a:ea typeface="Calibri (MS) Bold"/>
                  <a:cs typeface="Calibri (MS) Bold"/>
                  <a:sym typeface="Calibri (MS) Bold"/>
                </a:rPr>
                <a:t>Browser speech: </a:t>
              </a:r>
              <a:r>
                <a:rPr lang="en-US" sz="1899">
                  <a:solidFill>
                    <a:srgbClr val="1B2440"/>
                  </a:solidFill>
                  <a:latin typeface="Calibri (MS)"/>
                  <a:ea typeface="Calibri (MS)"/>
                  <a:cs typeface="Calibri (MS)"/>
                  <a:sym typeface="Calibri (MS)"/>
                </a:rPr>
                <a:t>tutor voice via speechSynthesis, no extra key</a:t>
              </a:r>
            </a:p>
          </p:txBody>
        </p:sp>
      </p:grpSp>
      <p:grpSp>
        <p:nvGrpSpPr>
          <p:cNvPr id="67" name="Group 67"/>
          <p:cNvGrpSpPr/>
          <p:nvPr/>
        </p:nvGrpSpPr>
        <p:grpSpPr>
          <a:xfrm>
            <a:off x="13709647" y="5498335"/>
            <a:ext cx="4127497" cy="2527297"/>
            <a:chOff x="0" y="0"/>
            <a:chExt cx="5503329" cy="3369729"/>
          </a:xfrm>
        </p:grpSpPr>
        <p:sp>
          <p:nvSpPr>
            <p:cNvPr id="68" name="Freeform 68"/>
            <p:cNvSpPr/>
            <p:nvPr/>
          </p:nvSpPr>
          <p:spPr>
            <a:xfrm>
              <a:off x="0" y="0"/>
              <a:ext cx="5503291" cy="3369691"/>
            </a:xfrm>
            <a:custGeom>
              <a:avLst/>
              <a:gdLst/>
              <a:ahLst/>
              <a:cxnLst/>
              <a:rect l="l" t="t" r="r" b="b"/>
              <a:pathLst>
                <a:path w="5503291" h="3369691">
                  <a:moveTo>
                    <a:pt x="0" y="202184"/>
                  </a:moveTo>
                  <a:cubicBezTo>
                    <a:pt x="0" y="90551"/>
                    <a:pt x="90551" y="0"/>
                    <a:pt x="202184" y="0"/>
                  </a:cubicBezTo>
                  <a:lnTo>
                    <a:pt x="5301107" y="0"/>
                  </a:lnTo>
                  <a:cubicBezTo>
                    <a:pt x="5412740" y="0"/>
                    <a:pt x="5503291" y="90551"/>
                    <a:pt x="5503291" y="202184"/>
                  </a:cubicBezTo>
                  <a:lnTo>
                    <a:pt x="5503291" y="3167507"/>
                  </a:lnTo>
                  <a:cubicBezTo>
                    <a:pt x="5503291" y="3279140"/>
                    <a:pt x="5412740" y="3369691"/>
                    <a:pt x="5301107" y="3369691"/>
                  </a:cubicBezTo>
                  <a:lnTo>
                    <a:pt x="202184" y="3369691"/>
                  </a:lnTo>
                  <a:cubicBezTo>
                    <a:pt x="90551" y="3369691"/>
                    <a:pt x="0" y="3279267"/>
                    <a:pt x="0" y="3167507"/>
                  </a:cubicBezTo>
                  <a:close/>
                </a:path>
              </a:pathLst>
            </a:custGeom>
            <a:solidFill>
              <a:srgbClr val="FFFFFF"/>
            </a:solidFill>
            <a:ln w="12700" cap="sq">
              <a:solidFill>
                <a:srgbClr val="D7D0E6"/>
              </a:solidFill>
              <a:prstDash val="solid"/>
              <a:miter/>
            </a:ln>
          </p:spPr>
          <p:txBody>
            <a:bodyPr/>
            <a:lstStyle/>
            <a:p>
              <a:endParaRPr/>
            </a:p>
          </p:txBody>
        </p:sp>
        <p:sp>
          <p:nvSpPr>
            <p:cNvPr id="69" name="TextBox 69"/>
            <p:cNvSpPr txBox="1"/>
            <p:nvPr/>
          </p:nvSpPr>
          <p:spPr>
            <a:xfrm>
              <a:off x="0" y="-38100"/>
              <a:ext cx="5503329" cy="3407829"/>
            </a:xfrm>
            <a:prstGeom prst="rect">
              <a:avLst/>
            </a:prstGeom>
          </p:spPr>
          <p:txBody>
            <a:bodyPr lIns="50800" tIns="50800" rIns="50800" bIns="50800" rtlCol="0" anchor="t"/>
            <a:lstStyle/>
            <a:p>
              <a:pPr algn="l">
                <a:lnSpc>
                  <a:spcPts val="2400"/>
                </a:lnSpc>
              </a:pPr>
              <a:r>
                <a:rPr lang="en-US" sz="2000" b="1">
                  <a:solidFill>
                    <a:srgbClr val="172243"/>
                  </a:solidFill>
                  <a:latin typeface="Calibri (MS) Bold"/>
                  <a:ea typeface="Calibri (MS) Bold"/>
                  <a:cs typeface="Calibri (MS) Bold"/>
                  <a:sym typeface="Calibri (MS) Bold"/>
                </a:rPr>
                <a:t>Ranking weights (eligible only)</a:t>
              </a:r>
            </a:p>
            <a:p>
              <a:pPr algn="l">
                <a:lnSpc>
                  <a:spcPts val="1860"/>
                </a:lnSpc>
              </a:pPr>
              <a:r>
                <a:rPr lang="en-US" sz="1550" i="1">
                  <a:solidFill>
                    <a:srgbClr val="4A5170"/>
                  </a:solidFill>
                  <a:latin typeface="Calibri (MS) Italics"/>
                  <a:ea typeface="Calibri (MS) Italics"/>
                  <a:cs typeface="Calibri (MS) Italics"/>
                  <a:sym typeface="Calibri (MS) Italics"/>
                </a:rPr>
                <a:t>starting values, tuned on labelled fixtures</a:t>
              </a:r>
            </a:p>
          </p:txBody>
        </p:sp>
      </p:grpSp>
      <p:pic>
        <p:nvPicPr>
          <p:cNvPr id="70" name="Picture 70"/>
          <p:cNvPicPr>
            <a:picLocks noChangeAspect="1"/>
          </p:cNvPicPr>
          <p:nvPr/>
        </p:nvPicPr>
        <p:blipFill>
          <a:blip r:embed="rId13"/>
          <a:stretch>
            <a:fillRect/>
          </a:stretch>
        </p:blipFill>
        <p:spPr>
          <a:xfrm>
            <a:off x="13414248" y="5751576"/>
            <a:ext cx="4718304" cy="2596896"/>
          </a:xfrm>
          <a:prstGeom prst="rect">
            <a:avLst/>
          </a:prstGeom>
        </p:spPr>
      </p:pic>
      <p:grpSp>
        <p:nvGrpSpPr>
          <p:cNvPr id="71" name="Group 71"/>
          <p:cNvGrpSpPr/>
          <p:nvPr/>
        </p:nvGrpSpPr>
        <p:grpSpPr>
          <a:xfrm>
            <a:off x="9411967" y="8150095"/>
            <a:ext cx="8425177" cy="927097"/>
            <a:chOff x="0" y="0"/>
            <a:chExt cx="11233569" cy="1236129"/>
          </a:xfrm>
        </p:grpSpPr>
        <p:sp>
          <p:nvSpPr>
            <p:cNvPr id="72" name="Freeform 72"/>
            <p:cNvSpPr/>
            <p:nvPr/>
          </p:nvSpPr>
          <p:spPr>
            <a:xfrm>
              <a:off x="0" y="0"/>
              <a:ext cx="11233531" cy="1236091"/>
            </a:xfrm>
            <a:custGeom>
              <a:avLst/>
              <a:gdLst/>
              <a:ahLst/>
              <a:cxnLst/>
              <a:rect l="l" t="t" r="r" b="b"/>
              <a:pathLst>
                <a:path w="11233531" h="1236091">
                  <a:moveTo>
                    <a:pt x="0" y="74168"/>
                  </a:moveTo>
                  <a:cubicBezTo>
                    <a:pt x="0" y="33147"/>
                    <a:pt x="33147" y="0"/>
                    <a:pt x="74168" y="0"/>
                  </a:cubicBezTo>
                  <a:lnTo>
                    <a:pt x="11159363" y="0"/>
                  </a:lnTo>
                  <a:cubicBezTo>
                    <a:pt x="11200384" y="0"/>
                    <a:pt x="11233531" y="33147"/>
                    <a:pt x="11233531" y="74168"/>
                  </a:cubicBezTo>
                  <a:lnTo>
                    <a:pt x="11233531" y="1161923"/>
                  </a:lnTo>
                  <a:cubicBezTo>
                    <a:pt x="11233531" y="1202944"/>
                    <a:pt x="11200384" y="1236091"/>
                    <a:pt x="11159363" y="1236091"/>
                  </a:cubicBezTo>
                  <a:lnTo>
                    <a:pt x="74168" y="1236091"/>
                  </a:lnTo>
                  <a:cubicBezTo>
                    <a:pt x="33147" y="1236091"/>
                    <a:pt x="0" y="1202944"/>
                    <a:pt x="0" y="1161923"/>
                  </a:cubicBezTo>
                  <a:close/>
                </a:path>
              </a:pathLst>
            </a:custGeom>
            <a:solidFill>
              <a:srgbClr val="F8DEDB"/>
            </a:solidFill>
            <a:ln w="12700" cap="sq">
              <a:solidFill>
                <a:srgbClr val="8A2323"/>
              </a:solidFill>
              <a:prstDash val="solid"/>
              <a:miter/>
            </a:ln>
          </p:spPr>
          <p:txBody>
            <a:bodyPr/>
            <a:lstStyle/>
            <a:p>
              <a:endParaRPr/>
            </a:p>
          </p:txBody>
        </p:sp>
        <p:sp>
          <p:nvSpPr>
            <p:cNvPr id="73" name="TextBox 73"/>
            <p:cNvSpPr txBox="1"/>
            <p:nvPr/>
          </p:nvSpPr>
          <p:spPr>
            <a:xfrm>
              <a:off x="0" y="-38100"/>
              <a:ext cx="11233569" cy="1274229"/>
            </a:xfrm>
            <a:prstGeom prst="rect">
              <a:avLst/>
            </a:prstGeom>
          </p:spPr>
          <p:txBody>
            <a:bodyPr lIns="50800" tIns="50800" rIns="50800" bIns="50800" rtlCol="0" anchor="ctr"/>
            <a:lstStyle/>
            <a:p>
              <a:pPr algn="l">
                <a:lnSpc>
                  <a:spcPts val="2220"/>
                </a:lnSpc>
              </a:pPr>
              <a:r>
                <a:rPr lang="en-US" sz="1850" b="1">
                  <a:solidFill>
                    <a:srgbClr val="8A2323"/>
                  </a:solidFill>
                  <a:latin typeface="Calibri (MS) Bold"/>
                  <a:ea typeface="Calibri (MS) Bold"/>
                  <a:cs typeface="Calibri (MS) Bold"/>
                  <a:sym typeface="Calibri (MS) Bold"/>
                </a:rPr>
                <a:t>GUARDRAIL  </a:t>
              </a:r>
              <a:r>
                <a:rPr lang="en-US" sz="1850">
                  <a:solidFill>
                    <a:srgbClr val="1B2440"/>
                  </a:solidFill>
                  <a:latin typeface="Calibri (MS)"/>
                  <a:ea typeface="Calibri (MS)"/>
                  <a:cs typeface="Calibri (MS)"/>
                  <a:sym typeface="Calibri (MS)"/>
                </a:rPr>
                <a:t>AI may interpret skills, rank eligible results and explain them. It can never decide or override eligibility.</a:t>
              </a:r>
            </a:p>
          </p:txBody>
        </p:sp>
      </p:grpSp>
      <p:grpSp>
        <p:nvGrpSpPr>
          <p:cNvPr id="74" name="Group 74"/>
          <p:cNvGrpSpPr/>
          <p:nvPr/>
        </p:nvGrpSpPr>
        <p:grpSpPr>
          <a:xfrm>
            <a:off x="9418320" y="9208008"/>
            <a:ext cx="8412480" cy="804672"/>
            <a:chOff x="0" y="0"/>
            <a:chExt cx="11216640" cy="1072896"/>
          </a:xfrm>
        </p:grpSpPr>
        <p:sp>
          <p:nvSpPr>
            <p:cNvPr id="75" name="Freeform 75"/>
            <p:cNvSpPr/>
            <p:nvPr/>
          </p:nvSpPr>
          <p:spPr>
            <a:xfrm>
              <a:off x="0" y="0"/>
              <a:ext cx="11216640" cy="1072896"/>
            </a:xfrm>
            <a:custGeom>
              <a:avLst/>
              <a:gdLst/>
              <a:ahLst/>
              <a:cxnLst/>
              <a:rect l="l" t="t" r="r" b="b"/>
              <a:pathLst>
                <a:path w="11216640" h="1072896">
                  <a:moveTo>
                    <a:pt x="0" y="64389"/>
                  </a:moveTo>
                  <a:cubicBezTo>
                    <a:pt x="0" y="28829"/>
                    <a:pt x="28829" y="0"/>
                    <a:pt x="64389" y="0"/>
                  </a:cubicBezTo>
                  <a:lnTo>
                    <a:pt x="11152251" y="0"/>
                  </a:lnTo>
                  <a:cubicBezTo>
                    <a:pt x="11187811" y="0"/>
                    <a:pt x="11216640" y="28829"/>
                    <a:pt x="11216640" y="64389"/>
                  </a:cubicBezTo>
                  <a:lnTo>
                    <a:pt x="11216640" y="1008507"/>
                  </a:lnTo>
                  <a:cubicBezTo>
                    <a:pt x="11216640" y="1044067"/>
                    <a:pt x="11187811" y="1072896"/>
                    <a:pt x="11152251" y="1072896"/>
                  </a:cubicBezTo>
                  <a:lnTo>
                    <a:pt x="64389" y="1072896"/>
                  </a:lnTo>
                  <a:cubicBezTo>
                    <a:pt x="28829" y="1072896"/>
                    <a:pt x="0" y="1044067"/>
                    <a:pt x="0" y="1008507"/>
                  </a:cubicBezTo>
                  <a:close/>
                </a:path>
              </a:pathLst>
            </a:custGeom>
            <a:solidFill>
              <a:srgbClr val="ECE7F6"/>
            </a:solidFill>
          </p:spPr>
          <p:txBody>
            <a:bodyPr/>
            <a:lstStyle/>
            <a:p>
              <a:endParaRPr/>
            </a:p>
          </p:txBody>
        </p:sp>
        <p:sp>
          <p:nvSpPr>
            <p:cNvPr id="76" name="TextBox 76"/>
            <p:cNvSpPr txBox="1"/>
            <p:nvPr/>
          </p:nvSpPr>
          <p:spPr>
            <a:xfrm>
              <a:off x="0" y="-38100"/>
              <a:ext cx="11216640" cy="1110996"/>
            </a:xfrm>
            <a:prstGeom prst="rect">
              <a:avLst/>
            </a:prstGeom>
          </p:spPr>
          <p:txBody>
            <a:bodyPr lIns="50800" tIns="50800" rIns="50800" bIns="50800" rtlCol="0" anchor="ctr"/>
            <a:lstStyle/>
            <a:p>
              <a:pPr marL="217170" lvl="1" indent="-108585" algn="l">
                <a:lnSpc>
                  <a:spcPts val="2160"/>
                </a:lnSpc>
                <a:buFont typeface="Arial"/>
                <a:buChar char="•"/>
              </a:pPr>
              <a:r>
                <a:rPr lang="en-US" sz="1800">
                  <a:solidFill>
                    <a:srgbClr val="1B2440"/>
                  </a:solidFill>
                  <a:latin typeface="Calibri (MS)"/>
                  <a:ea typeface="Calibri (MS)"/>
                  <a:cs typeface="Calibri (MS)"/>
                  <a:sym typeface="Calibri (MS)"/>
                </a:rPr>
                <a:t>Criteria are versioned; each result ties to the criteria used</a:t>
              </a:r>
            </a:p>
            <a:p>
              <a:pPr marL="217170" lvl="1" indent="-108585" algn="l">
                <a:lnSpc>
                  <a:spcPts val="2160"/>
                </a:lnSpc>
                <a:buFont typeface="Arial"/>
                <a:buChar char="•"/>
              </a:pPr>
              <a:r>
                <a:rPr lang="en-US" sz="1800">
                  <a:solidFill>
                    <a:srgbClr val="1B2440"/>
                  </a:solidFill>
                  <a:latin typeface="Calibri (MS)"/>
                  <a:ea typeface="Calibri (MS)"/>
                  <a:cs typeface="Calibri (MS)"/>
                  <a:sym typeface="Calibri (MS)"/>
                </a:rPr>
                <a:t>Timeouts, cache and labelled demo mode if a service is down</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6" b="-26"/>
              </a:stretch>
            </a:blipFill>
          </p:spPr>
          <p:txBody>
            <a:bodyPr/>
            <a:lstStyle/>
            <a:p>
              <a:endParaRPr/>
            </a:p>
          </p:txBody>
        </p:sp>
      </p:grpSp>
      <p:grpSp>
        <p:nvGrpSpPr>
          <p:cNvPr id="4" name="Group 4"/>
          <p:cNvGrpSpPr/>
          <p:nvPr/>
        </p:nvGrpSpPr>
        <p:grpSpPr>
          <a:xfrm>
            <a:off x="0" y="0"/>
            <a:ext cx="1750047" cy="9860651"/>
            <a:chOff x="0" y="0"/>
            <a:chExt cx="2333396" cy="13147535"/>
          </a:xfrm>
        </p:grpSpPr>
        <p:sp>
          <p:nvSpPr>
            <p:cNvPr id="5" name="Freeform 5"/>
            <p:cNvSpPr/>
            <p:nvPr/>
          </p:nvSpPr>
          <p:spPr>
            <a:xfrm>
              <a:off x="0" y="0"/>
              <a:ext cx="2333371" cy="13147548"/>
            </a:xfrm>
            <a:custGeom>
              <a:avLst/>
              <a:gdLst/>
              <a:ahLst/>
              <a:cxnLst/>
              <a:rect l="l" t="t" r="r" b="b"/>
              <a:pathLst>
                <a:path w="2333371" h="13147548">
                  <a:moveTo>
                    <a:pt x="0" y="0"/>
                  </a:moveTo>
                  <a:lnTo>
                    <a:pt x="2333371" y="0"/>
                  </a:lnTo>
                  <a:lnTo>
                    <a:pt x="2333371" y="13147548"/>
                  </a:lnTo>
                  <a:lnTo>
                    <a:pt x="0" y="13147548"/>
                  </a:lnTo>
                  <a:lnTo>
                    <a:pt x="0" y="0"/>
                  </a:lnTo>
                  <a:close/>
                </a:path>
              </a:pathLst>
            </a:custGeom>
            <a:blipFill>
              <a:blip r:embed="rId4"/>
              <a:stretch>
                <a:fillRect t="-26" r="-1" b="-26"/>
              </a:stretch>
            </a:blipFill>
          </p:spPr>
          <p:txBody>
            <a:bodyPr/>
            <a:lstStyle/>
            <a:p>
              <a:endParaRPr/>
            </a:p>
          </p:txBody>
        </p:sp>
      </p:grpSp>
      <p:grpSp>
        <p:nvGrpSpPr>
          <p:cNvPr id="6" name="Group 6"/>
          <p:cNvGrpSpPr/>
          <p:nvPr/>
        </p:nvGrpSpPr>
        <p:grpSpPr>
          <a:xfrm>
            <a:off x="14361328" y="6635715"/>
            <a:ext cx="1750047" cy="1727254"/>
            <a:chOff x="0" y="0"/>
            <a:chExt cx="2333396" cy="2303005"/>
          </a:xfrm>
        </p:grpSpPr>
        <p:sp>
          <p:nvSpPr>
            <p:cNvPr id="7" name="Freeform 7"/>
            <p:cNvSpPr/>
            <p:nvPr/>
          </p:nvSpPr>
          <p:spPr>
            <a:xfrm>
              <a:off x="0" y="0"/>
              <a:ext cx="2333371" cy="2303018"/>
            </a:xfrm>
            <a:custGeom>
              <a:avLst/>
              <a:gdLst/>
              <a:ahLst/>
              <a:cxnLst/>
              <a:rect l="l" t="t" r="r" b="b"/>
              <a:pathLst>
                <a:path w="2333371" h="2303018">
                  <a:moveTo>
                    <a:pt x="0" y="0"/>
                  </a:moveTo>
                  <a:lnTo>
                    <a:pt x="2333371" y="0"/>
                  </a:lnTo>
                  <a:lnTo>
                    <a:pt x="2333371" y="2303018"/>
                  </a:lnTo>
                  <a:lnTo>
                    <a:pt x="0" y="2303018"/>
                  </a:lnTo>
                  <a:lnTo>
                    <a:pt x="0" y="0"/>
                  </a:lnTo>
                  <a:close/>
                </a:path>
              </a:pathLst>
            </a:custGeom>
            <a:blipFill>
              <a:blip r:embed="rId5"/>
              <a:stretch>
                <a:fillRect t="-26" r="-1" b="-25"/>
              </a:stretch>
            </a:blipFill>
          </p:spPr>
          <p:txBody>
            <a:bodyPr/>
            <a:lstStyle/>
            <a:p>
              <a:endParaRPr/>
            </a:p>
          </p:txBody>
        </p:sp>
      </p:grpSp>
      <p:grpSp>
        <p:nvGrpSpPr>
          <p:cNvPr id="8" name="Group 8"/>
          <p:cNvGrpSpPr/>
          <p:nvPr/>
        </p:nvGrpSpPr>
        <p:grpSpPr>
          <a:xfrm>
            <a:off x="13059727" y="7046871"/>
            <a:ext cx="5228272" cy="3256521"/>
            <a:chOff x="0" y="0"/>
            <a:chExt cx="6971030" cy="4342028"/>
          </a:xfrm>
        </p:grpSpPr>
        <p:sp>
          <p:nvSpPr>
            <p:cNvPr id="9" name="Freeform 9"/>
            <p:cNvSpPr/>
            <p:nvPr/>
          </p:nvSpPr>
          <p:spPr>
            <a:xfrm>
              <a:off x="0" y="0"/>
              <a:ext cx="6971030" cy="4342003"/>
            </a:xfrm>
            <a:custGeom>
              <a:avLst/>
              <a:gdLst/>
              <a:ahLst/>
              <a:cxnLst/>
              <a:rect l="l" t="t" r="r" b="b"/>
              <a:pathLst>
                <a:path w="6971030" h="4342003">
                  <a:moveTo>
                    <a:pt x="0" y="0"/>
                  </a:moveTo>
                  <a:lnTo>
                    <a:pt x="6971030" y="0"/>
                  </a:lnTo>
                  <a:lnTo>
                    <a:pt x="6971030" y="4342003"/>
                  </a:lnTo>
                  <a:lnTo>
                    <a:pt x="0" y="4342003"/>
                  </a:lnTo>
                  <a:lnTo>
                    <a:pt x="0" y="0"/>
                  </a:lnTo>
                  <a:close/>
                </a:path>
              </a:pathLst>
            </a:custGeom>
            <a:blipFill>
              <a:blip r:embed="rId6"/>
              <a:stretch>
                <a:fillRect t="-2900" b="-2900"/>
              </a:stretch>
            </a:blipFill>
          </p:spPr>
          <p:txBody>
            <a:bodyPr/>
            <a:lstStyle/>
            <a:p>
              <a:endParaRPr/>
            </a:p>
          </p:txBody>
        </p:sp>
      </p:grpSp>
      <p:grpSp>
        <p:nvGrpSpPr>
          <p:cNvPr id="10" name="Group 10"/>
          <p:cNvGrpSpPr/>
          <p:nvPr/>
        </p:nvGrpSpPr>
        <p:grpSpPr>
          <a:xfrm>
            <a:off x="0" y="7046871"/>
            <a:ext cx="1312535" cy="3432648"/>
            <a:chOff x="0" y="0"/>
            <a:chExt cx="1750047" cy="4576864"/>
          </a:xfrm>
        </p:grpSpPr>
        <p:sp>
          <p:nvSpPr>
            <p:cNvPr id="11" name="Freeform 11"/>
            <p:cNvSpPr/>
            <p:nvPr/>
          </p:nvSpPr>
          <p:spPr>
            <a:xfrm>
              <a:off x="0" y="0"/>
              <a:ext cx="1750060" cy="4576826"/>
            </a:xfrm>
            <a:custGeom>
              <a:avLst/>
              <a:gdLst/>
              <a:ahLst/>
              <a:cxnLst/>
              <a:rect l="l" t="t" r="r" b="b"/>
              <a:pathLst>
                <a:path w="1750060" h="4576826">
                  <a:moveTo>
                    <a:pt x="0" y="0"/>
                  </a:moveTo>
                  <a:lnTo>
                    <a:pt x="1750060" y="0"/>
                  </a:lnTo>
                  <a:lnTo>
                    <a:pt x="1750060" y="4576826"/>
                  </a:lnTo>
                  <a:lnTo>
                    <a:pt x="0" y="4576826"/>
                  </a:lnTo>
                  <a:lnTo>
                    <a:pt x="0" y="0"/>
                  </a:lnTo>
                  <a:close/>
                </a:path>
              </a:pathLst>
            </a:custGeom>
            <a:blipFill>
              <a:blip r:embed="rId7"/>
              <a:stretch>
                <a:fillRect t="-26" b="-27"/>
              </a:stretch>
            </a:blipFill>
          </p:spPr>
          <p:txBody>
            <a:bodyPr/>
            <a:lstStyle/>
            <a:p>
              <a:endParaRPr/>
            </a:p>
          </p:txBody>
        </p:sp>
      </p:grpSp>
      <p:grpSp>
        <p:nvGrpSpPr>
          <p:cNvPr id="12" name="Group 12"/>
          <p:cNvGrpSpPr/>
          <p:nvPr/>
        </p:nvGrpSpPr>
        <p:grpSpPr>
          <a:xfrm>
            <a:off x="16975465" y="5455063"/>
            <a:ext cx="1312535" cy="4088568"/>
            <a:chOff x="0" y="0"/>
            <a:chExt cx="1750047" cy="5451424"/>
          </a:xfrm>
        </p:grpSpPr>
        <p:sp>
          <p:nvSpPr>
            <p:cNvPr id="13" name="Freeform 13"/>
            <p:cNvSpPr/>
            <p:nvPr/>
          </p:nvSpPr>
          <p:spPr>
            <a:xfrm>
              <a:off x="0" y="0"/>
              <a:ext cx="1750060" cy="5451475"/>
            </a:xfrm>
            <a:custGeom>
              <a:avLst/>
              <a:gdLst/>
              <a:ahLst/>
              <a:cxnLst/>
              <a:rect l="l" t="t" r="r" b="b"/>
              <a:pathLst>
                <a:path w="1750060" h="5451475">
                  <a:moveTo>
                    <a:pt x="0" y="0"/>
                  </a:moveTo>
                  <a:lnTo>
                    <a:pt x="1750060" y="0"/>
                  </a:lnTo>
                  <a:lnTo>
                    <a:pt x="1750060" y="5451475"/>
                  </a:lnTo>
                  <a:lnTo>
                    <a:pt x="0" y="5451475"/>
                  </a:lnTo>
                  <a:lnTo>
                    <a:pt x="0" y="0"/>
                  </a:lnTo>
                  <a:close/>
                </a:path>
              </a:pathLst>
            </a:custGeom>
            <a:blipFill>
              <a:blip r:embed="rId8"/>
              <a:stretch>
                <a:fillRect t="-26" b="-25"/>
              </a:stretch>
            </a:blipFill>
          </p:spPr>
          <p:txBody>
            <a:bodyPr/>
            <a:lstStyle/>
            <a:p>
              <a:endParaRPr/>
            </a:p>
          </p:txBody>
        </p:sp>
      </p:grpSp>
      <p:grpSp>
        <p:nvGrpSpPr>
          <p:cNvPr id="14" name="Group 14"/>
          <p:cNvGrpSpPr/>
          <p:nvPr/>
        </p:nvGrpSpPr>
        <p:grpSpPr>
          <a:xfrm>
            <a:off x="16706945" y="7046871"/>
            <a:ext cx="1104719" cy="2372239"/>
            <a:chOff x="0" y="0"/>
            <a:chExt cx="1472959" cy="3162986"/>
          </a:xfrm>
        </p:grpSpPr>
        <p:sp>
          <p:nvSpPr>
            <p:cNvPr id="15" name="Freeform 15"/>
            <p:cNvSpPr/>
            <p:nvPr/>
          </p:nvSpPr>
          <p:spPr>
            <a:xfrm>
              <a:off x="0" y="0"/>
              <a:ext cx="1472946" cy="3162935"/>
            </a:xfrm>
            <a:custGeom>
              <a:avLst/>
              <a:gdLst/>
              <a:ahLst/>
              <a:cxnLst/>
              <a:rect l="l" t="t" r="r" b="b"/>
              <a:pathLst>
                <a:path w="1472946" h="3162935">
                  <a:moveTo>
                    <a:pt x="0" y="0"/>
                  </a:moveTo>
                  <a:lnTo>
                    <a:pt x="1472946" y="0"/>
                  </a:lnTo>
                  <a:lnTo>
                    <a:pt x="1472946" y="3162935"/>
                  </a:lnTo>
                  <a:lnTo>
                    <a:pt x="0" y="3162935"/>
                  </a:lnTo>
                  <a:lnTo>
                    <a:pt x="0" y="0"/>
                  </a:lnTo>
                  <a:close/>
                </a:path>
              </a:pathLst>
            </a:custGeom>
            <a:blipFill>
              <a:blip r:embed="rId9"/>
              <a:stretch>
                <a:fillRect t="-26" b="-28"/>
              </a:stretch>
            </a:blipFill>
          </p:spPr>
          <p:txBody>
            <a:bodyPr/>
            <a:lstStyle/>
            <a:p>
              <a:endParaRPr/>
            </a:p>
          </p:txBody>
        </p:sp>
      </p:grpSp>
      <p:sp>
        <p:nvSpPr>
          <p:cNvPr id="16" name="TextBox 16"/>
          <p:cNvSpPr txBox="1"/>
          <p:nvPr/>
        </p:nvSpPr>
        <p:spPr>
          <a:xfrm>
            <a:off x="457200" y="254729"/>
            <a:ext cx="15453360" cy="1314450"/>
          </a:xfrm>
          <a:prstGeom prst="rect">
            <a:avLst/>
          </a:prstGeom>
        </p:spPr>
        <p:txBody>
          <a:bodyPr lIns="0" tIns="0" rIns="0" bIns="0" rtlCol="0" anchor="t">
            <a:spAutoFit/>
          </a:bodyPr>
          <a:lstStyle/>
          <a:p>
            <a:pPr algn="l">
              <a:lnSpc>
                <a:spcPts val="7499"/>
              </a:lnSpc>
            </a:pPr>
            <a:r>
              <a:rPr lang="en-US" sz="6600" b="1" spc="150" dirty="0">
                <a:solidFill>
                  <a:srgbClr val="172243"/>
                </a:solidFill>
                <a:latin typeface="Heading Now 31-38 Bold"/>
                <a:ea typeface="Heading Now 31-38 Bold"/>
                <a:cs typeface="Heading Now 31-38 Bold"/>
                <a:sym typeface="Heading Now 31-38 Bold"/>
              </a:rPr>
              <a:t>SYSTEM ARCHITECTURE</a:t>
            </a:r>
          </a:p>
        </p:txBody>
      </p:sp>
      <p:grpSp>
        <p:nvGrpSpPr>
          <p:cNvPr id="17" name="Group 17"/>
          <p:cNvGrpSpPr/>
          <p:nvPr/>
        </p:nvGrpSpPr>
        <p:grpSpPr>
          <a:xfrm>
            <a:off x="457200" y="1028700"/>
            <a:ext cx="5020447" cy="535667"/>
            <a:chOff x="0" y="0"/>
            <a:chExt cx="6693929" cy="714223"/>
          </a:xfrm>
        </p:grpSpPr>
        <p:sp>
          <p:nvSpPr>
            <p:cNvPr id="18" name="Freeform 18"/>
            <p:cNvSpPr/>
            <p:nvPr/>
          </p:nvSpPr>
          <p:spPr>
            <a:xfrm>
              <a:off x="0" y="0"/>
              <a:ext cx="6693916" cy="714248"/>
            </a:xfrm>
            <a:custGeom>
              <a:avLst/>
              <a:gdLst/>
              <a:ahLst/>
              <a:cxnLst/>
              <a:rect l="l" t="t" r="r" b="b"/>
              <a:pathLst>
                <a:path w="6693916" h="714248">
                  <a:moveTo>
                    <a:pt x="0" y="0"/>
                  </a:moveTo>
                  <a:lnTo>
                    <a:pt x="6693916" y="0"/>
                  </a:lnTo>
                  <a:lnTo>
                    <a:pt x="6693916" y="714248"/>
                  </a:lnTo>
                  <a:lnTo>
                    <a:pt x="0" y="714248"/>
                  </a:lnTo>
                  <a:lnTo>
                    <a:pt x="0" y="0"/>
                  </a:lnTo>
                  <a:close/>
                </a:path>
              </a:pathLst>
            </a:custGeom>
            <a:blipFill>
              <a:blip r:embed="rId10"/>
              <a:stretch>
                <a:fillRect l="-11217" r="-11217" b="3"/>
              </a:stretch>
            </a:blipFill>
          </p:spPr>
          <p:txBody>
            <a:bodyPr/>
            <a:lstStyle/>
            <a:p>
              <a:endParaRPr/>
            </a:p>
          </p:txBody>
        </p:sp>
      </p:grpSp>
      <p:grpSp>
        <p:nvGrpSpPr>
          <p:cNvPr id="19" name="Group 19"/>
          <p:cNvGrpSpPr/>
          <p:nvPr/>
        </p:nvGrpSpPr>
        <p:grpSpPr>
          <a:xfrm>
            <a:off x="13923816" y="2160727"/>
            <a:ext cx="4364184" cy="2153602"/>
            <a:chOff x="0" y="0"/>
            <a:chExt cx="5818911" cy="2871470"/>
          </a:xfrm>
        </p:grpSpPr>
        <p:sp>
          <p:nvSpPr>
            <p:cNvPr id="20" name="Freeform 20"/>
            <p:cNvSpPr/>
            <p:nvPr/>
          </p:nvSpPr>
          <p:spPr>
            <a:xfrm>
              <a:off x="0" y="0"/>
              <a:ext cx="5818886" cy="2871470"/>
            </a:xfrm>
            <a:custGeom>
              <a:avLst/>
              <a:gdLst/>
              <a:ahLst/>
              <a:cxnLst/>
              <a:rect l="l" t="t" r="r" b="b"/>
              <a:pathLst>
                <a:path w="5818886" h="2871470">
                  <a:moveTo>
                    <a:pt x="0" y="0"/>
                  </a:moveTo>
                  <a:lnTo>
                    <a:pt x="5818886" y="0"/>
                  </a:lnTo>
                  <a:lnTo>
                    <a:pt x="5818886" y="2871470"/>
                  </a:lnTo>
                  <a:lnTo>
                    <a:pt x="0" y="2871470"/>
                  </a:lnTo>
                  <a:lnTo>
                    <a:pt x="0" y="0"/>
                  </a:lnTo>
                  <a:close/>
                </a:path>
              </a:pathLst>
            </a:custGeom>
            <a:blipFill>
              <a:blip r:embed="rId11">
                <a:alphaModFix amt="68000"/>
              </a:blip>
              <a:stretch>
                <a:fillRect t="-26" b="-26"/>
              </a:stretch>
            </a:blipFill>
          </p:spPr>
          <p:txBody>
            <a:bodyPr/>
            <a:lstStyle/>
            <a:p>
              <a:endParaRPr/>
            </a:p>
          </p:txBody>
        </p:sp>
      </p:grpSp>
      <p:grpSp>
        <p:nvGrpSpPr>
          <p:cNvPr id="21" name="Group 21"/>
          <p:cNvGrpSpPr/>
          <p:nvPr/>
        </p:nvGrpSpPr>
        <p:grpSpPr>
          <a:xfrm>
            <a:off x="16178936" y="216170"/>
            <a:ext cx="2160727" cy="2160727"/>
            <a:chOff x="0" y="0"/>
            <a:chExt cx="2880970" cy="2880970"/>
          </a:xfrm>
        </p:grpSpPr>
        <p:sp>
          <p:nvSpPr>
            <p:cNvPr id="22" name="Freeform 22"/>
            <p:cNvSpPr/>
            <p:nvPr/>
          </p:nvSpPr>
          <p:spPr>
            <a:xfrm>
              <a:off x="0" y="0"/>
              <a:ext cx="2880995" cy="2880995"/>
            </a:xfrm>
            <a:custGeom>
              <a:avLst/>
              <a:gdLst/>
              <a:ahLst/>
              <a:cxnLst/>
              <a:rect l="l" t="t" r="r" b="b"/>
              <a:pathLst>
                <a:path w="2880995" h="2880995">
                  <a:moveTo>
                    <a:pt x="0" y="0"/>
                  </a:moveTo>
                  <a:lnTo>
                    <a:pt x="2880995" y="0"/>
                  </a:lnTo>
                  <a:lnTo>
                    <a:pt x="2880995" y="2880995"/>
                  </a:lnTo>
                  <a:lnTo>
                    <a:pt x="0" y="2880995"/>
                  </a:lnTo>
                  <a:lnTo>
                    <a:pt x="0" y="0"/>
                  </a:lnTo>
                  <a:close/>
                </a:path>
              </a:pathLst>
            </a:custGeom>
            <a:blipFill>
              <a:blip r:embed="rId12"/>
              <a:stretch>
                <a:fillRect/>
              </a:stretch>
            </a:blipFill>
          </p:spPr>
          <p:txBody>
            <a:bodyPr/>
            <a:lstStyle/>
            <a:p>
              <a:endParaRPr/>
            </a:p>
          </p:txBody>
        </p:sp>
      </p:grpSp>
      <p:grpSp>
        <p:nvGrpSpPr>
          <p:cNvPr id="23" name="Group 23"/>
          <p:cNvGrpSpPr/>
          <p:nvPr/>
        </p:nvGrpSpPr>
        <p:grpSpPr>
          <a:xfrm>
            <a:off x="457200" y="1783080"/>
            <a:ext cx="15453360" cy="603504"/>
            <a:chOff x="0" y="0"/>
            <a:chExt cx="20604480" cy="804672"/>
          </a:xfrm>
        </p:grpSpPr>
        <p:sp>
          <p:nvSpPr>
            <p:cNvPr id="24" name="Freeform 24"/>
            <p:cNvSpPr/>
            <p:nvPr/>
          </p:nvSpPr>
          <p:spPr>
            <a:xfrm>
              <a:off x="0" y="0"/>
              <a:ext cx="20604480" cy="804672"/>
            </a:xfrm>
            <a:custGeom>
              <a:avLst/>
              <a:gdLst/>
              <a:ahLst/>
              <a:cxnLst/>
              <a:rect l="l" t="t" r="r" b="b"/>
              <a:pathLst>
                <a:path w="20604480" h="804672">
                  <a:moveTo>
                    <a:pt x="0" y="241427"/>
                  </a:moveTo>
                  <a:cubicBezTo>
                    <a:pt x="0" y="108077"/>
                    <a:pt x="108077" y="0"/>
                    <a:pt x="241427" y="0"/>
                  </a:cubicBezTo>
                  <a:lnTo>
                    <a:pt x="20363053" y="0"/>
                  </a:lnTo>
                  <a:cubicBezTo>
                    <a:pt x="20496403" y="0"/>
                    <a:pt x="20604480" y="108077"/>
                    <a:pt x="20604480" y="241427"/>
                  </a:cubicBezTo>
                  <a:lnTo>
                    <a:pt x="20604480" y="563245"/>
                  </a:lnTo>
                  <a:cubicBezTo>
                    <a:pt x="20604480" y="696595"/>
                    <a:pt x="20496403" y="804672"/>
                    <a:pt x="20363053" y="804672"/>
                  </a:cubicBezTo>
                  <a:lnTo>
                    <a:pt x="241427" y="804672"/>
                  </a:lnTo>
                  <a:cubicBezTo>
                    <a:pt x="108077" y="804672"/>
                    <a:pt x="0" y="696595"/>
                    <a:pt x="0" y="563245"/>
                  </a:cubicBezTo>
                  <a:close/>
                </a:path>
              </a:pathLst>
            </a:custGeom>
            <a:solidFill>
              <a:srgbClr val="172243"/>
            </a:solidFill>
          </p:spPr>
          <p:txBody>
            <a:bodyPr/>
            <a:lstStyle/>
            <a:p>
              <a:endParaRPr/>
            </a:p>
          </p:txBody>
        </p:sp>
        <p:sp>
          <p:nvSpPr>
            <p:cNvPr id="25" name="TextBox 25"/>
            <p:cNvSpPr txBox="1"/>
            <p:nvPr/>
          </p:nvSpPr>
          <p:spPr>
            <a:xfrm>
              <a:off x="0" y="-38100"/>
              <a:ext cx="20604480" cy="842772"/>
            </a:xfrm>
            <a:prstGeom prst="rect">
              <a:avLst/>
            </a:prstGeom>
          </p:spPr>
          <p:txBody>
            <a:bodyPr lIns="50800" tIns="50800" rIns="50800" bIns="50800" rtlCol="0" anchor="ctr"/>
            <a:lstStyle/>
            <a:p>
              <a:pPr algn="l">
                <a:lnSpc>
                  <a:spcPts val="2879"/>
                </a:lnSpc>
              </a:pPr>
              <a:r>
                <a:rPr lang="en-US" sz="2400" b="1">
                  <a:solidFill>
                    <a:srgbClr val="FFFFFF"/>
                  </a:solidFill>
                  <a:latin typeface="Calibri (MS) Bold"/>
                  <a:ea typeface="Calibri (MS) Bold"/>
                  <a:cs typeface="Calibri (MS) Bold"/>
                  <a:sym typeface="Calibri (MS) Bold"/>
                </a:rPr>
                <a:t>Four layers, four workflows; rule-based eligibility stays apart from AI.</a:t>
              </a:r>
            </a:p>
          </p:txBody>
        </p:sp>
      </p:grpSp>
      <p:grpSp>
        <p:nvGrpSpPr>
          <p:cNvPr id="27" name="Group 27"/>
          <p:cNvGrpSpPr/>
          <p:nvPr/>
        </p:nvGrpSpPr>
        <p:grpSpPr>
          <a:xfrm>
            <a:off x="11850000" y="2606040"/>
            <a:ext cx="5980000" cy="566928"/>
            <a:chOff x="0" y="0"/>
            <a:chExt cx="11216640" cy="755904"/>
          </a:xfrm>
        </p:grpSpPr>
        <p:sp>
          <p:nvSpPr>
            <p:cNvPr id="28" name="Freeform 28"/>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txBody>
            <a:bodyPr/>
            <a:lstStyle/>
            <a:p>
              <a:endParaRPr/>
            </a:p>
          </p:txBody>
        </p:sp>
        <p:sp>
          <p:nvSpPr>
            <p:cNvPr id="29" name="TextBox 29"/>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HOW IT FLOWS</a:t>
              </a:r>
            </a:p>
          </p:txBody>
        </p:sp>
      </p:grpSp>
      <p:grpSp>
        <p:nvGrpSpPr>
          <p:cNvPr id="30" name="Group 30"/>
          <p:cNvGrpSpPr/>
          <p:nvPr/>
        </p:nvGrpSpPr>
        <p:grpSpPr>
          <a:xfrm>
            <a:off x="11850000" y="3303775"/>
            <a:ext cx="5980000" cy="2124961"/>
            <a:chOff x="0" y="0"/>
            <a:chExt cx="11233569" cy="2833281"/>
          </a:xfrm>
        </p:grpSpPr>
        <p:sp>
          <p:nvSpPr>
            <p:cNvPr id="31" name="Freeform 31"/>
            <p:cNvSpPr/>
            <p:nvPr/>
          </p:nvSpPr>
          <p:spPr>
            <a:xfrm>
              <a:off x="0" y="0"/>
              <a:ext cx="11233658" cy="2833370"/>
            </a:xfrm>
            <a:custGeom>
              <a:avLst/>
              <a:gdLst/>
              <a:ahLst/>
              <a:cxnLst/>
              <a:rect l="l" t="t" r="r" b="b"/>
              <a:pathLst>
                <a:path w="11233658" h="2833370">
                  <a:moveTo>
                    <a:pt x="0" y="170053"/>
                  </a:moveTo>
                  <a:cubicBezTo>
                    <a:pt x="0" y="76073"/>
                    <a:pt x="76073" y="0"/>
                    <a:pt x="170053" y="0"/>
                  </a:cubicBezTo>
                  <a:lnTo>
                    <a:pt x="11063605" y="0"/>
                  </a:lnTo>
                  <a:cubicBezTo>
                    <a:pt x="11157458" y="0"/>
                    <a:pt x="11233658" y="76073"/>
                    <a:pt x="11233658" y="170053"/>
                  </a:cubicBezTo>
                  <a:lnTo>
                    <a:pt x="11233658" y="2663317"/>
                  </a:lnTo>
                  <a:cubicBezTo>
                    <a:pt x="11233658" y="2757170"/>
                    <a:pt x="11157586" y="2833370"/>
                    <a:pt x="11063605" y="2833370"/>
                  </a:cubicBezTo>
                  <a:lnTo>
                    <a:pt x="170053" y="2833370"/>
                  </a:lnTo>
                  <a:cubicBezTo>
                    <a:pt x="76073" y="2833243"/>
                    <a:pt x="0" y="2757170"/>
                    <a:pt x="0" y="2663317"/>
                  </a:cubicBezTo>
                  <a:close/>
                </a:path>
              </a:pathLst>
            </a:custGeom>
            <a:solidFill>
              <a:srgbClr val="FFFFFF"/>
            </a:solidFill>
            <a:ln w="12700" cap="sq">
              <a:solidFill>
                <a:srgbClr val="D7D0E6"/>
              </a:solidFill>
              <a:prstDash val="solid"/>
              <a:miter/>
            </a:ln>
          </p:spPr>
          <p:txBody>
            <a:bodyPr/>
            <a:lstStyle/>
            <a:p>
              <a:endParaRPr/>
            </a:p>
          </p:txBody>
        </p:sp>
        <p:sp>
          <p:nvSpPr>
            <p:cNvPr id="32" name="TextBox 32"/>
            <p:cNvSpPr txBox="1"/>
            <p:nvPr/>
          </p:nvSpPr>
          <p:spPr>
            <a:xfrm>
              <a:off x="0" y="-38100"/>
              <a:ext cx="11233569" cy="2871381"/>
            </a:xfrm>
            <a:prstGeom prst="rect">
              <a:avLst/>
            </a:prstGeom>
          </p:spPr>
          <p:txBody>
            <a:bodyPr lIns="50800" tIns="50800" rIns="50800" bIns="50800" rtlCol="0" anchor="ctr"/>
            <a:lstStyle/>
            <a:p>
              <a:pPr algn="l">
                <a:lnSpc>
                  <a:spcPts val="2879"/>
                </a:lnSpc>
              </a:pPr>
              <a:r>
                <a:rPr lang="en-US" sz="2400" b="1">
                  <a:solidFill>
                    <a:srgbClr val="172243"/>
                  </a:solidFill>
                  <a:latin typeface="Calibri (MS) Bold"/>
                  <a:ea typeface="Calibri (MS) Bold"/>
                  <a:cs typeface="Calibri (MS) Bold"/>
                  <a:sym typeface="Calibri (MS) Bold"/>
                </a:rPr>
                <a:t>Eligibility + matching</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Mandatory criteria checked first</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Eligible roles ranked, then explained</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Gaps mapped to catalogue resources</a:t>
              </a:r>
            </a:p>
          </p:txBody>
        </p:sp>
      </p:grpSp>
      <p:grpSp>
        <p:nvGrpSpPr>
          <p:cNvPr id="33" name="Group 33"/>
          <p:cNvGrpSpPr/>
          <p:nvPr/>
        </p:nvGrpSpPr>
        <p:grpSpPr>
          <a:xfrm>
            <a:off x="11850000" y="5605272"/>
            <a:ext cx="5980000" cy="2112264"/>
            <a:chOff x="0" y="0"/>
            <a:chExt cx="11216640" cy="2816352"/>
          </a:xfrm>
        </p:grpSpPr>
        <p:sp>
          <p:nvSpPr>
            <p:cNvPr id="34" name="Freeform 34"/>
            <p:cNvSpPr/>
            <p:nvPr/>
          </p:nvSpPr>
          <p:spPr>
            <a:xfrm>
              <a:off x="0" y="0"/>
              <a:ext cx="11216640" cy="2816352"/>
            </a:xfrm>
            <a:custGeom>
              <a:avLst/>
              <a:gdLst/>
              <a:ahLst/>
              <a:cxnLst/>
              <a:rect l="l" t="t" r="r" b="b"/>
              <a:pathLst>
                <a:path w="11216640" h="2816352">
                  <a:moveTo>
                    <a:pt x="0" y="169037"/>
                  </a:moveTo>
                  <a:cubicBezTo>
                    <a:pt x="0" y="75692"/>
                    <a:pt x="75692" y="0"/>
                    <a:pt x="169037" y="0"/>
                  </a:cubicBezTo>
                  <a:lnTo>
                    <a:pt x="11047603" y="0"/>
                  </a:lnTo>
                  <a:cubicBezTo>
                    <a:pt x="11140948" y="0"/>
                    <a:pt x="11216640" y="75692"/>
                    <a:pt x="11216640" y="169037"/>
                  </a:cubicBezTo>
                  <a:lnTo>
                    <a:pt x="11216640" y="2647315"/>
                  </a:lnTo>
                  <a:cubicBezTo>
                    <a:pt x="11216640" y="2740660"/>
                    <a:pt x="11140948" y="2816352"/>
                    <a:pt x="11047603" y="2816352"/>
                  </a:cubicBezTo>
                  <a:lnTo>
                    <a:pt x="169037" y="2816352"/>
                  </a:lnTo>
                  <a:cubicBezTo>
                    <a:pt x="75692" y="2816352"/>
                    <a:pt x="0" y="2740660"/>
                    <a:pt x="0" y="2647315"/>
                  </a:cubicBezTo>
                  <a:close/>
                </a:path>
              </a:pathLst>
            </a:custGeom>
            <a:solidFill>
              <a:srgbClr val="ECE7F6"/>
            </a:solidFill>
          </p:spPr>
          <p:txBody>
            <a:bodyPr/>
            <a:lstStyle/>
            <a:p>
              <a:endParaRPr/>
            </a:p>
          </p:txBody>
        </p:sp>
        <p:sp>
          <p:nvSpPr>
            <p:cNvPr id="35" name="TextBox 35"/>
            <p:cNvSpPr txBox="1"/>
            <p:nvPr/>
          </p:nvSpPr>
          <p:spPr>
            <a:xfrm>
              <a:off x="0" y="-38100"/>
              <a:ext cx="11216640" cy="2854452"/>
            </a:xfrm>
            <a:prstGeom prst="rect">
              <a:avLst/>
            </a:prstGeom>
          </p:spPr>
          <p:txBody>
            <a:bodyPr lIns="50800" tIns="50800" rIns="50800" bIns="50800" rtlCol="0" anchor="ctr"/>
            <a:lstStyle/>
            <a:p>
              <a:pPr algn="l">
                <a:lnSpc>
                  <a:spcPts val="2879"/>
                </a:lnSpc>
              </a:pPr>
              <a:r>
                <a:rPr lang="en-US" sz="2400" b="1">
                  <a:solidFill>
                    <a:srgbClr val="172243"/>
                  </a:solidFill>
                  <a:latin typeface="Calibri (MS) Bold"/>
                  <a:ea typeface="Calibri (MS) Bold"/>
                  <a:cs typeface="Calibri (MS) Bold"/>
                  <a:sym typeface="Calibri (MS) Bold"/>
                </a:rPr>
                <a:t>Profile update</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Candidate edits skills or location</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Eligibility and rankings recalculate</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Candidate notified of changed roles</a:t>
              </a:r>
            </a:p>
          </p:txBody>
        </p:sp>
      </p:grpSp>
      <p:grpSp>
        <p:nvGrpSpPr>
          <p:cNvPr id="36" name="Group 36"/>
          <p:cNvGrpSpPr/>
          <p:nvPr/>
        </p:nvGrpSpPr>
        <p:grpSpPr>
          <a:xfrm>
            <a:off x="11850000" y="7894063"/>
            <a:ext cx="5980000" cy="2124961"/>
            <a:chOff x="0" y="0"/>
            <a:chExt cx="11233569" cy="2833281"/>
          </a:xfrm>
        </p:grpSpPr>
        <p:sp>
          <p:nvSpPr>
            <p:cNvPr id="37" name="Freeform 37"/>
            <p:cNvSpPr/>
            <p:nvPr/>
          </p:nvSpPr>
          <p:spPr>
            <a:xfrm>
              <a:off x="0" y="0"/>
              <a:ext cx="11233658" cy="2833370"/>
            </a:xfrm>
            <a:custGeom>
              <a:avLst/>
              <a:gdLst/>
              <a:ahLst/>
              <a:cxnLst/>
              <a:rect l="l" t="t" r="r" b="b"/>
              <a:pathLst>
                <a:path w="11233658" h="2833370">
                  <a:moveTo>
                    <a:pt x="0" y="170053"/>
                  </a:moveTo>
                  <a:cubicBezTo>
                    <a:pt x="0" y="76073"/>
                    <a:pt x="76073" y="0"/>
                    <a:pt x="170053" y="0"/>
                  </a:cubicBezTo>
                  <a:lnTo>
                    <a:pt x="11063605" y="0"/>
                  </a:lnTo>
                  <a:cubicBezTo>
                    <a:pt x="11157458" y="0"/>
                    <a:pt x="11233658" y="76073"/>
                    <a:pt x="11233658" y="170053"/>
                  </a:cubicBezTo>
                  <a:lnTo>
                    <a:pt x="11233658" y="2663317"/>
                  </a:lnTo>
                  <a:cubicBezTo>
                    <a:pt x="11233658" y="2757170"/>
                    <a:pt x="11157586" y="2833370"/>
                    <a:pt x="11063605" y="2833370"/>
                  </a:cubicBezTo>
                  <a:lnTo>
                    <a:pt x="170053" y="2833370"/>
                  </a:lnTo>
                  <a:cubicBezTo>
                    <a:pt x="76073" y="2833243"/>
                    <a:pt x="0" y="2757170"/>
                    <a:pt x="0" y="2663317"/>
                  </a:cubicBezTo>
                  <a:close/>
                </a:path>
              </a:pathLst>
            </a:custGeom>
            <a:solidFill>
              <a:srgbClr val="FFFFFF"/>
            </a:solidFill>
            <a:ln w="12700" cap="sq">
              <a:solidFill>
                <a:srgbClr val="D7D0E6"/>
              </a:solidFill>
              <a:prstDash val="solid"/>
              <a:miter/>
            </a:ln>
          </p:spPr>
          <p:txBody>
            <a:bodyPr/>
            <a:lstStyle/>
            <a:p>
              <a:endParaRPr/>
            </a:p>
          </p:txBody>
        </p:sp>
        <p:sp>
          <p:nvSpPr>
            <p:cNvPr id="38" name="TextBox 38"/>
            <p:cNvSpPr txBox="1"/>
            <p:nvPr/>
          </p:nvSpPr>
          <p:spPr>
            <a:xfrm>
              <a:off x="0" y="-38100"/>
              <a:ext cx="11233569" cy="2871381"/>
            </a:xfrm>
            <a:prstGeom prst="rect">
              <a:avLst/>
            </a:prstGeom>
          </p:spPr>
          <p:txBody>
            <a:bodyPr lIns="50800" tIns="50800" rIns="50800" bIns="50800" rtlCol="0" anchor="ctr"/>
            <a:lstStyle/>
            <a:p>
              <a:pPr algn="l">
                <a:lnSpc>
                  <a:spcPts val="2879"/>
                </a:lnSpc>
              </a:pPr>
              <a:r>
                <a:rPr lang="en-US" sz="2400" b="1">
                  <a:solidFill>
                    <a:srgbClr val="172243"/>
                  </a:solidFill>
                  <a:latin typeface="Calibri (MS) Bold"/>
                  <a:ea typeface="Calibri (MS) Bold"/>
                  <a:cs typeface="Calibri (MS) Bold"/>
                  <a:sym typeface="Calibri (MS) Bold"/>
                </a:rPr>
                <a:t>Rules first, AI second</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Eligibility engine is deterministic</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AI adds ranking signals only</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Profile → eligibility → skills to build</a:t>
              </a:r>
            </a:p>
          </p:txBody>
        </p:sp>
      </p:grpSp>
      <p:pic>
        <p:nvPicPr>
          <p:cNvPr id="39" name="System Architecture Diagram" descr="arch.png"/>
          <p:cNvPicPr>
            <a:picLocks noChangeAspect="1"/>
          </p:cNvPicPr>
          <p:nvPr/>
        </p:nvPicPr>
        <p:blipFill>
          <a:blip r:embed="rId13"/>
          <a:stretch>
            <a:fillRect/>
          </a:stretch>
        </p:blipFill>
        <p:spPr>
          <a:xfrm>
            <a:off x="457200" y="2650000"/>
            <a:ext cx="11025000" cy="7350000"/>
          </a:xfrm>
          <a:prstGeom prst="rect">
            <a:avLst/>
          </a:prstGeom>
          <a:ln w="12700">
            <a:solidFill>
              <a:srgbClr val="D9D4EA"/>
            </a:solid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8" y="49557"/>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6" b="-26"/>
              </a:stretch>
            </a:blipFill>
          </p:spPr>
          <p:txBody>
            <a:bodyPr/>
            <a:lstStyle/>
            <a:p>
              <a:endParaRPr/>
            </a:p>
          </p:txBody>
        </p:sp>
      </p:grpSp>
      <p:grpSp>
        <p:nvGrpSpPr>
          <p:cNvPr id="4" name="Group 4"/>
          <p:cNvGrpSpPr/>
          <p:nvPr/>
        </p:nvGrpSpPr>
        <p:grpSpPr>
          <a:xfrm>
            <a:off x="0" y="0"/>
            <a:ext cx="1750047" cy="9860651"/>
            <a:chOff x="0" y="0"/>
            <a:chExt cx="2333396" cy="13147535"/>
          </a:xfrm>
        </p:grpSpPr>
        <p:sp>
          <p:nvSpPr>
            <p:cNvPr id="5" name="Freeform 5"/>
            <p:cNvSpPr/>
            <p:nvPr/>
          </p:nvSpPr>
          <p:spPr>
            <a:xfrm>
              <a:off x="0" y="0"/>
              <a:ext cx="2333371" cy="13147548"/>
            </a:xfrm>
            <a:custGeom>
              <a:avLst/>
              <a:gdLst/>
              <a:ahLst/>
              <a:cxnLst/>
              <a:rect l="l" t="t" r="r" b="b"/>
              <a:pathLst>
                <a:path w="2333371" h="13147548">
                  <a:moveTo>
                    <a:pt x="0" y="0"/>
                  </a:moveTo>
                  <a:lnTo>
                    <a:pt x="2333371" y="0"/>
                  </a:lnTo>
                  <a:lnTo>
                    <a:pt x="2333371" y="13147548"/>
                  </a:lnTo>
                  <a:lnTo>
                    <a:pt x="0" y="13147548"/>
                  </a:lnTo>
                  <a:lnTo>
                    <a:pt x="0" y="0"/>
                  </a:lnTo>
                  <a:close/>
                </a:path>
              </a:pathLst>
            </a:custGeom>
            <a:blipFill>
              <a:blip r:embed="rId4"/>
              <a:stretch>
                <a:fillRect t="-26" r="-1" b="-26"/>
              </a:stretch>
            </a:blipFill>
          </p:spPr>
          <p:txBody>
            <a:bodyPr/>
            <a:lstStyle/>
            <a:p>
              <a:endParaRPr/>
            </a:p>
          </p:txBody>
        </p:sp>
      </p:grpSp>
      <p:grpSp>
        <p:nvGrpSpPr>
          <p:cNvPr id="6" name="Group 6"/>
          <p:cNvGrpSpPr/>
          <p:nvPr/>
        </p:nvGrpSpPr>
        <p:grpSpPr>
          <a:xfrm>
            <a:off x="0" y="7046871"/>
            <a:ext cx="1312535" cy="3432648"/>
            <a:chOff x="0" y="0"/>
            <a:chExt cx="1750047" cy="4576864"/>
          </a:xfrm>
        </p:grpSpPr>
        <p:sp>
          <p:nvSpPr>
            <p:cNvPr id="7" name="Freeform 7"/>
            <p:cNvSpPr/>
            <p:nvPr/>
          </p:nvSpPr>
          <p:spPr>
            <a:xfrm>
              <a:off x="0" y="0"/>
              <a:ext cx="1750060" cy="4576826"/>
            </a:xfrm>
            <a:custGeom>
              <a:avLst/>
              <a:gdLst/>
              <a:ahLst/>
              <a:cxnLst/>
              <a:rect l="l" t="t" r="r" b="b"/>
              <a:pathLst>
                <a:path w="1750060" h="4576826">
                  <a:moveTo>
                    <a:pt x="0" y="0"/>
                  </a:moveTo>
                  <a:lnTo>
                    <a:pt x="1750060" y="0"/>
                  </a:lnTo>
                  <a:lnTo>
                    <a:pt x="1750060" y="4576826"/>
                  </a:lnTo>
                  <a:lnTo>
                    <a:pt x="0" y="4576826"/>
                  </a:lnTo>
                  <a:lnTo>
                    <a:pt x="0" y="0"/>
                  </a:lnTo>
                  <a:close/>
                </a:path>
              </a:pathLst>
            </a:custGeom>
            <a:blipFill>
              <a:blip r:embed="rId5"/>
              <a:stretch>
                <a:fillRect t="-26" b="-27"/>
              </a:stretch>
            </a:blipFill>
          </p:spPr>
          <p:txBody>
            <a:bodyPr/>
            <a:lstStyle/>
            <a:p>
              <a:endParaRPr/>
            </a:p>
          </p:txBody>
        </p:sp>
      </p:grpSp>
      <p:grpSp>
        <p:nvGrpSpPr>
          <p:cNvPr id="8" name="Group 8"/>
          <p:cNvGrpSpPr/>
          <p:nvPr/>
        </p:nvGrpSpPr>
        <p:grpSpPr>
          <a:xfrm>
            <a:off x="14361328" y="6635715"/>
            <a:ext cx="1750047" cy="1727254"/>
            <a:chOff x="0" y="0"/>
            <a:chExt cx="2333396" cy="2303005"/>
          </a:xfrm>
        </p:grpSpPr>
        <p:sp>
          <p:nvSpPr>
            <p:cNvPr id="9" name="Freeform 9"/>
            <p:cNvSpPr/>
            <p:nvPr/>
          </p:nvSpPr>
          <p:spPr>
            <a:xfrm>
              <a:off x="0" y="0"/>
              <a:ext cx="2333371" cy="2303018"/>
            </a:xfrm>
            <a:custGeom>
              <a:avLst/>
              <a:gdLst/>
              <a:ahLst/>
              <a:cxnLst/>
              <a:rect l="l" t="t" r="r" b="b"/>
              <a:pathLst>
                <a:path w="2333371" h="2303018">
                  <a:moveTo>
                    <a:pt x="0" y="0"/>
                  </a:moveTo>
                  <a:lnTo>
                    <a:pt x="2333371" y="0"/>
                  </a:lnTo>
                  <a:lnTo>
                    <a:pt x="2333371" y="2303018"/>
                  </a:lnTo>
                  <a:lnTo>
                    <a:pt x="0" y="2303018"/>
                  </a:lnTo>
                  <a:lnTo>
                    <a:pt x="0" y="0"/>
                  </a:lnTo>
                  <a:close/>
                </a:path>
              </a:pathLst>
            </a:custGeom>
            <a:blipFill>
              <a:blip r:embed="rId6"/>
              <a:stretch>
                <a:fillRect t="-26" r="-1" b="-25"/>
              </a:stretch>
            </a:blipFill>
          </p:spPr>
          <p:txBody>
            <a:bodyPr/>
            <a:lstStyle/>
            <a:p>
              <a:endParaRPr/>
            </a:p>
          </p:txBody>
        </p:sp>
      </p:grpSp>
      <p:grpSp>
        <p:nvGrpSpPr>
          <p:cNvPr id="10" name="Group 10"/>
          <p:cNvGrpSpPr/>
          <p:nvPr/>
        </p:nvGrpSpPr>
        <p:grpSpPr>
          <a:xfrm>
            <a:off x="13059727" y="7046871"/>
            <a:ext cx="5228272" cy="3256521"/>
            <a:chOff x="0" y="0"/>
            <a:chExt cx="6971030" cy="4342028"/>
          </a:xfrm>
        </p:grpSpPr>
        <p:sp>
          <p:nvSpPr>
            <p:cNvPr id="11" name="Freeform 11"/>
            <p:cNvSpPr/>
            <p:nvPr/>
          </p:nvSpPr>
          <p:spPr>
            <a:xfrm>
              <a:off x="0" y="0"/>
              <a:ext cx="6971030" cy="4342003"/>
            </a:xfrm>
            <a:custGeom>
              <a:avLst/>
              <a:gdLst/>
              <a:ahLst/>
              <a:cxnLst/>
              <a:rect l="l" t="t" r="r" b="b"/>
              <a:pathLst>
                <a:path w="6971030" h="4342003">
                  <a:moveTo>
                    <a:pt x="0" y="0"/>
                  </a:moveTo>
                  <a:lnTo>
                    <a:pt x="6971030" y="0"/>
                  </a:lnTo>
                  <a:lnTo>
                    <a:pt x="6971030" y="4342003"/>
                  </a:lnTo>
                  <a:lnTo>
                    <a:pt x="0" y="4342003"/>
                  </a:lnTo>
                  <a:lnTo>
                    <a:pt x="0" y="0"/>
                  </a:lnTo>
                  <a:close/>
                </a:path>
              </a:pathLst>
            </a:custGeom>
            <a:blipFill>
              <a:blip r:embed="rId7"/>
              <a:stretch>
                <a:fillRect t="-2900" b="-2900"/>
              </a:stretch>
            </a:blipFill>
          </p:spPr>
          <p:txBody>
            <a:bodyPr/>
            <a:lstStyle/>
            <a:p>
              <a:endParaRPr/>
            </a:p>
          </p:txBody>
        </p:sp>
      </p:grpSp>
      <p:grpSp>
        <p:nvGrpSpPr>
          <p:cNvPr id="12" name="Group 12"/>
          <p:cNvGrpSpPr/>
          <p:nvPr/>
        </p:nvGrpSpPr>
        <p:grpSpPr>
          <a:xfrm>
            <a:off x="16975465" y="5455063"/>
            <a:ext cx="1312535" cy="4088568"/>
            <a:chOff x="0" y="0"/>
            <a:chExt cx="1750047" cy="5451424"/>
          </a:xfrm>
        </p:grpSpPr>
        <p:sp>
          <p:nvSpPr>
            <p:cNvPr id="13" name="Freeform 13"/>
            <p:cNvSpPr/>
            <p:nvPr/>
          </p:nvSpPr>
          <p:spPr>
            <a:xfrm>
              <a:off x="0" y="0"/>
              <a:ext cx="1750060" cy="5451475"/>
            </a:xfrm>
            <a:custGeom>
              <a:avLst/>
              <a:gdLst/>
              <a:ahLst/>
              <a:cxnLst/>
              <a:rect l="l" t="t" r="r" b="b"/>
              <a:pathLst>
                <a:path w="1750060" h="5451475">
                  <a:moveTo>
                    <a:pt x="0" y="0"/>
                  </a:moveTo>
                  <a:lnTo>
                    <a:pt x="1750060" y="0"/>
                  </a:lnTo>
                  <a:lnTo>
                    <a:pt x="1750060" y="5451475"/>
                  </a:lnTo>
                  <a:lnTo>
                    <a:pt x="0" y="5451475"/>
                  </a:lnTo>
                  <a:lnTo>
                    <a:pt x="0" y="0"/>
                  </a:lnTo>
                  <a:close/>
                </a:path>
              </a:pathLst>
            </a:custGeom>
            <a:blipFill>
              <a:blip r:embed="rId8"/>
              <a:stretch>
                <a:fillRect t="-26" b="-25"/>
              </a:stretch>
            </a:blipFill>
          </p:spPr>
          <p:txBody>
            <a:bodyPr/>
            <a:lstStyle/>
            <a:p>
              <a:endParaRPr/>
            </a:p>
          </p:txBody>
        </p:sp>
      </p:grpSp>
      <p:grpSp>
        <p:nvGrpSpPr>
          <p:cNvPr id="14" name="Group 14"/>
          <p:cNvGrpSpPr/>
          <p:nvPr/>
        </p:nvGrpSpPr>
        <p:grpSpPr>
          <a:xfrm>
            <a:off x="16706945" y="7046871"/>
            <a:ext cx="1104719" cy="2372239"/>
            <a:chOff x="0" y="0"/>
            <a:chExt cx="1472959" cy="3162986"/>
          </a:xfrm>
        </p:grpSpPr>
        <p:sp>
          <p:nvSpPr>
            <p:cNvPr id="15" name="Freeform 15"/>
            <p:cNvSpPr/>
            <p:nvPr/>
          </p:nvSpPr>
          <p:spPr>
            <a:xfrm>
              <a:off x="0" y="0"/>
              <a:ext cx="1472946" cy="3162935"/>
            </a:xfrm>
            <a:custGeom>
              <a:avLst/>
              <a:gdLst/>
              <a:ahLst/>
              <a:cxnLst/>
              <a:rect l="l" t="t" r="r" b="b"/>
              <a:pathLst>
                <a:path w="1472946" h="3162935">
                  <a:moveTo>
                    <a:pt x="0" y="0"/>
                  </a:moveTo>
                  <a:lnTo>
                    <a:pt x="1472946" y="0"/>
                  </a:lnTo>
                  <a:lnTo>
                    <a:pt x="1472946" y="3162935"/>
                  </a:lnTo>
                  <a:lnTo>
                    <a:pt x="0" y="3162935"/>
                  </a:lnTo>
                  <a:lnTo>
                    <a:pt x="0" y="0"/>
                  </a:lnTo>
                  <a:close/>
                </a:path>
              </a:pathLst>
            </a:custGeom>
            <a:blipFill>
              <a:blip r:embed="rId9"/>
              <a:stretch>
                <a:fillRect t="-26" b="-28"/>
              </a:stretch>
            </a:blipFill>
          </p:spPr>
          <p:txBody>
            <a:bodyPr/>
            <a:lstStyle/>
            <a:p>
              <a:endParaRPr/>
            </a:p>
          </p:txBody>
        </p:sp>
      </p:grpSp>
      <p:sp>
        <p:nvSpPr>
          <p:cNvPr id="16" name="TextBox 16"/>
          <p:cNvSpPr txBox="1"/>
          <p:nvPr/>
        </p:nvSpPr>
        <p:spPr>
          <a:xfrm>
            <a:off x="480221" y="95133"/>
            <a:ext cx="15453360" cy="1314450"/>
          </a:xfrm>
          <a:prstGeom prst="rect">
            <a:avLst/>
          </a:prstGeom>
        </p:spPr>
        <p:txBody>
          <a:bodyPr lIns="0" tIns="0" rIns="0" bIns="0" rtlCol="0" anchor="t">
            <a:spAutoFit/>
          </a:bodyPr>
          <a:lstStyle/>
          <a:p>
            <a:pPr algn="l">
              <a:lnSpc>
                <a:spcPts val="7499"/>
              </a:lnSpc>
            </a:pPr>
            <a:r>
              <a:rPr lang="en-US" sz="6600" b="1" spc="150" dirty="0">
                <a:solidFill>
                  <a:srgbClr val="172243"/>
                </a:solidFill>
                <a:latin typeface="Heading Now 31-38 Bold"/>
                <a:ea typeface="Heading Now 31-38 Bold"/>
                <a:cs typeface="Heading Now 31-38 Bold"/>
                <a:sym typeface="Heading Now 31-38 Bold"/>
              </a:rPr>
              <a:t>FEASIBILITY AND VIABILITY</a:t>
            </a:r>
          </a:p>
        </p:txBody>
      </p:sp>
      <p:grpSp>
        <p:nvGrpSpPr>
          <p:cNvPr id="17" name="Group 17"/>
          <p:cNvGrpSpPr/>
          <p:nvPr/>
        </p:nvGrpSpPr>
        <p:grpSpPr>
          <a:xfrm>
            <a:off x="457200" y="1028700"/>
            <a:ext cx="5020447" cy="535667"/>
            <a:chOff x="0" y="0"/>
            <a:chExt cx="6693929" cy="714223"/>
          </a:xfrm>
        </p:grpSpPr>
        <p:sp>
          <p:nvSpPr>
            <p:cNvPr id="18" name="Freeform 18"/>
            <p:cNvSpPr/>
            <p:nvPr/>
          </p:nvSpPr>
          <p:spPr>
            <a:xfrm>
              <a:off x="0" y="0"/>
              <a:ext cx="6693916" cy="714248"/>
            </a:xfrm>
            <a:custGeom>
              <a:avLst/>
              <a:gdLst/>
              <a:ahLst/>
              <a:cxnLst/>
              <a:rect l="l" t="t" r="r" b="b"/>
              <a:pathLst>
                <a:path w="6693916" h="714248">
                  <a:moveTo>
                    <a:pt x="0" y="0"/>
                  </a:moveTo>
                  <a:lnTo>
                    <a:pt x="6693916" y="0"/>
                  </a:lnTo>
                  <a:lnTo>
                    <a:pt x="6693916" y="714248"/>
                  </a:lnTo>
                  <a:lnTo>
                    <a:pt x="0" y="714248"/>
                  </a:lnTo>
                  <a:lnTo>
                    <a:pt x="0" y="0"/>
                  </a:lnTo>
                  <a:close/>
                </a:path>
              </a:pathLst>
            </a:custGeom>
            <a:blipFill>
              <a:blip r:embed="rId10"/>
              <a:stretch>
                <a:fillRect l="-11217" r="-11217" b="3"/>
              </a:stretch>
            </a:blipFill>
          </p:spPr>
          <p:txBody>
            <a:bodyPr/>
            <a:lstStyle/>
            <a:p>
              <a:endParaRPr/>
            </a:p>
          </p:txBody>
        </p:sp>
      </p:grpSp>
      <p:grpSp>
        <p:nvGrpSpPr>
          <p:cNvPr id="19" name="Group 19"/>
          <p:cNvGrpSpPr/>
          <p:nvPr/>
        </p:nvGrpSpPr>
        <p:grpSpPr>
          <a:xfrm>
            <a:off x="13923816" y="2160727"/>
            <a:ext cx="4364184" cy="2153602"/>
            <a:chOff x="0" y="0"/>
            <a:chExt cx="5818911" cy="2871470"/>
          </a:xfrm>
        </p:grpSpPr>
        <p:sp>
          <p:nvSpPr>
            <p:cNvPr id="20" name="Freeform 20"/>
            <p:cNvSpPr/>
            <p:nvPr/>
          </p:nvSpPr>
          <p:spPr>
            <a:xfrm>
              <a:off x="0" y="0"/>
              <a:ext cx="5818886" cy="2871470"/>
            </a:xfrm>
            <a:custGeom>
              <a:avLst/>
              <a:gdLst/>
              <a:ahLst/>
              <a:cxnLst/>
              <a:rect l="l" t="t" r="r" b="b"/>
              <a:pathLst>
                <a:path w="5818886" h="2871470">
                  <a:moveTo>
                    <a:pt x="0" y="0"/>
                  </a:moveTo>
                  <a:lnTo>
                    <a:pt x="5818886" y="0"/>
                  </a:lnTo>
                  <a:lnTo>
                    <a:pt x="5818886" y="2871470"/>
                  </a:lnTo>
                  <a:lnTo>
                    <a:pt x="0" y="2871470"/>
                  </a:lnTo>
                  <a:lnTo>
                    <a:pt x="0" y="0"/>
                  </a:lnTo>
                  <a:close/>
                </a:path>
              </a:pathLst>
            </a:custGeom>
            <a:blipFill>
              <a:blip r:embed="rId11">
                <a:alphaModFix amt="68000"/>
              </a:blip>
              <a:stretch>
                <a:fillRect t="-26" b="-26"/>
              </a:stretch>
            </a:blipFill>
          </p:spPr>
          <p:txBody>
            <a:bodyPr/>
            <a:lstStyle/>
            <a:p>
              <a:endParaRPr/>
            </a:p>
          </p:txBody>
        </p:sp>
      </p:grpSp>
      <p:grpSp>
        <p:nvGrpSpPr>
          <p:cNvPr id="21" name="Group 21"/>
          <p:cNvGrpSpPr/>
          <p:nvPr/>
        </p:nvGrpSpPr>
        <p:grpSpPr>
          <a:xfrm>
            <a:off x="16178936" y="216170"/>
            <a:ext cx="2160727" cy="2160727"/>
            <a:chOff x="0" y="0"/>
            <a:chExt cx="2880970" cy="2880970"/>
          </a:xfrm>
        </p:grpSpPr>
        <p:sp>
          <p:nvSpPr>
            <p:cNvPr id="22" name="Freeform 22"/>
            <p:cNvSpPr/>
            <p:nvPr/>
          </p:nvSpPr>
          <p:spPr>
            <a:xfrm>
              <a:off x="0" y="0"/>
              <a:ext cx="2880995" cy="2880995"/>
            </a:xfrm>
            <a:custGeom>
              <a:avLst/>
              <a:gdLst/>
              <a:ahLst/>
              <a:cxnLst/>
              <a:rect l="l" t="t" r="r" b="b"/>
              <a:pathLst>
                <a:path w="2880995" h="2880995">
                  <a:moveTo>
                    <a:pt x="0" y="0"/>
                  </a:moveTo>
                  <a:lnTo>
                    <a:pt x="2880995" y="0"/>
                  </a:lnTo>
                  <a:lnTo>
                    <a:pt x="2880995" y="2880995"/>
                  </a:lnTo>
                  <a:lnTo>
                    <a:pt x="0" y="2880995"/>
                  </a:lnTo>
                  <a:lnTo>
                    <a:pt x="0" y="0"/>
                  </a:lnTo>
                  <a:close/>
                </a:path>
              </a:pathLst>
            </a:custGeom>
            <a:blipFill>
              <a:blip r:embed="rId12"/>
              <a:stretch>
                <a:fillRect/>
              </a:stretch>
            </a:blipFill>
          </p:spPr>
          <p:txBody>
            <a:bodyPr/>
            <a:lstStyle/>
            <a:p>
              <a:endParaRPr/>
            </a:p>
          </p:txBody>
        </p:sp>
      </p:grpSp>
      <p:grpSp>
        <p:nvGrpSpPr>
          <p:cNvPr id="23" name="Group 23"/>
          <p:cNvGrpSpPr/>
          <p:nvPr/>
        </p:nvGrpSpPr>
        <p:grpSpPr>
          <a:xfrm>
            <a:off x="457200" y="1783080"/>
            <a:ext cx="15453360" cy="603504"/>
            <a:chOff x="0" y="0"/>
            <a:chExt cx="20604480" cy="804672"/>
          </a:xfrm>
        </p:grpSpPr>
        <p:sp>
          <p:nvSpPr>
            <p:cNvPr id="24" name="Freeform 24"/>
            <p:cNvSpPr/>
            <p:nvPr/>
          </p:nvSpPr>
          <p:spPr>
            <a:xfrm>
              <a:off x="0" y="0"/>
              <a:ext cx="20604480" cy="804672"/>
            </a:xfrm>
            <a:custGeom>
              <a:avLst/>
              <a:gdLst/>
              <a:ahLst/>
              <a:cxnLst/>
              <a:rect l="l" t="t" r="r" b="b"/>
              <a:pathLst>
                <a:path w="20604480" h="804672">
                  <a:moveTo>
                    <a:pt x="0" y="241427"/>
                  </a:moveTo>
                  <a:cubicBezTo>
                    <a:pt x="0" y="108077"/>
                    <a:pt x="108077" y="0"/>
                    <a:pt x="241427" y="0"/>
                  </a:cubicBezTo>
                  <a:lnTo>
                    <a:pt x="20363053" y="0"/>
                  </a:lnTo>
                  <a:cubicBezTo>
                    <a:pt x="20496403" y="0"/>
                    <a:pt x="20604480" y="108077"/>
                    <a:pt x="20604480" y="241427"/>
                  </a:cubicBezTo>
                  <a:lnTo>
                    <a:pt x="20604480" y="563245"/>
                  </a:lnTo>
                  <a:cubicBezTo>
                    <a:pt x="20604480" y="696595"/>
                    <a:pt x="20496403" y="804672"/>
                    <a:pt x="20363053" y="804672"/>
                  </a:cubicBezTo>
                  <a:lnTo>
                    <a:pt x="241427" y="804672"/>
                  </a:lnTo>
                  <a:cubicBezTo>
                    <a:pt x="108077" y="804672"/>
                    <a:pt x="0" y="696595"/>
                    <a:pt x="0" y="563245"/>
                  </a:cubicBezTo>
                  <a:close/>
                </a:path>
              </a:pathLst>
            </a:custGeom>
            <a:solidFill>
              <a:srgbClr val="172243"/>
            </a:solidFill>
          </p:spPr>
          <p:txBody>
            <a:bodyPr/>
            <a:lstStyle/>
            <a:p>
              <a:endParaRPr/>
            </a:p>
          </p:txBody>
        </p:sp>
        <p:sp>
          <p:nvSpPr>
            <p:cNvPr id="25" name="TextBox 25"/>
            <p:cNvSpPr txBox="1"/>
            <p:nvPr/>
          </p:nvSpPr>
          <p:spPr>
            <a:xfrm>
              <a:off x="0" y="-38100"/>
              <a:ext cx="20604480" cy="842772"/>
            </a:xfrm>
            <a:prstGeom prst="rect">
              <a:avLst/>
            </a:prstGeom>
          </p:spPr>
          <p:txBody>
            <a:bodyPr lIns="50800" tIns="50800" rIns="50800" bIns="50800" rtlCol="0" anchor="ctr"/>
            <a:lstStyle/>
            <a:p>
              <a:pPr algn="l">
                <a:lnSpc>
                  <a:spcPts val="2879"/>
                </a:lnSpc>
              </a:pPr>
              <a:r>
                <a:rPr lang="en-US" sz="2400" b="1">
                  <a:solidFill>
                    <a:srgbClr val="FFFFFF"/>
                  </a:solidFill>
                  <a:latin typeface="Calibri (MS) Bold"/>
                  <a:ea typeface="Calibri (MS) Bold"/>
                  <a:cs typeface="Calibri (MS) Bold"/>
                  <a:sym typeface="Calibri (MS) Bold"/>
                </a:rPr>
                <a:t>Most modules are already built; remaining effort is verification, polish and reporting measured test results.</a:t>
              </a:r>
            </a:p>
          </p:txBody>
        </p:sp>
      </p:grpSp>
      <p:sp>
        <p:nvSpPr>
          <p:cNvPr id="26" name="AutoShape 26"/>
          <p:cNvSpPr/>
          <p:nvPr/>
        </p:nvSpPr>
        <p:spPr>
          <a:xfrm>
            <a:off x="9105926" y="2698679"/>
            <a:ext cx="28549" cy="7435217"/>
          </a:xfrm>
          <a:prstGeom prst="line">
            <a:avLst/>
          </a:prstGeom>
          <a:ln w="19050" cap="rnd">
            <a:solidFill>
              <a:srgbClr val="172243"/>
            </a:solidFill>
            <a:prstDash val="solid"/>
            <a:headEnd type="none" w="sm" len="sm"/>
            <a:tailEnd type="none" w="sm" len="sm"/>
          </a:ln>
        </p:spPr>
        <p:txBody>
          <a:bodyPr/>
          <a:lstStyle/>
          <a:p>
            <a:endParaRPr/>
          </a:p>
        </p:txBody>
      </p:sp>
      <p:grpSp>
        <p:nvGrpSpPr>
          <p:cNvPr id="27" name="Group 27"/>
          <p:cNvGrpSpPr/>
          <p:nvPr/>
        </p:nvGrpSpPr>
        <p:grpSpPr>
          <a:xfrm>
            <a:off x="457200" y="2606040"/>
            <a:ext cx="8412480" cy="566928"/>
            <a:chOff x="0" y="0"/>
            <a:chExt cx="11216640" cy="755904"/>
          </a:xfrm>
        </p:grpSpPr>
        <p:sp>
          <p:nvSpPr>
            <p:cNvPr id="28" name="Freeform 28"/>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txBody>
            <a:bodyPr/>
            <a:lstStyle/>
            <a:p>
              <a:endParaRPr/>
            </a:p>
          </p:txBody>
        </p:sp>
        <p:sp>
          <p:nvSpPr>
            <p:cNvPr id="29" name="TextBox 29"/>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WHY IT IS FEASIBLE AND VIABLE</a:t>
              </a:r>
            </a:p>
          </p:txBody>
        </p:sp>
      </p:grpSp>
      <p:grpSp>
        <p:nvGrpSpPr>
          <p:cNvPr id="30" name="Group 30"/>
          <p:cNvGrpSpPr/>
          <p:nvPr/>
        </p:nvGrpSpPr>
        <p:grpSpPr>
          <a:xfrm>
            <a:off x="457200" y="3310128"/>
            <a:ext cx="2000250" cy="1874520"/>
            <a:chOff x="0" y="0"/>
            <a:chExt cx="2667000" cy="2499360"/>
          </a:xfrm>
        </p:grpSpPr>
        <p:sp>
          <p:nvSpPr>
            <p:cNvPr id="31" name="Freeform 31"/>
            <p:cNvSpPr/>
            <p:nvPr/>
          </p:nvSpPr>
          <p:spPr>
            <a:xfrm>
              <a:off x="0" y="0"/>
              <a:ext cx="2667000" cy="2499360"/>
            </a:xfrm>
            <a:custGeom>
              <a:avLst/>
              <a:gdLst/>
              <a:ahLst/>
              <a:cxnLst/>
              <a:rect l="l" t="t" r="r" b="b"/>
              <a:pathLst>
                <a:path w="2667000" h="2499360">
                  <a:moveTo>
                    <a:pt x="0" y="149987"/>
                  </a:moveTo>
                  <a:cubicBezTo>
                    <a:pt x="0" y="67183"/>
                    <a:pt x="67183" y="0"/>
                    <a:pt x="149987" y="0"/>
                  </a:cubicBezTo>
                  <a:lnTo>
                    <a:pt x="2517013" y="0"/>
                  </a:lnTo>
                  <a:cubicBezTo>
                    <a:pt x="2599817" y="0"/>
                    <a:pt x="2667000" y="67183"/>
                    <a:pt x="2667000" y="149987"/>
                  </a:cubicBezTo>
                  <a:lnTo>
                    <a:pt x="2667000" y="2349373"/>
                  </a:lnTo>
                  <a:cubicBezTo>
                    <a:pt x="2667000" y="2432177"/>
                    <a:pt x="2599817" y="2499360"/>
                    <a:pt x="2517013" y="2499360"/>
                  </a:cubicBezTo>
                  <a:lnTo>
                    <a:pt x="149987" y="2499360"/>
                  </a:lnTo>
                  <a:cubicBezTo>
                    <a:pt x="67183" y="2499360"/>
                    <a:pt x="0" y="2432177"/>
                    <a:pt x="0" y="2349373"/>
                  </a:cubicBezTo>
                  <a:close/>
                </a:path>
              </a:pathLst>
            </a:custGeom>
            <a:solidFill>
              <a:srgbClr val="172243"/>
            </a:solidFill>
          </p:spPr>
          <p:txBody>
            <a:bodyPr/>
            <a:lstStyle/>
            <a:p>
              <a:endParaRPr/>
            </a:p>
          </p:txBody>
        </p:sp>
        <p:sp>
          <p:nvSpPr>
            <p:cNvPr id="32" name="TextBox 32"/>
            <p:cNvSpPr txBox="1"/>
            <p:nvPr/>
          </p:nvSpPr>
          <p:spPr>
            <a:xfrm>
              <a:off x="0" y="-85725"/>
              <a:ext cx="2667000" cy="2585085"/>
            </a:xfrm>
            <a:prstGeom prst="rect">
              <a:avLst/>
            </a:prstGeom>
          </p:spPr>
          <p:txBody>
            <a:bodyPr lIns="50800" tIns="50800" rIns="50800" bIns="50800" rtlCol="0" anchor="t"/>
            <a:lstStyle/>
            <a:p>
              <a:pPr algn="l">
                <a:lnSpc>
                  <a:spcPts val="4920"/>
                </a:lnSpc>
              </a:pPr>
              <a:r>
                <a:rPr lang="en-US" sz="4100" b="1">
                  <a:solidFill>
                    <a:srgbClr val="FFFFFF"/>
                  </a:solidFill>
                  <a:latin typeface="Calibri (MS) Bold"/>
                  <a:ea typeface="Calibri (MS) Bold"/>
                  <a:cs typeface="Calibri (MS) Bold"/>
                  <a:sym typeface="Calibri (MS) Bold"/>
                </a:rPr>
                <a:t>Most</a:t>
              </a:r>
            </a:p>
            <a:p>
              <a:pPr algn="l">
                <a:lnSpc>
                  <a:spcPts val="1919"/>
                </a:lnSpc>
              </a:pPr>
              <a:r>
                <a:rPr lang="en-US" sz="1599">
                  <a:solidFill>
                    <a:srgbClr val="D9DDF0"/>
                  </a:solidFill>
                  <a:latin typeface="Calibri (MS)"/>
                  <a:ea typeface="Calibri (MS)"/>
                  <a:cs typeface="Calibri (MS)"/>
                  <a:sym typeface="Calibri (MS)"/>
                </a:rPr>
                <a:t>modules already built in the working prototype</a:t>
              </a:r>
            </a:p>
          </p:txBody>
        </p:sp>
      </p:grpSp>
      <p:grpSp>
        <p:nvGrpSpPr>
          <p:cNvPr id="33" name="Group 33"/>
          <p:cNvGrpSpPr/>
          <p:nvPr/>
        </p:nvGrpSpPr>
        <p:grpSpPr>
          <a:xfrm>
            <a:off x="2588257" y="3303775"/>
            <a:ext cx="2012947" cy="1887217"/>
            <a:chOff x="0" y="0"/>
            <a:chExt cx="2683929" cy="2516289"/>
          </a:xfrm>
        </p:grpSpPr>
        <p:sp>
          <p:nvSpPr>
            <p:cNvPr id="34" name="Freeform 34"/>
            <p:cNvSpPr/>
            <p:nvPr/>
          </p:nvSpPr>
          <p:spPr>
            <a:xfrm>
              <a:off x="0" y="0"/>
              <a:ext cx="2684018" cy="2516378"/>
            </a:xfrm>
            <a:custGeom>
              <a:avLst/>
              <a:gdLst/>
              <a:ahLst/>
              <a:cxnLst/>
              <a:rect l="l" t="t" r="r" b="b"/>
              <a:pathLst>
                <a:path w="2684018" h="2516378">
                  <a:moveTo>
                    <a:pt x="0" y="151003"/>
                  </a:moveTo>
                  <a:cubicBezTo>
                    <a:pt x="0" y="67564"/>
                    <a:pt x="67564" y="0"/>
                    <a:pt x="151003" y="0"/>
                  </a:cubicBezTo>
                  <a:lnTo>
                    <a:pt x="2533015" y="0"/>
                  </a:lnTo>
                  <a:cubicBezTo>
                    <a:pt x="2616454" y="0"/>
                    <a:pt x="2684018" y="67564"/>
                    <a:pt x="2684018" y="151003"/>
                  </a:cubicBezTo>
                  <a:lnTo>
                    <a:pt x="2684018" y="2365375"/>
                  </a:lnTo>
                  <a:cubicBezTo>
                    <a:pt x="2684018" y="2448814"/>
                    <a:pt x="2616454" y="2516378"/>
                    <a:pt x="2533015" y="2516378"/>
                  </a:cubicBezTo>
                  <a:lnTo>
                    <a:pt x="151003" y="2516378"/>
                  </a:lnTo>
                  <a:cubicBezTo>
                    <a:pt x="67564" y="2516251"/>
                    <a:pt x="0" y="2448687"/>
                    <a:pt x="0" y="2365375"/>
                  </a:cubicBezTo>
                  <a:close/>
                </a:path>
              </a:pathLst>
            </a:custGeom>
            <a:solidFill>
              <a:srgbClr val="FFFFFF"/>
            </a:solidFill>
            <a:ln w="12700" cap="sq">
              <a:solidFill>
                <a:srgbClr val="D7D0E6"/>
              </a:solidFill>
              <a:prstDash val="solid"/>
              <a:miter/>
            </a:ln>
          </p:spPr>
          <p:txBody>
            <a:bodyPr/>
            <a:lstStyle/>
            <a:p>
              <a:endParaRPr/>
            </a:p>
          </p:txBody>
        </p:sp>
        <p:sp>
          <p:nvSpPr>
            <p:cNvPr id="35" name="TextBox 35"/>
            <p:cNvSpPr txBox="1"/>
            <p:nvPr/>
          </p:nvSpPr>
          <p:spPr>
            <a:xfrm>
              <a:off x="0" y="-85725"/>
              <a:ext cx="2683929" cy="2602014"/>
            </a:xfrm>
            <a:prstGeom prst="rect">
              <a:avLst/>
            </a:prstGeom>
          </p:spPr>
          <p:txBody>
            <a:bodyPr lIns="50800" tIns="50800" rIns="50800" bIns="50800" rtlCol="0" anchor="t"/>
            <a:lstStyle/>
            <a:p>
              <a:pPr algn="l">
                <a:lnSpc>
                  <a:spcPts val="4920"/>
                </a:lnSpc>
              </a:pPr>
              <a:r>
                <a:rPr lang="en-US" sz="4100" b="1">
                  <a:solidFill>
                    <a:srgbClr val="172243"/>
                  </a:solidFill>
                  <a:latin typeface="Calibri (MS) Bold"/>
                  <a:ea typeface="Calibri (MS) Bold"/>
                  <a:cs typeface="Calibri (MS) Bold"/>
                  <a:sym typeface="Calibri (MS) Bold"/>
                </a:rPr>
                <a:t>8</a:t>
              </a:r>
            </a:p>
            <a:p>
              <a:pPr algn="l">
                <a:lnSpc>
                  <a:spcPts val="1919"/>
                </a:lnSpc>
              </a:pPr>
              <a:r>
                <a:rPr lang="en-US" sz="1599">
                  <a:solidFill>
                    <a:srgbClr val="1B2440"/>
                  </a:solidFill>
                  <a:latin typeface="Calibri (MS)"/>
                  <a:ea typeface="Calibri (MS)"/>
                  <a:cs typeface="Calibri (MS)"/>
                  <a:sym typeface="Calibri (MS)"/>
                </a:rPr>
                <a:t>eligibility test scenarios incl. boundary + missing-data cases</a:t>
              </a:r>
            </a:p>
          </p:txBody>
        </p:sp>
      </p:grpSp>
      <p:grpSp>
        <p:nvGrpSpPr>
          <p:cNvPr id="36" name="Group 36"/>
          <p:cNvGrpSpPr/>
          <p:nvPr/>
        </p:nvGrpSpPr>
        <p:grpSpPr>
          <a:xfrm>
            <a:off x="4725667" y="3303775"/>
            <a:ext cx="2012947" cy="1887217"/>
            <a:chOff x="0" y="0"/>
            <a:chExt cx="2683929" cy="2516289"/>
          </a:xfrm>
        </p:grpSpPr>
        <p:sp>
          <p:nvSpPr>
            <p:cNvPr id="37" name="Freeform 37"/>
            <p:cNvSpPr/>
            <p:nvPr/>
          </p:nvSpPr>
          <p:spPr>
            <a:xfrm>
              <a:off x="0" y="0"/>
              <a:ext cx="2684018" cy="2516378"/>
            </a:xfrm>
            <a:custGeom>
              <a:avLst/>
              <a:gdLst/>
              <a:ahLst/>
              <a:cxnLst/>
              <a:rect l="l" t="t" r="r" b="b"/>
              <a:pathLst>
                <a:path w="2684018" h="2516378">
                  <a:moveTo>
                    <a:pt x="0" y="151003"/>
                  </a:moveTo>
                  <a:cubicBezTo>
                    <a:pt x="0" y="67564"/>
                    <a:pt x="67564" y="0"/>
                    <a:pt x="151003" y="0"/>
                  </a:cubicBezTo>
                  <a:lnTo>
                    <a:pt x="2533015" y="0"/>
                  </a:lnTo>
                  <a:cubicBezTo>
                    <a:pt x="2616454" y="0"/>
                    <a:pt x="2684018" y="67564"/>
                    <a:pt x="2684018" y="151003"/>
                  </a:cubicBezTo>
                  <a:lnTo>
                    <a:pt x="2684018" y="2365375"/>
                  </a:lnTo>
                  <a:cubicBezTo>
                    <a:pt x="2684018" y="2448814"/>
                    <a:pt x="2616454" y="2516378"/>
                    <a:pt x="2533015" y="2516378"/>
                  </a:cubicBezTo>
                  <a:lnTo>
                    <a:pt x="151003" y="2516378"/>
                  </a:lnTo>
                  <a:cubicBezTo>
                    <a:pt x="67564" y="2516251"/>
                    <a:pt x="0" y="2448687"/>
                    <a:pt x="0" y="2365375"/>
                  </a:cubicBezTo>
                  <a:close/>
                </a:path>
              </a:pathLst>
            </a:custGeom>
            <a:solidFill>
              <a:srgbClr val="FFFFFF"/>
            </a:solidFill>
            <a:ln w="12700" cap="sq">
              <a:solidFill>
                <a:srgbClr val="D7D0E6"/>
              </a:solidFill>
              <a:prstDash val="solid"/>
              <a:miter/>
            </a:ln>
          </p:spPr>
          <p:txBody>
            <a:bodyPr/>
            <a:lstStyle/>
            <a:p>
              <a:endParaRPr/>
            </a:p>
          </p:txBody>
        </p:sp>
        <p:sp>
          <p:nvSpPr>
            <p:cNvPr id="38" name="TextBox 38"/>
            <p:cNvSpPr txBox="1"/>
            <p:nvPr/>
          </p:nvSpPr>
          <p:spPr>
            <a:xfrm>
              <a:off x="0" y="-85725"/>
              <a:ext cx="2683929" cy="2602014"/>
            </a:xfrm>
            <a:prstGeom prst="rect">
              <a:avLst/>
            </a:prstGeom>
          </p:spPr>
          <p:txBody>
            <a:bodyPr lIns="50800" tIns="50800" rIns="50800" bIns="50800" rtlCol="0" anchor="t"/>
            <a:lstStyle/>
            <a:p>
              <a:pPr algn="l">
                <a:lnSpc>
                  <a:spcPts val="4920"/>
                </a:lnSpc>
              </a:pPr>
              <a:r>
                <a:rPr lang="en-US" sz="4100" b="1">
                  <a:solidFill>
                    <a:srgbClr val="172243"/>
                  </a:solidFill>
                  <a:latin typeface="Calibri (MS) Bold"/>
                  <a:ea typeface="Calibri (MS) Bold"/>
                  <a:cs typeface="Calibri (MS) Bold"/>
                  <a:sym typeface="Calibri (MS) Bold"/>
                </a:rPr>
                <a:t>0</a:t>
              </a:r>
            </a:p>
            <a:p>
              <a:pPr algn="l">
                <a:lnSpc>
                  <a:spcPts val="1919"/>
                </a:lnSpc>
              </a:pPr>
              <a:r>
                <a:rPr lang="en-US" sz="1599">
                  <a:solidFill>
                    <a:srgbClr val="1B2440"/>
                  </a:solidFill>
                  <a:latin typeface="Calibri (MS)"/>
                  <a:ea typeface="Calibri (MS)"/>
                  <a:cs typeface="Calibri (MS)"/>
                  <a:sym typeface="Calibri (MS)"/>
                </a:rPr>
                <a:t>eligibility violations targeted on the test suite</a:t>
              </a:r>
            </a:p>
          </p:txBody>
        </p:sp>
      </p:grpSp>
      <p:grpSp>
        <p:nvGrpSpPr>
          <p:cNvPr id="39" name="Group 39"/>
          <p:cNvGrpSpPr/>
          <p:nvPr/>
        </p:nvGrpSpPr>
        <p:grpSpPr>
          <a:xfrm>
            <a:off x="6863077" y="3303775"/>
            <a:ext cx="2012947" cy="1887217"/>
            <a:chOff x="0" y="0"/>
            <a:chExt cx="2683929" cy="2516289"/>
          </a:xfrm>
        </p:grpSpPr>
        <p:sp>
          <p:nvSpPr>
            <p:cNvPr id="40" name="Freeform 40"/>
            <p:cNvSpPr/>
            <p:nvPr/>
          </p:nvSpPr>
          <p:spPr>
            <a:xfrm>
              <a:off x="0" y="0"/>
              <a:ext cx="2684018" cy="2516378"/>
            </a:xfrm>
            <a:custGeom>
              <a:avLst/>
              <a:gdLst/>
              <a:ahLst/>
              <a:cxnLst/>
              <a:rect l="l" t="t" r="r" b="b"/>
              <a:pathLst>
                <a:path w="2684018" h="2516378">
                  <a:moveTo>
                    <a:pt x="0" y="151003"/>
                  </a:moveTo>
                  <a:cubicBezTo>
                    <a:pt x="0" y="67564"/>
                    <a:pt x="67564" y="0"/>
                    <a:pt x="151003" y="0"/>
                  </a:cubicBezTo>
                  <a:lnTo>
                    <a:pt x="2533015" y="0"/>
                  </a:lnTo>
                  <a:cubicBezTo>
                    <a:pt x="2616454" y="0"/>
                    <a:pt x="2684018" y="67564"/>
                    <a:pt x="2684018" y="151003"/>
                  </a:cubicBezTo>
                  <a:lnTo>
                    <a:pt x="2684018" y="2365375"/>
                  </a:lnTo>
                  <a:cubicBezTo>
                    <a:pt x="2684018" y="2448814"/>
                    <a:pt x="2616454" y="2516378"/>
                    <a:pt x="2533015" y="2516378"/>
                  </a:cubicBezTo>
                  <a:lnTo>
                    <a:pt x="151003" y="2516378"/>
                  </a:lnTo>
                  <a:cubicBezTo>
                    <a:pt x="67564" y="2516251"/>
                    <a:pt x="0" y="2448687"/>
                    <a:pt x="0" y="2365375"/>
                  </a:cubicBezTo>
                  <a:close/>
                </a:path>
              </a:pathLst>
            </a:custGeom>
            <a:solidFill>
              <a:srgbClr val="FFFFFF"/>
            </a:solidFill>
            <a:ln w="12700" cap="sq">
              <a:solidFill>
                <a:srgbClr val="D7D0E6"/>
              </a:solidFill>
              <a:prstDash val="solid"/>
              <a:miter/>
            </a:ln>
          </p:spPr>
          <p:txBody>
            <a:bodyPr/>
            <a:lstStyle/>
            <a:p>
              <a:endParaRPr/>
            </a:p>
          </p:txBody>
        </p:sp>
        <p:sp>
          <p:nvSpPr>
            <p:cNvPr id="41" name="TextBox 41"/>
            <p:cNvSpPr txBox="1"/>
            <p:nvPr/>
          </p:nvSpPr>
          <p:spPr>
            <a:xfrm>
              <a:off x="0" y="-85725"/>
              <a:ext cx="2683929" cy="2602014"/>
            </a:xfrm>
            <a:prstGeom prst="rect">
              <a:avLst/>
            </a:prstGeom>
          </p:spPr>
          <p:txBody>
            <a:bodyPr lIns="50800" tIns="50800" rIns="50800" bIns="50800" rtlCol="0" anchor="t"/>
            <a:lstStyle/>
            <a:p>
              <a:pPr algn="l">
                <a:lnSpc>
                  <a:spcPts val="4920"/>
                </a:lnSpc>
              </a:pPr>
              <a:r>
                <a:rPr lang="en-US" sz="4100" b="1">
                  <a:solidFill>
                    <a:srgbClr val="172243"/>
                  </a:solidFill>
                  <a:latin typeface="Calibri (MS) Bold"/>
                  <a:ea typeface="Calibri (MS) Bold"/>
                  <a:cs typeface="Calibri (MS) Bold"/>
                  <a:sym typeface="Calibri (MS) Bold"/>
                </a:rPr>
                <a:t>100%</a:t>
              </a:r>
            </a:p>
            <a:p>
              <a:pPr algn="l">
                <a:lnSpc>
                  <a:spcPts val="1919"/>
                </a:lnSpc>
              </a:pPr>
              <a:r>
                <a:rPr lang="en-US" sz="1599">
                  <a:solidFill>
                    <a:srgbClr val="1B2440"/>
                  </a:solidFill>
                  <a:latin typeface="Calibri (MS)"/>
                  <a:ea typeface="Calibri (MS)"/>
                  <a:cs typeface="Calibri (MS)"/>
                  <a:sym typeface="Calibri (MS)"/>
                </a:rPr>
                <a:t>of displayed results targeted to carry a grounded explanation</a:t>
              </a:r>
            </a:p>
          </p:txBody>
        </p:sp>
      </p:grpSp>
      <p:grpSp>
        <p:nvGrpSpPr>
          <p:cNvPr id="42" name="Group 42"/>
          <p:cNvGrpSpPr/>
          <p:nvPr/>
        </p:nvGrpSpPr>
        <p:grpSpPr>
          <a:xfrm>
            <a:off x="450847" y="5361175"/>
            <a:ext cx="8425177" cy="2527297"/>
            <a:chOff x="0" y="0"/>
            <a:chExt cx="11233569" cy="3369729"/>
          </a:xfrm>
        </p:grpSpPr>
        <p:sp>
          <p:nvSpPr>
            <p:cNvPr id="43" name="Freeform 43"/>
            <p:cNvSpPr/>
            <p:nvPr/>
          </p:nvSpPr>
          <p:spPr>
            <a:xfrm>
              <a:off x="0" y="0"/>
              <a:ext cx="11233531" cy="3369691"/>
            </a:xfrm>
            <a:custGeom>
              <a:avLst/>
              <a:gdLst/>
              <a:ahLst/>
              <a:cxnLst/>
              <a:rect l="l" t="t" r="r" b="b"/>
              <a:pathLst>
                <a:path w="11233531" h="3369691">
                  <a:moveTo>
                    <a:pt x="0" y="202184"/>
                  </a:moveTo>
                  <a:cubicBezTo>
                    <a:pt x="0" y="90551"/>
                    <a:pt x="90551" y="0"/>
                    <a:pt x="202184" y="0"/>
                  </a:cubicBezTo>
                  <a:lnTo>
                    <a:pt x="11031347" y="0"/>
                  </a:lnTo>
                  <a:cubicBezTo>
                    <a:pt x="11142980" y="0"/>
                    <a:pt x="11233531" y="90551"/>
                    <a:pt x="11233531" y="202184"/>
                  </a:cubicBezTo>
                  <a:lnTo>
                    <a:pt x="11233531" y="3167507"/>
                  </a:lnTo>
                  <a:cubicBezTo>
                    <a:pt x="11233531" y="3279140"/>
                    <a:pt x="11142980" y="3369691"/>
                    <a:pt x="11031347" y="3369691"/>
                  </a:cubicBezTo>
                  <a:lnTo>
                    <a:pt x="202184" y="3369691"/>
                  </a:lnTo>
                  <a:cubicBezTo>
                    <a:pt x="90551" y="3369691"/>
                    <a:pt x="0" y="3279267"/>
                    <a:pt x="0" y="3167507"/>
                  </a:cubicBezTo>
                  <a:close/>
                </a:path>
              </a:pathLst>
            </a:custGeom>
            <a:solidFill>
              <a:srgbClr val="FFFFFF"/>
            </a:solidFill>
            <a:ln w="12700" cap="sq">
              <a:solidFill>
                <a:srgbClr val="D7D0E6"/>
              </a:solidFill>
              <a:prstDash val="solid"/>
              <a:miter/>
            </a:ln>
          </p:spPr>
          <p:txBody>
            <a:bodyPr/>
            <a:lstStyle/>
            <a:p>
              <a:endParaRPr/>
            </a:p>
          </p:txBody>
        </p:sp>
        <p:sp>
          <p:nvSpPr>
            <p:cNvPr id="44" name="TextBox 44"/>
            <p:cNvSpPr txBox="1"/>
            <p:nvPr/>
          </p:nvSpPr>
          <p:spPr>
            <a:xfrm>
              <a:off x="0" y="-38100"/>
              <a:ext cx="11233569" cy="3407829"/>
            </a:xfrm>
            <a:prstGeom prst="rect">
              <a:avLst/>
            </a:prstGeom>
          </p:spPr>
          <p:txBody>
            <a:bodyPr lIns="50800" tIns="50800" rIns="50800" bIns="50800" rtlCol="0" anchor="t"/>
            <a:lstStyle/>
            <a:p>
              <a:pPr algn="l">
                <a:lnSpc>
                  <a:spcPts val="2879"/>
                </a:lnSpc>
              </a:pPr>
              <a:r>
                <a:rPr lang="en-US" sz="2400" b="1">
                  <a:solidFill>
                    <a:srgbClr val="172243"/>
                  </a:solidFill>
                  <a:latin typeface="Calibri (MS) Bold"/>
                  <a:ea typeface="Calibri (MS) Bold"/>
                  <a:cs typeface="Calibri (MS) Bold"/>
                  <a:sym typeface="Calibri (MS) Bold"/>
                </a:rPr>
                <a:t>Why it is feasible</a:t>
              </a:r>
            </a:p>
            <a:p>
              <a:pPr marL="229235" lvl="1" indent="-114617" algn="l">
                <a:lnSpc>
                  <a:spcPts val="2279"/>
                </a:lnSpc>
                <a:buFont typeface="Arial"/>
                <a:buChar char="•"/>
              </a:pPr>
              <a:r>
                <a:rPr lang="en-US" sz="1899">
                  <a:solidFill>
                    <a:srgbClr val="1B2440"/>
                  </a:solidFill>
                  <a:latin typeface="Calibri (MS)"/>
                  <a:ea typeface="Calibri (MS)"/>
                  <a:cs typeface="Calibri (MS)"/>
                  <a:sym typeface="Calibri (MS)"/>
                </a:rPr>
                <a:t>Mainstream stack: Next.js, Node + Express, MongoDB</a:t>
              </a:r>
            </a:p>
            <a:p>
              <a:pPr marL="229235" lvl="1" indent="-114617" algn="l">
                <a:lnSpc>
                  <a:spcPts val="2279"/>
                </a:lnSpc>
                <a:buFont typeface="Arial"/>
                <a:buChar char="•"/>
              </a:pPr>
              <a:r>
                <a:rPr lang="en-US" sz="1899">
                  <a:solidFill>
                    <a:srgbClr val="1B2440"/>
                  </a:solidFill>
                  <a:latin typeface="Calibri (MS)"/>
                  <a:ea typeface="Calibri (MS)"/>
                  <a:cs typeface="Calibri (MS)"/>
                  <a:sym typeface="Calibri (MS)"/>
                </a:rPr>
                <a:t>Eligibility core is plain, testable rules; no model training</a:t>
              </a:r>
            </a:p>
            <a:p>
              <a:pPr marL="229235" lvl="1" indent="-114617" algn="l">
                <a:lnSpc>
                  <a:spcPts val="2279"/>
                </a:lnSpc>
                <a:buFont typeface="Arial"/>
                <a:buChar char="•"/>
              </a:pPr>
              <a:r>
                <a:rPr lang="en-US" sz="1899">
                  <a:solidFill>
                    <a:srgbClr val="1B2440"/>
                  </a:solidFill>
                  <a:latin typeface="Calibri (MS)"/>
                  <a:ea typeface="Calibri (MS)"/>
                  <a:cs typeface="Calibri (MS)"/>
                  <a:sym typeface="Calibri (MS)"/>
                </a:rPr>
                <a:t>AI sits behind server-side adapters with timeouts, caching and labelled demo modes</a:t>
              </a:r>
            </a:p>
            <a:p>
              <a:pPr marL="229235" lvl="1" indent="-114617" algn="l">
                <a:lnSpc>
                  <a:spcPts val="2279"/>
                </a:lnSpc>
                <a:buFont typeface="Arial"/>
                <a:buChar char="•"/>
              </a:pPr>
              <a:r>
                <a:rPr lang="en-US" sz="1899">
                  <a:solidFill>
                    <a:srgbClr val="1B2440"/>
                  </a:solidFill>
                  <a:latin typeface="Calibri (MS)"/>
                  <a:ea typeface="Calibri (MS)"/>
                  <a:cs typeface="Calibri (MS)"/>
                  <a:sym typeface="Calibri (MS)"/>
                </a:rPr>
                <a:t>Fits a 12-hour build: seeded opportunities, team catalogue, no scraping or live course APIs</a:t>
              </a:r>
            </a:p>
            <a:p>
              <a:pPr marL="229235" lvl="1" indent="-114617" algn="l">
                <a:lnSpc>
                  <a:spcPts val="2279"/>
                </a:lnSpc>
                <a:buFont typeface="Arial"/>
                <a:buChar char="•"/>
              </a:pPr>
              <a:r>
                <a:rPr lang="en-US" sz="1899">
                  <a:solidFill>
                    <a:srgbClr val="1B2440"/>
                  </a:solidFill>
                  <a:latin typeface="Calibri (MS)"/>
                  <a:ea typeface="Calibri (MS)"/>
                  <a:cs typeface="Calibri (MS)"/>
                  <a:sym typeface="Calibri (MS)"/>
                </a:rPr>
                <a:t>MVP scope: manual opportunities, curated catalogue</a:t>
              </a:r>
            </a:p>
          </p:txBody>
        </p:sp>
      </p:grpSp>
      <p:grpSp>
        <p:nvGrpSpPr>
          <p:cNvPr id="45" name="Group 45"/>
          <p:cNvGrpSpPr/>
          <p:nvPr/>
        </p:nvGrpSpPr>
        <p:grpSpPr>
          <a:xfrm>
            <a:off x="457200" y="8065008"/>
            <a:ext cx="8412480" cy="1947672"/>
            <a:chOff x="0" y="0"/>
            <a:chExt cx="11216640" cy="2596896"/>
          </a:xfrm>
        </p:grpSpPr>
        <p:sp>
          <p:nvSpPr>
            <p:cNvPr id="46" name="Freeform 46"/>
            <p:cNvSpPr/>
            <p:nvPr/>
          </p:nvSpPr>
          <p:spPr>
            <a:xfrm>
              <a:off x="0" y="0"/>
              <a:ext cx="11216640" cy="2596896"/>
            </a:xfrm>
            <a:custGeom>
              <a:avLst/>
              <a:gdLst/>
              <a:ahLst/>
              <a:cxnLst/>
              <a:rect l="l" t="t" r="r" b="b"/>
              <a:pathLst>
                <a:path w="11216640" h="2596896">
                  <a:moveTo>
                    <a:pt x="0" y="155829"/>
                  </a:moveTo>
                  <a:cubicBezTo>
                    <a:pt x="0" y="69723"/>
                    <a:pt x="69723" y="0"/>
                    <a:pt x="155829" y="0"/>
                  </a:cubicBezTo>
                  <a:lnTo>
                    <a:pt x="11060811" y="0"/>
                  </a:lnTo>
                  <a:cubicBezTo>
                    <a:pt x="11146917" y="0"/>
                    <a:pt x="11216640" y="69723"/>
                    <a:pt x="11216640" y="155829"/>
                  </a:cubicBezTo>
                  <a:lnTo>
                    <a:pt x="11216640" y="2441067"/>
                  </a:lnTo>
                  <a:cubicBezTo>
                    <a:pt x="11216640" y="2527173"/>
                    <a:pt x="11146917" y="2596896"/>
                    <a:pt x="11060811" y="2596896"/>
                  </a:cubicBezTo>
                  <a:lnTo>
                    <a:pt x="155829" y="2596896"/>
                  </a:lnTo>
                  <a:cubicBezTo>
                    <a:pt x="69723" y="2596896"/>
                    <a:pt x="0" y="2527173"/>
                    <a:pt x="0" y="2441067"/>
                  </a:cubicBezTo>
                  <a:close/>
                </a:path>
              </a:pathLst>
            </a:custGeom>
            <a:solidFill>
              <a:srgbClr val="ECE7F6"/>
            </a:solidFill>
          </p:spPr>
          <p:txBody>
            <a:bodyPr/>
            <a:lstStyle/>
            <a:p>
              <a:endParaRPr/>
            </a:p>
          </p:txBody>
        </p:sp>
        <p:sp>
          <p:nvSpPr>
            <p:cNvPr id="47" name="TextBox 47"/>
            <p:cNvSpPr txBox="1"/>
            <p:nvPr/>
          </p:nvSpPr>
          <p:spPr>
            <a:xfrm>
              <a:off x="0" y="-38100"/>
              <a:ext cx="11216640" cy="2634996"/>
            </a:xfrm>
            <a:prstGeom prst="rect">
              <a:avLst/>
            </a:prstGeom>
          </p:spPr>
          <p:txBody>
            <a:bodyPr lIns="50800" tIns="50800" rIns="50800" bIns="50800" rtlCol="0" anchor="t"/>
            <a:lstStyle/>
            <a:p>
              <a:pPr algn="l">
                <a:lnSpc>
                  <a:spcPts val="2879"/>
                </a:lnSpc>
              </a:pPr>
              <a:r>
                <a:rPr lang="en-US" sz="2400" b="1">
                  <a:solidFill>
                    <a:srgbClr val="172243"/>
                  </a:solidFill>
                  <a:latin typeface="Calibri (MS) Bold"/>
                  <a:ea typeface="Calibri (MS) Bold"/>
                  <a:cs typeface="Calibri (MS) Bold"/>
                  <a:sym typeface="Calibri (MS) Bold"/>
                </a:rPr>
                <a:t>Why it is viable</a:t>
              </a:r>
            </a:p>
            <a:p>
              <a:pPr marL="229235" lvl="1" indent="-114617" algn="l">
                <a:lnSpc>
                  <a:spcPts val="2279"/>
                </a:lnSpc>
                <a:buFont typeface="Arial"/>
                <a:buChar char="•"/>
              </a:pPr>
              <a:r>
                <a:rPr lang="en-US" sz="1899">
                  <a:solidFill>
                    <a:srgbClr val="1B2440"/>
                  </a:solidFill>
                  <a:latin typeface="Calibri (MS)"/>
                  <a:ea typeface="Calibri (MS)"/>
                  <a:cs typeface="Calibri (MS)"/>
                  <a:sym typeface="Calibri (MS)"/>
                </a:rPr>
                <a:t>Versioned criteria keep every result auditable</a:t>
              </a:r>
            </a:p>
            <a:p>
              <a:pPr marL="229235" lvl="1" indent="-114617" algn="l">
                <a:lnSpc>
                  <a:spcPts val="2279"/>
                </a:lnSpc>
                <a:buFont typeface="Arial"/>
                <a:buChar char="•"/>
              </a:pPr>
              <a:r>
                <a:rPr lang="en-US" sz="1899">
                  <a:solidFill>
                    <a:srgbClr val="1B2440"/>
                  </a:solidFill>
                  <a:latin typeface="Calibri (MS)"/>
                  <a:ea typeface="Calibri (MS)"/>
                  <a:cs typeface="Calibri (MS)"/>
                  <a:sym typeface="Calibri (MS)"/>
                </a:rPr>
                <a:t>Role catalogue and languages extend without frontend rewrites</a:t>
              </a:r>
            </a:p>
            <a:p>
              <a:pPr marL="229235" lvl="1" indent="-114617" algn="l">
                <a:lnSpc>
                  <a:spcPts val="2279"/>
                </a:lnSpc>
                <a:buFont typeface="Arial"/>
                <a:buChar char="•"/>
              </a:pPr>
              <a:r>
                <a:rPr lang="en-US" sz="1899">
                  <a:solidFill>
                    <a:srgbClr val="1B2440"/>
                  </a:solidFill>
                  <a:latin typeface="Calibri (MS)"/>
                  <a:ea typeface="Calibri (MS)"/>
                  <a:cs typeface="Calibri (MS)"/>
                  <a:sym typeface="Calibri (MS)"/>
                </a:rPr>
                <a:t>Providers grow the catalogue; weights stay tunable</a:t>
              </a:r>
            </a:p>
            <a:p>
              <a:pPr marL="229235" lvl="1" indent="-114617" algn="l">
                <a:lnSpc>
                  <a:spcPts val="2279"/>
                </a:lnSpc>
                <a:buFont typeface="Arial"/>
                <a:buChar char="•"/>
              </a:pPr>
              <a:r>
                <a:rPr lang="en-US" sz="1899">
                  <a:solidFill>
                    <a:srgbClr val="1B2440"/>
                  </a:solidFill>
                  <a:latin typeface="Calibri (MS)"/>
                  <a:ea typeface="Calibri (MS)"/>
                  <a:cs typeface="Calibri (MS)"/>
                  <a:sym typeface="Calibri (MS)"/>
                </a:rPr>
                <a:t>Focused, testable workflow first; expand later</a:t>
              </a:r>
            </a:p>
          </p:txBody>
        </p:sp>
      </p:grpSp>
      <p:grpSp>
        <p:nvGrpSpPr>
          <p:cNvPr id="48" name="Group 48"/>
          <p:cNvGrpSpPr/>
          <p:nvPr/>
        </p:nvGrpSpPr>
        <p:grpSpPr>
          <a:xfrm>
            <a:off x="9418320" y="2606040"/>
            <a:ext cx="8412480" cy="566928"/>
            <a:chOff x="0" y="0"/>
            <a:chExt cx="11216640" cy="755904"/>
          </a:xfrm>
        </p:grpSpPr>
        <p:sp>
          <p:nvSpPr>
            <p:cNvPr id="49" name="Freeform 49"/>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txBody>
            <a:bodyPr/>
            <a:lstStyle/>
            <a:p>
              <a:endParaRPr/>
            </a:p>
          </p:txBody>
        </p:sp>
        <p:sp>
          <p:nvSpPr>
            <p:cNvPr id="50" name="TextBox 50"/>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BUILD ORDER AND KEY RISKS</a:t>
              </a:r>
            </a:p>
          </p:txBody>
        </p:sp>
      </p:grpSp>
      <p:sp>
        <p:nvSpPr>
          <p:cNvPr id="51" name="TextBox 51"/>
          <p:cNvSpPr txBox="1"/>
          <p:nvPr/>
        </p:nvSpPr>
        <p:spPr>
          <a:xfrm>
            <a:off x="9418320" y="3272028"/>
            <a:ext cx="8412480" cy="312420"/>
          </a:xfrm>
          <a:prstGeom prst="rect">
            <a:avLst/>
          </a:prstGeom>
        </p:spPr>
        <p:txBody>
          <a:bodyPr lIns="0" tIns="0" rIns="0" bIns="0" rtlCol="0" anchor="t">
            <a:spAutoFit/>
          </a:bodyPr>
          <a:lstStyle/>
          <a:p>
            <a:pPr algn="l">
              <a:lnSpc>
                <a:spcPts val="2040"/>
              </a:lnSpc>
            </a:pPr>
            <a:r>
              <a:rPr lang="en-US" sz="1700" i="1">
                <a:solidFill>
                  <a:srgbClr val="4A5170"/>
                </a:solidFill>
                <a:latin typeface="Calibri (MS) Italics"/>
                <a:ea typeface="Calibri (MS) Italics"/>
                <a:cs typeface="Calibri (MS) Italics"/>
                <a:sym typeface="Calibri (MS) Italics"/>
              </a:rPr>
              <a:t>Priority sequence, not clock time</a:t>
            </a:r>
          </a:p>
        </p:txBody>
      </p:sp>
      <p:grpSp>
        <p:nvGrpSpPr>
          <p:cNvPr id="52" name="Group 52"/>
          <p:cNvGrpSpPr/>
          <p:nvPr/>
        </p:nvGrpSpPr>
        <p:grpSpPr>
          <a:xfrm>
            <a:off x="9411967" y="3651247"/>
            <a:ext cx="8425177" cy="433321"/>
            <a:chOff x="0" y="0"/>
            <a:chExt cx="11233569" cy="577761"/>
          </a:xfrm>
        </p:grpSpPr>
        <p:sp>
          <p:nvSpPr>
            <p:cNvPr id="53" name="Freeform 53"/>
            <p:cNvSpPr/>
            <p:nvPr/>
          </p:nvSpPr>
          <p:spPr>
            <a:xfrm>
              <a:off x="0" y="0"/>
              <a:ext cx="11233531" cy="577850"/>
            </a:xfrm>
            <a:custGeom>
              <a:avLst/>
              <a:gdLst/>
              <a:ahLst/>
              <a:cxnLst/>
              <a:rect l="l" t="t" r="r" b="b"/>
              <a:pathLst>
                <a:path w="11233531" h="577850">
                  <a:moveTo>
                    <a:pt x="0" y="115570"/>
                  </a:moveTo>
                  <a:cubicBezTo>
                    <a:pt x="0" y="51689"/>
                    <a:pt x="51689" y="0"/>
                    <a:pt x="115570" y="0"/>
                  </a:cubicBezTo>
                  <a:lnTo>
                    <a:pt x="11117961" y="0"/>
                  </a:lnTo>
                  <a:cubicBezTo>
                    <a:pt x="11181842" y="0"/>
                    <a:pt x="11233531" y="51689"/>
                    <a:pt x="11233531" y="115570"/>
                  </a:cubicBezTo>
                  <a:lnTo>
                    <a:pt x="11233531" y="462280"/>
                  </a:lnTo>
                  <a:cubicBezTo>
                    <a:pt x="11233531" y="526161"/>
                    <a:pt x="11181842" y="577850"/>
                    <a:pt x="11117961" y="577850"/>
                  </a:cubicBezTo>
                  <a:lnTo>
                    <a:pt x="115570" y="577850"/>
                  </a:lnTo>
                  <a:cubicBezTo>
                    <a:pt x="51689" y="577850"/>
                    <a:pt x="0" y="526161"/>
                    <a:pt x="0" y="462280"/>
                  </a:cubicBezTo>
                  <a:close/>
                </a:path>
              </a:pathLst>
            </a:custGeom>
            <a:solidFill>
              <a:srgbClr val="FFFFFF"/>
            </a:solidFill>
            <a:ln w="12700" cap="sq">
              <a:solidFill>
                <a:srgbClr val="D7D0E6"/>
              </a:solidFill>
              <a:prstDash val="solid"/>
              <a:miter/>
            </a:ln>
          </p:spPr>
          <p:txBody>
            <a:bodyPr/>
            <a:lstStyle/>
            <a:p>
              <a:endParaRPr/>
            </a:p>
          </p:txBody>
        </p:sp>
        <p:sp>
          <p:nvSpPr>
            <p:cNvPr id="54" name="TextBox 54"/>
            <p:cNvSpPr txBox="1"/>
            <p:nvPr/>
          </p:nvSpPr>
          <p:spPr>
            <a:xfrm>
              <a:off x="0" y="-38100"/>
              <a:ext cx="11233569" cy="615861"/>
            </a:xfrm>
            <a:prstGeom prst="rect">
              <a:avLst/>
            </a:prstGeom>
          </p:spPr>
          <p:txBody>
            <a:bodyPr lIns="50800" tIns="50800" rIns="50800" bIns="50800" rtlCol="0" anchor="ctr"/>
            <a:lstStyle/>
            <a:p>
              <a:pPr algn="l">
                <a:lnSpc>
                  <a:spcPts val="2160"/>
                </a:lnSpc>
              </a:pPr>
              <a:r>
                <a:rPr lang="en-US" sz="1800" b="1">
                  <a:solidFill>
                    <a:srgbClr val="1B2440"/>
                  </a:solidFill>
                  <a:latin typeface="Calibri (MS) Bold"/>
                  <a:ea typeface="Calibri (MS) Bold"/>
                  <a:cs typeface="Calibri (MS) Bold"/>
                  <a:sym typeface="Calibri (MS) Bold"/>
                </a:rPr>
                <a:t>Core foundation</a:t>
              </a:r>
            </a:p>
          </p:txBody>
        </p:sp>
      </p:grpSp>
      <p:grpSp>
        <p:nvGrpSpPr>
          <p:cNvPr id="55" name="Group 55"/>
          <p:cNvGrpSpPr/>
          <p:nvPr/>
        </p:nvGrpSpPr>
        <p:grpSpPr>
          <a:xfrm>
            <a:off x="16047720" y="3721608"/>
            <a:ext cx="1645920" cy="292608"/>
            <a:chOff x="0" y="0"/>
            <a:chExt cx="2194560" cy="390144"/>
          </a:xfrm>
        </p:grpSpPr>
        <p:sp>
          <p:nvSpPr>
            <p:cNvPr id="56" name="Freeform 56"/>
            <p:cNvSpPr/>
            <p:nvPr/>
          </p:nvSpPr>
          <p:spPr>
            <a:xfrm>
              <a:off x="0" y="0"/>
              <a:ext cx="2194560" cy="390144"/>
            </a:xfrm>
            <a:custGeom>
              <a:avLst/>
              <a:gdLst/>
              <a:ahLst/>
              <a:cxnLst/>
              <a:rect l="l" t="t" r="r" b="b"/>
              <a:pathLst>
                <a:path w="2194560" h="390144">
                  <a:moveTo>
                    <a:pt x="0" y="195072"/>
                  </a:moveTo>
                  <a:cubicBezTo>
                    <a:pt x="0" y="87376"/>
                    <a:pt x="87376" y="0"/>
                    <a:pt x="195072" y="0"/>
                  </a:cubicBezTo>
                  <a:lnTo>
                    <a:pt x="1999488" y="0"/>
                  </a:lnTo>
                  <a:cubicBezTo>
                    <a:pt x="2107184" y="0"/>
                    <a:pt x="2194560" y="87376"/>
                    <a:pt x="2194560" y="195072"/>
                  </a:cubicBezTo>
                  <a:cubicBezTo>
                    <a:pt x="2194560" y="302768"/>
                    <a:pt x="2107184" y="390144"/>
                    <a:pt x="1999488" y="390144"/>
                  </a:cubicBezTo>
                  <a:lnTo>
                    <a:pt x="195072" y="390144"/>
                  </a:lnTo>
                  <a:cubicBezTo>
                    <a:pt x="87376" y="390144"/>
                    <a:pt x="0" y="302768"/>
                    <a:pt x="0" y="195072"/>
                  </a:cubicBezTo>
                  <a:close/>
                </a:path>
              </a:pathLst>
            </a:custGeom>
            <a:solidFill>
              <a:srgbClr val="172243"/>
            </a:solidFill>
          </p:spPr>
          <p:txBody>
            <a:bodyPr/>
            <a:lstStyle/>
            <a:p>
              <a:endParaRPr/>
            </a:p>
          </p:txBody>
        </p:sp>
        <p:sp>
          <p:nvSpPr>
            <p:cNvPr id="57" name="TextBox 57"/>
            <p:cNvSpPr txBox="1"/>
            <p:nvPr/>
          </p:nvSpPr>
          <p:spPr>
            <a:xfrm>
              <a:off x="0" y="-38100"/>
              <a:ext cx="2194560" cy="428244"/>
            </a:xfrm>
            <a:prstGeom prst="rect">
              <a:avLst/>
            </a:prstGeom>
          </p:spPr>
          <p:txBody>
            <a:bodyPr lIns="50800" tIns="50800" rIns="50800" bIns="50800" rtlCol="0" anchor="ctr"/>
            <a:lstStyle/>
            <a:p>
              <a:pPr algn="ctr">
                <a:lnSpc>
                  <a:spcPts val="1739"/>
                </a:lnSpc>
              </a:pPr>
              <a:r>
                <a:rPr lang="en-US" sz="1449" b="1">
                  <a:solidFill>
                    <a:srgbClr val="FFFFFF"/>
                  </a:solidFill>
                  <a:latin typeface="Calibri (MS) Bold"/>
                  <a:ea typeface="Calibri (MS) Bold"/>
                  <a:cs typeface="Calibri (MS) Bold"/>
                  <a:sym typeface="Calibri (MS) Bold"/>
                </a:rPr>
                <a:t>MVP core</a:t>
              </a:r>
            </a:p>
          </p:txBody>
        </p:sp>
      </p:grpSp>
      <p:grpSp>
        <p:nvGrpSpPr>
          <p:cNvPr id="58" name="Group 58"/>
          <p:cNvGrpSpPr/>
          <p:nvPr/>
        </p:nvGrpSpPr>
        <p:grpSpPr>
          <a:xfrm>
            <a:off x="9411967" y="4117591"/>
            <a:ext cx="8425177" cy="433321"/>
            <a:chOff x="0" y="0"/>
            <a:chExt cx="11233569" cy="577761"/>
          </a:xfrm>
        </p:grpSpPr>
        <p:sp>
          <p:nvSpPr>
            <p:cNvPr id="59" name="Freeform 59"/>
            <p:cNvSpPr/>
            <p:nvPr/>
          </p:nvSpPr>
          <p:spPr>
            <a:xfrm>
              <a:off x="0" y="0"/>
              <a:ext cx="11233531" cy="577850"/>
            </a:xfrm>
            <a:custGeom>
              <a:avLst/>
              <a:gdLst/>
              <a:ahLst/>
              <a:cxnLst/>
              <a:rect l="l" t="t" r="r" b="b"/>
              <a:pathLst>
                <a:path w="11233531" h="577850">
                  <a:moveTo>
                    <a:pt x="0" y="115570"/>
                  </a:moveTo>
                  <a:cubicBezTo>
                    <a:pt x="0" y="51689"/>
                    <a:pt x="51689" y="0"/>
                    <a:pt x="115570" y="0"/>
                  </a:cubicBezTo>
                  <a:lnTo>
                    <a:pt x="11117961" y="0"/>
                  </a:lnTo>
                  <a:cubicBezTo>
                    <a:pt x="11181842" y="0"/>
                    <a:pt x="11233531" y="51689"/>
                    <a:pt x="11233531" y="115570"/>
                  </a:cubicBezTo>
                  <a:lnTo>
                    <a:pt x="11233531" y="462280"/>
                  </a:lnTo>
                  <a:cubicBezTo>
                    <a:pt x="11233531" y="526161"/>
                    <a:pt x="11181842" y="577850"/>
                    <a:pt x="11117961" y="577850"/>
                  </a:cubicBezTo>
                  <a:lnTo>
                    <a:pt x="115570" y="577850"/>
                  </a:lnTo>
                  <a:cubicBezTo>
                    <a:pt x="51689" y="577850"/>
                    <a:pt x="0" y="526161"/>
                    <a:pt x="0" y="462280"/>
                  </a:cubicBezTo>
                  <a:close/>
                </a:path>
              </a:pathLst>
            </a:custGeom>
            <a:solidFill>
              <a:srgbClr val="FFFFFF"/>
            </a:solidFill>
            <a:ln w="12700" cap="sq">
              <a:solidFill>
                <a:srgbClr val="D7D0E6"/>
              </a:solidFill>
              <a:prstDash val="solid"/>
              <a:miter/>
            </a:ln>
          </p:spPr>
          <p:txBody>
            <a:bodyPr/>
            <a:lstStyle/>
            <a:p>
              <a:endParaRPr/>
            </a:p>
          </p:txBody>
        </p:sp>
        <p:sp>
          <p:nvSpPr>
            <p:cNvPr id="60" name="TextBox 60"/>
            <p:cNvSpPr txBox="1"/>
            <p:nvPr/>
          </p:nvSpPr>
          <p:spPr>
            <a:xfrm>
              <a:off x="0" y="-38100"/>
              <a:ext cx="11233569" cy="615861"/>
            </a:xfrm>
            <a:prstGeom prst="rect">
              <a:avLst/>
            </a:prstGeom>
          </p:spPr>
          <p:txBody>
            <a:bodyPr lIns="50800" tIns="50800" rIns="50800" bIns="50800" rtlCol="0" anchor="ctr"/>
            <a:lstStyle/>
            <a:p>
              <a:pPr algn="l">
                <a:lnSpc>
                  <a:spcPts val="2160"/>
                </a:lnSpc>
              </a:pPr>
              <a:r>
                <a:rPr lang="en-US" sz="1800" b="1">
                  <a:solidFill>
                    <a:srgbClr val="1B2440"/>
                  </a:solidFill>
                  <a:latin typeface="Calibri (MS) Bold"/>
                  <a:ea typeface="Calibri (MS) Bold"/>
                  <a:cs typeface="Calibri (MS) Bold"/>
                  <a:sym typeface="Calibri (MS) Bold"/>
                </a:rPr>
                <a:t>G-01 core engine</a:t>
              </a:r>
            </a:p>
          </p:txBody>
        </p:sp>
      </p:grpSp>
      <p:grpSp>
        <p:nvGrpSpPr>
          <p:cNvPr id="61" name="Group 61"/>
          <p:cNvGrpSpPr/>
          <p:nvPr/>
        </p:nvGrpSpPr>
        <p:grpSpPr>
          <a:xfrm>
            <a:off x="16047720" y="4187952"/>
            <a:ext cx="1645920" cy="292608"/>
            <a:chOff x="0" y="0"/>
            <a:chExt cx="2194560" cy="390144"/>
          </a:xfrm>
        </p:grpSpPr>
        <p:sp>
          <p:nvSpPr>
            <p:cNvPr id="62" name="Freeform 62"/>
            <p:cNvSpPr/>
            <p:nvPr/>
          </p:nvSpPr>
          <p:spPr>
            <a:xfrm>
              <a:off x="0" y="0"/>
              <a:ext cx="2194560" cy="390144"/>
            </a:xfrm>
            <a:custGeom>
              <a:avLst/>
              <a:gdLst/>
              <a:ahLst/>
              <a:cxnLst/>
              <a:rect l="l" t="t" r="r" b="b"/>
              <a:pathLst>
                <a:path w="2194560" h="390144">
                  <a:moveTo>
                    <a:pt x="0" y="195072"/>
                  </a:moveTo>
                  <a:cubicBezTo>
                    <a:pt x="0" y="87376"/>
                    <a:pt x="87376" y="0"/>
                    <a:pt x="195072" y="0"/>
                  </a:cubicBezTo>
                  <a:lnTo>
                    <a:pt x="1999488" y="0"/>
                  </a:lnTo>
                  <a:cubicBezTo>
                    <a:pt x="2107184" y="0"/>
                    <a:pt x="2194560" y="87376"/>
                    <a:pt x="2194560" y="195072"/>
                  </a:cubicBezTo>
                  <a:cubicBezTo>
                    <a:pt x="2194560" y="302768"/>
                    <a:pt x="2107184" y="390144"/>
                    <a:pt x="1999488" y="390144"/>
                  </a:cubicBezTo>
                  <a:lnTo>
                    <a:pt x="195072" y="390144"/>
                  </a:lnTo>
                  <a:cubicBezTo>
                    <a:pt x="87376" y="390144"/>
                    <a:pt x="0" y="302768"/>
                    <a:pt x="0" y="195072"/>
                  </a:cubicBezTo>
                  <a:close/>
                </a:path>
              </a:pathLst>
            </a:custGeom>
            <a:solidFill>
              <a:srgbClr val="172243"/>
            </a:solidFill>
          </p:spPr>
          <p:txBody>
            <a:bodyPr/>
            <a:lstStyle/>
            <a:p>
              <a:endParaRPr/>
            </a:p>
          </p:txBody>
        </p:sp>
        <p:sp>
          <p:nvSpPr>
            <p:cNvPr id="63" name="TextBox 63"/>
            <p:cNvSpPr txBox="1"/>
            <p:nvPr/>
          </p:nvSpPr>
          <p:spPr>
            <a:xfrm>
              <a:off x="0" y="-38100"/>
              <a:ext cx="2194560" cy="428244"/>
            </a:xfrm>
            <a:prstGeom prst="rect">
              <a:avLst/>
            </a:prstGeom>
          </p:spPr>
          <p:txBody>
            <a:bodyPr lIns="50800" tIns="50800" rIns="50800" bIns="50800" rtlCol="0" anchor="ctr"/>
            <a:lstStyle/>
            <a:p>
              <a:pPr algn="ctr">
                <a:lnSpc>
                  <a:spcPts val="1739"/>
                </a:lnSpc>
              </a:pPr>
              <a:r>
                <a:rPr lang="en-US" sz="1449" b="1">
                  <a:solidFill>
                    <a:srgbClr val="FFFFFF"/>
                  </a:solidFill>
                  <a:latin typeface="Calibri (MS) Bold"/>
                  <a:ea typeface="Calibri (MS) Bold"/>
                  <a:cs typeface="Calibri (MS) Bold"/>
                  <a:sym typeface="Calibri (MS) Bold"/>
                </a:rPr>
                <a:t>MVP core</a:t>
              </a:r>
            </a:p>
          </p:txBody>
        </p:sp>
      </p:grpSp>
      <p:grpSp>
        <p:nvGrpSpPr>
          <p:cNvPr id="64" name="Group 64"/>
          <p:cNvGrpSpPr/>
          <p:nvPr/>
        </p:nvGrpSpPr>
        <p:grpSpPr>
          <a:xfrm>
            <a:off x="9411967" y="4583935"/>
            <a:ext cx="8425177" cy="433321"/>
            <a:chOff x="0" y="0"/>
            <a:chExt cx="11233569" cy="577761"/>
          </a:xfrm>
        </p:grpSpPr>
        <p:sp>
          <p:nvSpPr>
            <p:cNvPr id="65" name="Freeform 65"/>
            <p:cNvSpPr/>
            <p:nvPr/>
          </p:nvSpPr>
          <p:spPr>
            <a:xfrm>
              <a:off x="0" y="0"/>
              <a:ext cx="11233531" cy="577850"/>
            </a:xfrm>
            <a:custGeom>
              <a:avLst/>
              <a:gdLst/>
              <a:ahLst/>
              <a:cxnLst/>
              <a:rect l="l" t="t" r="r" b="b"/>
              <a:pathLst>
                <a:path w="11233531" h="577850">
                  <a:moveTo>
                    <a:pt x="0" y="115570"/>
                  </a:moveTo>
                  <a:cubicBezTo>
                    <a:pt x="0" y="51689"/>
                    <a:pt x="51689" y="0"/>
                    <a:pt x="115570" y="0"/>
                  </a:cubicBezTo>
                  <a:lnTo>
                    <a:pt x="11117961" y="0"/>
                  </a:lnTo>
                  <a:cubicBezTo>
                    <a:pt x="11181842" y="0"/>
                    <a:pt x="11233531" y="51689"/>
                    <a:pt x="11233531" y="115570"/>
                  </a:cubicBezTo>
                  <a:lnTo>
                    <a:pt x="11233531" y="462280"/>
                  </a:lnTo>
                  <a:cubicBezTo>
                    <a:pt x="11233531" y="526161"/>
                    <a:pt x="11181842" y="577850"/>
                    <a:pt x="11117961" y="577850"/>
                  </a:cubicBezTo>
                  <a:lnTo>
                    <a:pt x="115570" y="577850"/>
                  </a:lnTo>
                  <a:cubicBezTo>
                    <a:pt x="51689" y="577850"/>
                    <a:pt x="0" y="526161"/>
                    <a:pt x="0" y="462280"/>
                  </a:cubicBezTo>
                  <a:close/>
                </a:path>
              </a:pathLst>
            </a:custGeom>
            <a:solidFill>
              <a:srgbClr val="FFFFFF"/>
            </a:solidFill>
            <a:ln w="12700" cap="sq">
              <a:solidFill>
                <a:srgbClr val="D7D0E6"/>
              </a:solidFill>
              <a:prstDash val="solid"/>
              <a:miter/>
            </a:ln>
          </p:spPr>
          <p:txBody>
            <a:bodyPr/>
            <a:lstStyle/>
            <a:p>
              <a:endParaRPr/>
            </a:p>
          </p:txBody>
        </p:sp>
        <p:sp>
          <p:nvSpPr>
            <p:cNvPr id="66" name="TextBox 66"/>
            <p:cNvSpPr txBox="1"/>
            <p:nvPr/>
          </p:nvSpPr>
          <p:spPr>
            <a:xfrm>
              <a:off x="0" y="-38100"/>
              <a:ext cx="11233569" cy="615861"/>
            </a:xfrm>
            <a:prstGeom prst="rect">
              <a:avLst/>
            </a:prstGeom>
          </p:spPr>
          <p:txBody>
            <a:bodyPr lIns="50800" tIns="50800" rIns="50800" bIns="50800" rtlCol="0" anchor="ctr"/>
            <a:lstStyle/>
            <a:p>
              <a:pPr algn="l">
                <a:lnSpc>
                  <a:spcPts val="2160"/>
                </a:lnSpc>
              </a:pPr>
              <a:r>
                <a:rPr lang="en-US" sz="1800" b="1">
                  <a:solidFill>
                    <a:srgbClr val="1B2440"/>
                  </a:solidFill>
                  <a:latin typeface="Calibri (MS) Bold"/>
                  <a:ea typeface="Calibri (MS) Bold"/>
                  <a:cs typeface="Calibri (MS) Bold"/>
                  <a:sym typeface="Calibri (MS) Bold"/>
                </a:rPr>
                <a:t>Learning pathway</a:t>
              </a:r>
            </a:p>
          </p:txBody>
        </p:sp>
      </p:grpSp>
      <p:grpSp>
        <p:nvGrpSpPr>
          <p:cNvPr id="67" name="Group 67"/>
          <p:cNvGrpSpPr/>
          <p:nvPr/>
        </p:nvGrpSpPr>
        <p:grpSpPr>
          <a:xfrm>
            <a:off x="16047720" y="4654296"/>
            <a:ext cx="1645920" cy="292608"/>
            <a:chOff x="0" y="0"/>
            <a:chExt cx="2194560" cy="390144"/>
          </a:xfrm>
        </p:grpSpPr>
        <p:sp>
          <p:nvSpPr>
            <p:cNvPr id="68" name="Freeform 68"/>
            <p:cNvSpPr/>
            <p:nvPr/>
          </p:nvSpPr>
          <p:spPr>
            <a:xfrm>
              <a:off x="0" y="0"/>
              <a:ext cx="2194560" cy="390144"/>
            </a:xfrm>
            <a:custGeom>
              <a:avLst/>
              <a:gdLst/>
              <a:ahLst/>
              <a:cxnLst/>
              <a:rect l="l" t="t" r="r" b="b"/>
              <a:pathLst>
                <a:path w="2194560" h="390144">
                  <a:moveTo>
                    <a:pt x="0" y="195072"/>
                  </a:moveTo>
                  <a:cubicBezTo>
                    <a:pt x="0" y="87376"/>
                    <a:pt x="87376" y="0"/>
                    <a:pt x="195072" y="0"/>
                  </a:cubicBezTo>
                  <a:lnTo>
                    <a:pt x="1999488" y="0"/>
                  </a:lnTo>
                  <a:cubicBezTo>
                    <a:pt x="2107184" y="0"/>
                    <a:pt x="2194560" y="87376"/>
                    <a:pt x="2194560" y="195072"/>
                  </a:cubicBezTo>
                  <a:cubicBezTo>
                    <a:pt x="2194560" y="302768"/>
                    <a:pt x="2107184" y="390144"/>
                    <a:pt x="1999488" y="390144"/>
                  </a:cubicBezTo>
                  <a:lnTo>
                    <a:pt x="195072" y="390144"/>
                  </a:lnTo>
                  <a:cubicBezTo>
                    <a:pt x="87376" y="390144"/>
                    <a:pt x="0" y="302768"/>
                    <a:pt x="0" y="195072"/>
                  </a:cubicBezTo>
                  <a:close/>
                </a:path>
              </a:pathLst>
            </a:custGeom>
            <a:solidFill>
              <a:srgbClr val="172243"/>
            </a:solidFill>
          </p:spPr>
          <p:txBody>
            <a:bodyPr/>
            <a:lstStyle/>
            <a:p>
              <a:endParaRPr/>
            </a:p>
          </p:txBody>
        </p:sp>
        <p:sp>
          <p:nvSpPr>
            <p:cNvPr id="69" name="TextBox 69"/>
            <p:cNvSpPr txBox="1"/>
            <p:nvPr/>
          </p:nvSpPr>
          <p:spPr>
            <a:xfrm>
              <a:off x="0" y="-38100"/>
              <a:ext cx="2194560" cy="428244"/>
            </a:xfrm>
            <a:prstGeom prst="rect">
              <a:avLst/>
            </a:prstGeom>
          </p:spPr>
          <p:txBody>
            <a:bodyPr lIns="50800" tIns="50800" rIns="50800" bIns="50800" rtlCol="0" anchor="ctr"/>
            <a:lstStyle/>
            <a:p>
              <a:pPr algn="ctr">
                <a:lnSpc>
                  <a:spcPts val="1739"/>
                </a:lnSpc>
              </a:pPr>
              <a:r>
                <a:rPr lang="en-US" sz="1449" b="1">
                  <a:solidFill>
                    <a:srgbClr val="FFFFFF"/>
                  </a:solidFill>
                  <a:latin typeface="Calibri (MS) Bold"/>
                  <a:ea typeface="Calibri (MS) Bold"/>
                  <a:cs typeface="Calibri (MS) Bold"/>
                  <a:sym typeface="Calibri (MS) Bold"/>
                </a:rPr>
                <a:t>MVP core</a:t>
              </a:r>
            </a:p>
          </p:txBody>
        </p:sp>
      </p:grpSp>
      <p:grpSp>
        <p:nvGrpSpPr>
          <p:cNvPr id="70" name="Group 70"/>
          <p:cNvGrpSpPr/>
          <p:nvPr/>
        </p:nvGrpSpPr>
        <p:grpSpPr>
          <a:xfrm>
            <a:off x="9411967" y="5050279"/>
            <a:ext cx="8425177" cy="433321"/>
            <a:chOff x="0" y="0"/>
            <a:chExt cx="11233569" cy="577761"/>
          </a:xfrm>
        </p:grpSpPr>
        <p:sp>
          <p:nvSpPr>
            <p:cNvPr id="71" name="Freeform 71"/>
            <p:cNvSpPr/>
            <p:nvPr/>
          </p:nvSpPr>
          <p:spPr>
            <a:xfrm>
              <a:off x="0" y="0"/>
              <a:ext cx="11233531" cy="577850"/>
            </a:xfrm>
            <a:custGeom>
              <a:avLst/>
              <a:gdLst/>
              <a:ahLst/>
              <a:cxnLst/>
              <a:rect l="l" t="t" r="r" b="b"/>
              <a:pathLst>
                <a:path w="11233531" h="577850">
                  <a:moveTo>
                    <a:pt x="0" y="115570"/>
                  </a:moveTo>
                  <a:cubicBezTo>
                    <a:pt x="0" y="51689"/>
                    <a:pt x="51689" y="0"/>
                    <a:pt x="115570" y="0"/>
                  </a:cubicBezTo>
                  <a:lnTo>
                    <a:pt x="11117961" y="0"/>
                  </a:lnTo>
                  <a:cubicBezTo>
                    <a:pt x="11181842" y="0"/>
                    <a:pt x="11233531" y="51689"/>
                    <a:pt x="11233531" y="115570"/>
                  </a:cubicBezTo>
                  <a:lnTo>
                    <a:pt x="11233531" y="462280"/>
                  </a:lnTo>
                  <a:cubicBezTo>
                    <a:pt x="11233531" y="526161"/>
                    <a:pt x="11181842" y="577850"/>
                    <a:pt x="11117961" y="577850"/>
                  </a:cubicBezTo>
                  <a:lnTo>
                    <a:pt x="115570" y="577850"/>
                  </a:lnTo>
                  <a:cubicBezTo>
                    <a:pt x="51689" y="577850"/>
                    <a:pt x="0" y="526161"/>
                    <a:pt x="0" y="462280"/>
                  </a:cubicBezTo>
                  <a:close/>
                </a:path>
              </a:pathLst>
            </a:custGeom>
            <a:solidFill>
              <a:srgbClr val="FFFFFF"/>
            </a:solidFill>
            <a:ln w="12700" cap="sq">
              <a:solidFill>
                <a:srgbClr val="D7D0E6"/>
              </a:solidFill>
              <a:prstDash val="solid"/>
              <a:miter/>
            </a:ln>
          </p:spPr>
          <p:txBody>
            <a:bodyPr/>
            <a:lstStyle/>
            <a:p>
              <a:endParaRPr/>
            </a:p>
          </p:txBody>
        </p:sp>
        <p:sp>
          <p:nvSpPr>
            <p:cNvPr id="72" name="TextBox 72"/>
            <p:cNvSpPr txBox="1"/>
            <p:nvPr/>
          </p:nvSpPr>
          <p:spPr>
            <a:xfrm>
              <a:off x="0" y="-38100"/>
              <a:ext cx="11233569" cy="615861"/>
            </a:xfrm>
            <a:prstGeom prst="rect">
              <a:avLst/>
            </a:prstGeom>
          </p:spPr>
          <p:txBody>
            <a:bodyPr lIns="50800" tIns="50800" rIns="50800" bIns="50800" rtlCol="0" anchor="ctr"/>
            <a:lstStyle/>
            <a:p>
              <a:pPr algn="l">
                <a:lnSpc>
                  <a:spcPts val="2160"/>
                </a:lnSpc>
              </a:pPr>
              <a:r>
                <a:rPr lang="en-US" sz="1800" b="1">
                  <a:solidFill>
                    <a:srgbClr val="1B2440"/>
                  </a:solidFill>
                  <a:latin typeface="Calibri (MS) Bold"/>
                  <a:ea typeface="Calibri (MS) Bold"/>
                  <a:cs typeface="Calibri (MS) Bold"/>
                  <a:sym typeface="Calibri (MS) Bold"/>
                </a:rPr>
                <a:t>Applications + employer workflow</a:t>
              </a:r>
            </a:p>
          </p:txBody>
        </p:sp>
      </p:grpSp>
      <p:grpSp>
        <p:nvGrpSpPr>
          <p:cNvPr id="73" name="Group 73"/>
          <p:cNvGrpSpPr/>
          <p:nvPr/>
        </p:nvGrpSpPr>
        <p:grpSpPr>
          <a:xfrm>
            <a:off x="16047720" y="5120640"/>
            <a:ext cx="1645920" cy="292608"/>
            <a:chOff x="0" y="0"/>
            <a:chExt cx="2194560" cy="390144"/>
          </a:xfrm>
        </p:grpSpPr>
        <p:sp>
          <p:nvSpPr>
            <p:cNvPr id="74" name="Freeform 74"/>
            <p:cNvSpPr/>
            <p:nvPr/>
          </p:nvSpPr>
          <p:spPr>
            <a:xfrm>
              <a:off x="0" y="0"/>
              <a:ext cx="2194560" cy="390144"/>
            </a:xfrm>
            <a:custGeom>
              <a:avLst/>
              <a:gdLst/>
              <a:ahLst/>
              <a:cxnLst/>
              <a:rect l="l" t="t" r="r" b="b"/>
              <a:pathLst>
                <a:path w="2194560" h="390144">
                  <a:moveTo>
                    <a:pt x="0" y="195072"/>
                  </a:moveTo>
                  <a:cubicBezTo>
                    <a:pt x="0" y="87376"/>
                    <a:pt x="87376" y="0"/>
                    <a:pt x="195072" y="0"/>
                  </a:cubicBezTo>
                  <a:lnTo>
                    <a:pt x="1999488" y="0"/>
                  </a:lnTo>
                  <a:cubicBezTo>
                    <a:pt x="2107184" y="0"/>
                    <a:pt x="2194560" y="87376"/>
                    <a:pt x="2194560" y="195072"/>
                  </a:cubicBezTo>
                  <a:cubicBezTo>
                    <a:pt x="2194560" y="302768"/>
                    <a:pt x="2107184" y="390144"/>
                    <a:pt x="1999488" y="390144"/>
                  </a:cubicBezTo>
                  <a:lnTo>
                    <a:pt x="195072" y="390144"/>
                  </a:lnTo>
                  <a:cubicBezTo>
                    <a:pt x="87376" y="390144"/>
                    <a:pt x="0" y="302768"/>
                    <a:pt x="0" y="195072"/>
                  </a:cubicBezTo>
                  <a:close/>
                </a:path>
              </a:pathLst>
            </a:custGeom>
            <a:solidFill>
              <a:srgbClr val="172243"/>
            </a:solidFill>
          </p:spPr>
          <p:txBody>
            <a:bodyPr/>
            <a:lstStyle/>
            <a:p>
              <a:endParaRPr/>
            </a:p>
          </p:txBody>
        </p:sp>
        <p:sp>
          <p:nvSpPr>
            <p:cNvPr id="75" name="TextBox 75"/>
            <p:cNvSpPr txBox="1"/>
            <p:nvPr/>
          </p:nvSpPr>
          <p:spPr>
            <a:xfrm>
              <a:off x="0" y="-38100"/>
              <a:ext cx="2194560" cy="428244"/>
            </a:xfrm>
            <a:prstGeom prst="rect">
              <a:avLst/>
            </a:prstGeom>
          </p:spPr>
          <p:txBody>
            <a:bodyPr lIns="50800" tIns="50800" rIns="50800" bIns="50800" rtlCol="0" anchor="ctr"/>
            <a:lstStyle/>
            <a:p>
              <a:pPr algn="ctr">
                <a:lnSpc>
                  <a:spcPts val="1739"/>
                </a:lnSpc>
              </a:pPr>
              <a:r>
                <a:rPr lang="en-US" sz="1449" b="1">
                  <a:solidFill>
                    <a:srgbClr val="FFFFFF"/>
                  </a:solidFill>
                  <a:latin typeface="Calibri (MS) Bold"/>
                  <a:ea typeface="Calibri (MS) Bold"/>
                  <a:cs typeface="Calibri (MS) Bold"/>
                  <a:sym typeface="Calibri (MS) Bold"/>
                </a:rPr>
                <a:t>MVP core</a:t>
              </a:r>
            </a:p>
          </p:txBody>
        </p:sp>
      </p:grpSp>
      <p:grpSp>
        <p:nvGrpSpPr>
          <p:cNvPr id="76" name="Group 76"/>
          <p:cNvGrpSpPr/>
          <p:nvPr/>
        </p:nvGrpSpPr>
        <p:grpSpPr>
          <a:xfrm>
            <a:off x="9411967" y="5516623"/>
            <a:ext cx="8425177" cy="433321"/>
            <a:chOff x="0" y="0"/>
            <a:chExt cx="11233569" cy="577761"/>
          </a:xfrm>
        </p:grpSpPr>
        <p:sp>
          <p:nvSpPr>
            <p:cNvPr id="77" name="Freeform 77"/>
            <p:cNvSpPr/>
            <p:nvPr/>
          </p:nvSpPr>
          <p:spPr>
            <a:xfrm>
              <a:off x="0" y="0"/>
              <a:ext cx="11233531" cy="577850"/>
            </a:xfrm>
            <a:custGeom>
              <a:avLst/>
              <a:gdLst/>
              <a:ahLst/>
              <a:cxnLst/>
              <a:rect l="l" t="t" r="r" b="b"/>
              <a:pathLst>
                <a:path w="11233531" h="577850">
                  <a:moveTo>
                    <a:pt x="0" y="115570"/>
                  </a:moveTo>
                  <a:cubicBezTo>
                    <a:pt x="0" y="51689"/>
                    <a:pt x="51689" y="0"/>
                    <a:pt x="115570" y="0"/>
                  </a:cubicBezTo>
                  <a:lnTo>
                    <a:pt x="11117961" y="0"/>
                  </a:lnTo>
                  <a:cubicBezTo>
                    <a:pt x="11181842" y="0"/>
                    <a:pt x="11233531" y="51689"/>
                    <a:pt x="11233531" y="115570"/>
                  </a:cubicBezTo>
                  <a:lnTo>
                    <a:pt x="11233531" y="462280"/>
                  </a:lnTo>
                  <a:cubicBezTo>
                    <a:pt x="11233531" y="526161"/>
                    <a:pt x="11181842" y="577850"/>
                    <a:pt x="11117961" y="577850"/>
                  </a:cubicBezTo>
                  <a:lnTo>
                    <a:pt x="115570" y="577850"/>
                  </a:lnTo>
                  <a:cubicBezTo>
                    <a:pt x="51689" y="577850"/>
                    <a:pt x="0" y="526161"/>
                    <a:pt x="0" y="462280"/>
                  </a:cubicBezTo>
                  <a:close/>
                </a:path>
              </a:pathLst>
            </a:custGeom>
            <a:solidFill>
              <a:srgbClr val="FFFFFF"/>
            </a:solidFill>
            <a:ln w="12700" cap="sq">
              <a:solidFill>
                <a:srgbClr val="D7D0E6"/>
              </a:solidFill>
              <a:prstDash val="solid"/>
              <a:miter/>
            </a:ln>
          </p:spPr>
          <p:txBody>
            <a:bodyPr/>
            <a:lstStyle/>
            <a:p>
              <a:endParaRPr/>
            </a:p>
          </p:txBody>
        </p:sp>
        <p:sp>
          <p:nvSpPr>
            <p:cNvPr id="78" name="TextBox 78"/>
            <p:cNvSpPr txBox="1"/>
            <p:nvPr/>
          </p:nvSpPr>
          <p:spPr>
            <a:xfrm>
              <a:off x="0" y="-38100"/>
              <a:ext cx="11233569" cy="615861"/>
            </a:xfrm>
            <a:prstGeom prst="rect">
              <a:avLst/>
            </a:prstGeom>
          </p:spPr>
          <p:txBody>
            <a:bodyPr lIns="50800" tIns="50800" rIns="50800" bIns="50800" rtlCol="0" anchor="ctr"/>
            <a:lstStyle/>
            <a:p>
              <a:pPr algn="l">
                <a:lnSpc>
                  <a:spcPts val="2160"/>
                </a:lnSpc>
              </a:pPr>
              <a:r>
                <a:rPr lang="en-US" sz="1800" b="1">
                  <a:solidFill>
                    <a:srgbClr val="1B2440"/>
                  </a:solidFill>
                  <a:latin typeface="Calibri (MS) Bold"/>
                  <a:ea typeface="Calibri (MS) Bold"/>
                  <a:cs typeface="Calibri (MS) Bold"/>
                  <a:sym typeface="Calibri (MS) Bold"/>
                </a:rPr>
                <a:t>Career-support modules</a:t>
              </a:r>
            </a:p>
          </p:txBody>
        </p:sp>
      </p:grpSp>
      <p:grpSp>
        <p:nvGrpSpPr>
          <p:cNvPr id="79" name="Group 79"/>
          <p:cNvGrpSpPr/>
          <p:nvPr/>
        </p:nvGrpSpPr>
        <p:grpSpPr>
          <a:xfrm>
            <a:off x="16047720" y="5586984"/>
            <a:ext cx="1645920" cy="292608"/>
            <a:chOff x="0" y="0"/>
            <a:chExt cx="2194560" cy="390144"/>
          </a:xfrm>
        </p:grpSpPr>
        <p:sp>
          <p:nvSpPr>
            <p:cNvPr id="80" name="Freeform 80"/>
            <p:cNvSpPr/>
            <p:nvPr/>
          </p:nvSpPr>
          <p:spPr>
            <a:xfrm>
              <a:off x="0" y="0"/>
              <a:ext cx="2194560" cy="390144"/>
            </a:xfrm>
            <a:custGeom>
              <a:avLst/>
              <a:gdLst/>
              <a:ahLst/>
              <a:cxnLst/>
              <a:rect l="l" t="t" r="r" b="b"/>
              <a:pathLst>
                <a:path w="2194560" h="390144">
                  <a:moveTo>
                    <a:pt x="0" y="195072"/>
                  </a:moveTo>
                  <a:cubicBezTo>
                    <a:pt x="0" y="87376"/>
                    <a:pt x="87376" y="0"/>
                    <a:pt x="195072" y="0"/>
                  </a:cubicBezTo>
                  <a:lnTo>
                    <a:pt x="1999488" y="0"/>
                  </a:lnTo>
                  <a:cubicBezTo>
                    <a:pt x="2107184" y="0"/>
                    <a:pt x="2194560" y="87376"/>
                    <a:pt x="2194560" y="195072"/>
                  </a:cubicBezTo>
                  <a:cubicBezTo>
                    <a:pt x="2194560" y="302768"/>
                    <a:pt x="2107184" y="390144"/>
                    <a:pt x="1999488" y="390144"/>
                  </a:cubicBezTo>
                  <a:lnTo>
                    <a:pt x="195072" y="390144"/>
                  </a:lnTo>
                  <a:cubicBezTo>
                    <a:pt x="87376" y="390144"/>
                    <a:pt x="0" y="302768"/>
                    <a:pt x="0" y="195072"/>
                  </a:cubicBezTo>
                  <a:close/>
                </a:path>
              </a:pathLst>
            </a:custGeom>
            <a:solidFill>
              <a:srgbClr val="D7D0E6"/>
            </a:solidFill>
          </p:spPr>
          <p:txBody>
            <a:bodyPr/>
            <a:lstStyle/>
            <a:p>
              <a:endParaRPr/>
            </a:p>
          </p:txBody>
        </p:sp>
        <p:sp>
          <p:nvSpPr>
            <p:cNvPr id="81" name="TextBox 81"/>
            <p:cNvSpPr txBox="1"/>
            <p:nvPr/>
          </p:nvSpPr>
          <p:spPr>
            <a:xfrm>
              <a:off x="0" y="-38100"/>
              <a:ext cx="2194560" cy="428244"/>
            </a:xfrm>
            <a:prstGeom prst="rect">
              <a:avLst/>
            </a:prstGeom>
          </p:spPr>
          <p:txBody>
            <a:bodyPr lIns="50800" tIns="50800" rIns="50800" bIns="50800" rtlCol="0" anchor="ctr"/>
            <a:lstStyle/>
            <a:p>
              <a:pPr algn="ctr">
                <a:lnSpc>
                  <a:spcPts val="1739"/>
                </a:lnSpc>
              </a:pPr>
              <a:r>
                <a:rPr lang="en-US" sz="1449" b="1">
                  <a:solidFill>
                    <a:srgbClr val="172243"/>
                  </a:solidFill>
                  <a:latin typeface="Calibri (MS) Bold"/>
                  <a:ea typeface="Calibri (MS) Bold"/>
                  <a:cs typeface="Calibri (MS) Bold"/>
                  <a:sym typeface="Calibri (MS) Bold"/>
                </a:rPr>
                <a:t>Stretch</a:t>
              </a:r>
            </a:p>
          </p:txBody>
        </p:sp>
      </p:grpSp>
      <p:grpSp>
        <p:nvGrpSpPr>
          <p:cNvPr id="82" name="Group 82"/>
          <p:cNvGrpSpPr/>
          <p:nvPr/>
        </p:nvGrpSpPr>
        <p:grpSpPr>
          <a:xfrm>
            <a:off x="9411967" y="5982967"/>
            <a:ext cx="8425177" cy="433321"/>
            <a:chOff x="0" y="0"/>
            <a:chExt cx="11233569" cy="577761"/>
          </a:xfrm>
        </p:grpSpPr>
        <p:sp>
          <p:nvSpPr>
            <p:cNvPr id="83" name="Freeform 83"/>
            <p:cNvSpPr/>
            <p:nvPr/>
          </p:nvSpPr>
          <p:spPr>
            <a:xfrm>
              <a:off x="0" y="0"/>
              <a:ext cx="11233531" cy="577850"/>
            </a:xfrm>
            <a:custGeom>
              <a:avLst/>
              <a:gdLst/>
              <a:ahLst/>
              <a:cxnLst/>
              <a:rect l="l" t="t" r="r" b="b"/>
              <a:pathLst>
                <a:path w="11233531" h="577850">
                  <a:moveTo>
                    <a:pt x="0" y="115570"/>
                  </a:moveTo>
                  <a:cubicBezTo>
                    <a:pt x="0" y="51689"/>
                    <a:pt x="51689" y="0"/>
                    <a:pt x="115570" y="0"/>
                  </a:cubicBezTo>
                  <a:lnTo>
                    <a:pt x="11117961" y="0"/>
                  </a:lnTo>
                  <a:cubicBezTo>
                    <a:pt x="11181842" y="0"/>
                    <a:pt x="11233531" y="51689"/>
                    <a:pt x="11233531" y="115570"/>
                  </a:cubicBezTo>
                  <a:lnTo>
                    <a:pt x="11233531" y="462280"/>
                  </a:lnTo>
                  <a:cubicBezTo>
                    <a:pt x="11233531" y="526161"/>
                    <a:pt x="11181842" y="577850"/>
                    <a:pt x="11117961" y="577850"/>
                  </a:cubicBezTo>
                  <a:lnTo>
                    <a:pt x="115570" y="577850"/>
                  </a:lnTo>
                  <a:cubicBezTo>
                    <a:pt x="51689" y="577850"/>
                    <a:pt x="0" y="526161"/>
                    <a:pt x="0" y="462280"/>
                  </a:cubicBezTo>
                  <a:close/>
                </a:path>
              </a:pathLst>
            </a:custGeom>
            <a:solidFill>
              <a:srgbClr val="FFFFFF"/>
            </a:solidFill>
            <a:ln w="12700" cap="sq">
              <a:solidFill>
                <a:srgbClr val="D7D0E6"/>
              </a:solidFill>
              <a:prstDash val="solid"/>
              <a:miter/>
            </a:ln>
          </p:spPr>
          <p:txBody>
            <a:bodyPr/>
            <a:lstStyle/>
            <a:p>
              <a:endParaRPr/>
            </a:p>
          </p:txBody>
        </p:sp>
        <p:sp>
          <p:nvSpPr>
            <p:cNvPr id="84" name="TextBox 84"/>
            <p:cNvSpPr txBox="1"/>
            <p:nvPr/>
          </p:nvSpPr>
          <p:spPr>
            <a:xfrm>
              <a:off x="0" y="-38100"/>
              <a:ext cx="11233569" cy="615861"/>
            </a:xfrm>
            <a:prstGeom prst="rect">
              <a:avLst/>
            </a:prstGeom>
          </p:spPr>
          <p:txBody>
            <a:bodyPr lIns="50800" tIns="50800" rIns="50800" bIns="50800" rtlCol="0" anchor="ctr"/>
            <a:lstStyle/>
            <a:p>
              <a:pPr algn="l">
                <a:lnSpc>
                  <a:spcPts val="2160"/>
                </a:lnSpc>
              </a:pPr>
              <a:r>
                <a:rPr lang="en-US" sz="1800" b="1">
                  <a:solidFill>
                    <a:srgbClr val="1B2440"/>
                  </a:solidFill>
                  <a:latin typeface="Calibri (MS) Bold"/>
                  <a:ea typeface="Calibri (MS) Bold"/>
                  <a:cs typeface="Calibri (MS) Bold"/>
                  <a:sym typeface="Calibri (MS) Bold"/>
                </a:rPr>
                <a:t>Career Assistant + AI Tutor (EN/HI/MR)</a:t>
              </a:r>
            </a:p>
          </p:txBody>
        </p:sp>
      </p:grpSp>
      <p:grpSp>
        <p:nvGrpSpPr>
          <p:cNvPr id="85" name="Group 85"/>
          <p:cNvGrpSpPr/>
          <p:nvPr/>
        </p:nvGrpSpPr>
        <p:grpSpPr>
          <a:xfrm>
            <a:off x="16047720" y="6053328"/>
            <a:ext cx="1645920" cy="292608"/>
            <a:chOff x="0" y="0"/>
            <a:chExt cx="2194560" cy="390144"/>
          </a:xfrm>
        </p:grpSpPr>
        <p:sp>
          <p:nvSpPr>
            <p:cNvPr id="86" name="Freeform 86"/>
            <p:cNvSpPr/>
            <p:nvPr/>
          </p:nvSpPr>
          <p:spPr>
            <a:xfrm>
              <a:off x="0" y="0"/>
              <a:ext cx="2194560" cy="390144"/>
            </a:xfrm>
            <a:custGeom>
              <a:avLst/>
              <a:gdLst/>
              <a:ahLst/>
              <a:cxnLst/>
              <a:rect l="l" t="t" r="r" b="b"/>
              <a:pathLst>
                <a:path w="2194560" h="390144">
                  <a:moveTo>
                    <a:pt x="0" y="195072"/>
                  </a:moveTo>
                  <a:cubicBezTo>
                    <a:pt x="0" y="87376"/>
                    <a:pt x="87376" y="0"/>
                    <a:pt x="195072" y="0"/>
                  </a:cubicBezTo>
                  <a:lnTo>
                    <a:pt x="1999488" y="0"/>
                  </a:lnTo>
                  <a:cubicBezTo>
                    <a:pt x="2107184" y="0"/>
                    <a:pt x="2194560" y="87376"/>
                    <a:pt x="2194560" y="195072"/>
                  </a:cubicBezTo>
                  <a:cubicBezTo>
                    <a:pt x="2194560" y="302768"/>
                    <a:pt x="2107184" y="390144"/>
                    <a:pt x="1999488" y="390144"/>
                  </a:cubicBezTo>
                  <a:lnTo>
                    <a:pt x="195072" y="390144"/>
                  </a:lnTo>
                  <a:cubicBezTo>
                    <a:pt x="87376" y="390144"/>
                    <a:pt x="0" y="302768"/>
                    <a:pt x="0" y="195072"/>
                  </a:cubicBezTo>
                  <a:close/>
                </a:path>
              </a:pathLst>
            </a:custGeom>
            <a:solidFill>
              <a:srgbClr val="D7D0E6"/>
            </a:solidFill>
          </p:spPr>
          <p:txBody>
            <a:bodyPr/>
            <a:lstStyle/>
            <a:p>
              <a:endParaRPr/>
            </a:p>
          </p:txBody>
        </p:sp>
        <p:sp>
          <p:nvSpPr>
            <p:cNvPr id="87" name="TextBox 87"/>
            <p:cNvSpPr txBox="1"/>
            <p:nvPr/>
          </p:nvSpPr>
          <p:spPr>
            <a:xfrm>
              <a:off x="0" y="-38100"/>
              <a:ext cx="2194560" cy="428244"/>
            </a:xfrm>
            <a:prstGeom prst="rect">
              <a:avLst/>
            </a:prstGeom>
          </p:spPr>
          <p:txBody>
            <a:bodyPr lIns="50800" tIns="50800" rIns="50800" bIns="50800" rtlCol="0" anchor="ctr"/>
            <a:lstStyle/>
            <a:p>
              <a:pPr algn="ctr">
                <a:lnSpc>
                  <a:spcPts val="1739"/>
                </a:lnSpc>
              </a:pPr>
              <a:r>
                <a:rPr lang="en-US" sz="1449" b="1">
                  <a:solidFill>
                    <a:srgbClr val="172243"/>
                  </a:solidFill>
                  <a:latin typeface="Calibri (MS) Bold"/>
                  <a:ea typeface="Calibri (MS) Bold"/>
                  <a:cs typeface="Calibri (MS) Bold"/>
                  <a:sym typeface="Calibri (MS) Bold"/>
                </a:rPr>
                <a:t>Stretch</a:t>
              </a:r>
            </a:p>
          </p:txBody>
        </p:sp>
      </p:grpSp>
      <p:grpSp>
        <p:nvGrpSpPr>
          <p:cNvPr id="88" name="Group 88"/>
          <p:cNvGrpSpPr/>
          <p:nvPr/>
        </p:nvGrpSpPr>
        <p:grpSpPr>
          <a:xfrm>
            <a:off x="9411967" y="6449311"/>
            <a:ext cx="8425177" cy="433321"/>
            <a:chOff x="0" y="0"/>
            <a:chExt cx="11233569" cy="577761"/>
          </a:xfrm>
        </p:grpSpPr>
        <p:sp>
          <p:nvSpPr>
            <p:cNvPr id="89" name="Freeform 89"/>
            <p:cNvSpPr/>
            <p:nvPr/>
          </p:nvSpPr>
          <p:spPr>
            <a:xfrm>
              <a:off x="0" y="0"/>
              <a:ext cx="11233531" cy="577850"/>
            </a:xfrm>
            <a:custGeom>
              <a:avLst/>
              <a:gdLst/>
              <a:ahLst/>
              <a:cxnLst/>
              <a:rect l="l" t="t" r="r" b="b"/>
              <a:pathLst>
                <a:path w="11233531" h="577850">
                  <a:moveTo>
                    <a:pt x="0" y="115570"/>
                  </a:moveTo>
                  <a:cubicBezTo>
                    <a:pt x="0" y="51689"/>
                    <a:pt x="51689" y="0"/>
                    <a:pt x="115570" y="0"/>
                  </a:cubicBezTo>
                  <a:lnTo>
                    <a:pt x="11117961" y="0"/>
                  </a:lnTo>
                  <a:cubicBezTo>
                    <a:pt x="11181842" y="0"/>
                    <a:pt x="11233531" y="51689"/>
                    <a:pt x="11233531" y="115570"/>
                  </a:cubicBezTo>
                  <a:lnTo>
                    <a:pt x="11233531" y="462280"/>
                  </a:lnTo>
                  <a:cubicBezTo>
                    <a:pt x="11233531" y="526161"/>
                    <a:pt x="11181842" y="577850"/>
                    <a:pt x="11117961" y="577850"/>
                  </a:cubicBezTo>
                  <a:lnTo>
                    <a:pt x="115570" y="577850"/>
                  </a:lnTo>
                  <a:cubicBezTo>
                    <a:pt x="51689" y="577850"/>
                    <a:pt x="0" y="526161"/>
                    <a:pt x="0" y="462280"/>
                  </a:cubicBezTo>
                  <a:close/>
                </a:path>
              </a:pathLst>
            </a:custGeom>
            <a:solidFill>
              <a:srgbClr val="FFFFFF"/>
            </a:solidFill>
            <a:ln w="12700" cap="sq">
              <a:solidFill>
                <a:srgbClr val="D7D0E6"/>
              </a:solidFill>
              <a:prstDash val="solid"/>
              <a:miter/>
            </a:ln>
          </p:spPr>
          <p:txBody>
            <a:bodyPr/>
            <a:lstStyle/>
            <a:p>
              <a:endParaRPr/>
            </a:p>
          </p:txBody>
        </p:sp>
        <p:sp>
          <p:nvSpPr>
            <p:cNvPr id="90" name="TextBox 90"/>
            <p:cNvSpPr txBox="1"/>
            <p:nvPr/>
          </p:nvSpPr>
          <p:spPr>
            <a:xfrm>
              <a:off x="0" y="-38100"/>
              <a:ext cx="11233569" cy="615861"/>
            </a:xfrm>
            <a:prstGeom prst="rect">
              <a:avLst/>
            </a:prstGeom>
          </p:spPr>
          <p:txBody>
            <a:bodyPr lIns="50800" tIns="50800" rIns="50800" bIns="50800" rtlCol="0" anchor="ctr"/>
            <a:lstStyle/>
            <a:p>
              <a:pPr algn="l">
                <a:lnSpc>
                  <a:spcPts val="2160"/>
                </a:lnSpc>
              </a:pPr>
              <a:r>
                <a:rPr lang="en-US" sz="1800" b="1">
                  <a:solidFill>
                    <a:srgbClr val="1B2440"/>
                  </a:solidFill>
                  <a:latin typeface="Calibri (MS) Bold"/>
                  <a:ea typeface="Calibri (MS) Bold"/>
                  <a:cs typeface="Calibri (MS) Bold"/>
                  <a:sym typeface="Calibri (MS) Bold"/>
                </a:rPr>
                <a:t>Verification + polish</a:t>
              </a:r>
            </a:p>
          </p:txBody>
        </p:sp>
      </p:grpSp>
      <p:grpSp>
        <p:nvGrpSpPr>
          <p:cNvPr id="91" name="Group 91"/>
          <p:cNvGrpSpPr/>
          <p:nvPr/>
        </p:nvGrpSpPr>
        <p:grpSpPr>
          <a:xfrm>
            <a:off x="16047720" y="6519672"/>
            <a:ext cx="1645920" cy="292608"/>
            <a:chOff x="0" y="0"/>
            <a:chExt cx="2194560" cy="390144"/>
          </a:xfrm>
        </p:grpSpPr>
        <p:sp>
          <p:nvSpPr>
            <p:cNvPr id="92" name="Freeform 92"/>
            <p:cNvSpPr/>
            <p:nvPr/>
          </p:nvSpPr>
          <p:spPr>
            <a:xfrm>
              <a:off x="0" y="0"/>
              <a:ext cx="2194560" cy="390144"/>
            </a:xfrm>
            <a:custGeom>
              <a:avLst/>
              <a:gdLst/>
              <a:ahLst/>
              <a:cxnLst/>
              <a:rect l="l" t="t" r="r" b="b"/>
              <a:pathLst>
                <a:path w="2194560" h="390144">
                  <a:moveTo>
                    <a:pt x="0" y="195072"/>
                  </a:moveTo>
                  <a:cubicBezTo>
                    <a:pt x="0" y="87376"/>
                    <a:pt x="87376" y="0"/>
                    <a:pt x="195072" y="0"/>
                  </a:cubicBezTo>
                  <a:lnTo>
                    <a:pt x="1999488" y="0"/>
                  </a:lnTo>
                  <a:cubicBezTo>
                    <a:pt x="2107184" y="0"/>
                    <a:pt x="2194560" y="87376"/>
                    <a:pt x="2194560" y="195072"/>
                  </a:cubicBezTo>
                  <a:cubicBezTo>
                    <a:pt x="2194560" y="302768"/>
                    <a:pt x="2107184" y="390144"/>
                    <a:pt x="1999488" y="390144"/>
                  </a:cubicBezTo>
                  <a:lnTo>
                    <a:pt x="195072" y="390144"/>
                  </a:lnTo>
                  <a:cubicBezTo>
                    <a:pt x="87376" y="390144"/>
                    <a:pt x="0" y="302768"/>
                    <a:pt x="0" y="195072"/>
                  </a:cubicBezTo>
                  <a:close/>
                </a:path>
              </a:pathLst>
            </a:custGeom>
            <a:solidFill>
              <a:srgbClr val="FBEFC9"/>
            </a:solidFill>
          </p:spPr>
          <p:txBody>
            <a:bodyPr/>
            <a:lstStyle/>
            <a:p>
              <a:endParaRPr/>
            </a:p>
          </p:txBody>
        </p:sp>
        <p:sp>
          <p:nvSpPr>
            <p:cNvPr id="93" name="TextBox 93"/>
            <p:cNvSpPr txBox="1"/>
            <p:nvPr/>
          </p:nvSpPr>
          <p:spPr>
            <a:xfrm>
              <a:off x="0" y="-38100"/>
              <a:ext cx="2194560" cy="428244"/>
            </a:xfrm>
            <a:prstGeom prst="rect">
              <a:avLst/>
            </a:prstGeom>
          </p:spPr>
          <p:txBody>
            <a:bodyPr lIns="50800" tIns="50800" rIns="50800" bIns="50800" rtlCol="0" anchor="ctr"/>
            <a:lstStyle/>
            <a:p>
              <a:pPr algn="ctr">
                <a:lnSpc>
                  <a:spcPts val="1739"/>
                </a:lnSpc>
              </a:pPr>
              <a:r>
                <a:rPr lang="en-US" sz="1449" b="1">
                  <a:solidFill>
                    <a:srgbClr val="6B4A00"/>
                  </a:solidFill>
                  <a:latin typeface="Calibri (MS) Bold"/>
                  <a:ea typeface="Calibri (MS) Bold"/>
                  <a:cs typeface="Calibri (MS) Bold"/>
                  <a:sym typeface="Calibri (MS) Bold"/>
                </a:rPr>
                <a:t>Verification</a:t>
              </a:r>
            </a:p>
          </p:txBody>
        </p:sp>
      </p:grpSp>
      <p:graphicFrame>
        <p:nvGraphicFramePr>
          <p:cNvPr id="94" name="Table 94"/>
          <p:cNvGraphicFramePr>
            <a:graphicFrameLocks noGrp="1"/>
          </p:cNvGraphicFramePr>
          <p:nvPr/>
        </p:nvGraphicFramePr>
        <p:xfrm>
          <a:off x="9418320" y="7031736"/>
          <a:ext cx="8394700" cy="2898140"/>
        </p:xfrm>
        <a:graphic>
          <a:graphicData uri="http://schemas.openxmlformats.org/drawingml/2006/table">
            <a:tbl>
              <a:tblPr/>
              <a:tblGrid>
                <a:gridCol w="2554909">
                  <a:extLst>
                    <a:ext uri="{9D8B030D-6E8A-4147-A177-3AD203B41FA5}">
                      <a16:colId xmlns:a16="http://schemas.microsoft.com/office/drawing/2014/main" val="20000"/>
                    </a:ext>
                  </a:extLst>
                </a:gridCol>
                <a:gridCol w="5839791">
                  <a:extLst>
                    <a:ext uri="{9D8B030D-6E8A-4147-A177-3AD203B41FA5}">
                      <a16:colId xmlns:a16="http://schemas.microsoft.com/office/drawing/2014/main" val="20001"/>
                    </a:ext>
                  </a:extLst>
                </a:gridCol>
              </a:tblGrid>
              <a:tr h="381000">
                <a:tc>
                  <a:txBody>
                    <a:bodyPr/>
                    <a:lstStyle/>
                    <a:p>
                      <a:pPr algn="l">
                        <a:lnSpc>
                          <a:spcPts val="1919"/>
                        </a:lnSpc>
                        <a:defRPr/>
                      </a:pPr>
                      <a:r>
                        <a:rPr lang="en-US" sz="1599" b="1">
                          <a:solidFill>
                            <a:srgbClr val="FFFFFF"/>
                          </a:solidFill>
                          <a:latin typeface="Calibri (MS) Bold"/>
                          <a:ea typeface="Calibri (MS) Bold"/>
                          <a:cs typeface="Calibri (MS) Bold"/>
                          <a:sym typeface="Calibri (MS) Bold"/>
                        </a:rPr>
                        <a:t>Key risk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tc>
                  <a:txBody>
                    <a:bodyPr/>
                    <a:lstStyle/>
                    <a:p>
                      <a:pPr algn="l">
                        <a:lnSpc>
                          <a:spcPts val="1919"/>
                        </a:lnSpc>
                        <a:defRPr/>
                      </a:pPr>
                      <a:r>
                        <a:rPr lang="en-US" sz="1599" b="1">
                          <a:solidFill>
                            <a:srgbClr val="FFFFFF"/>
                          </a:solidFill>
                          <a:latin typeface="Calibri (MS) Bold"/>
                          <a:ea typeface="Calibri (MS) Bold"/>
                          <a:cs typeface="Calibri (MS) Bold"/>
                          <a:sym typeface="Calibri (MS) Bold"/>
                        </a:rPr>
                        <a:t>Mitigation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extLst>
                  <a:ext uri="{0D108BD9-81ED-4DB2-BD59-A6C34878D82A}">
                    <a16:rowId xmlns:a16="http://schemas.microsoft.com/office/drawing/2014/main" val="10000"/>
                  </a:ext>
                </a:extLst>
              </a:tr>
              <a:tr h="571500">
                <a:tc>
                  <a:txBody>
                    <a:bodyPr/>
                    <a:lstStyle/>
                    <a:p>
                      <a:pPr algn="l">
                        <a:lnSpc>
                          <a:spcPts val="1919"/>
                        </a:lnSpc>
                        <a:defRPr/>
                      </a:pPr>
                      <a:r>
                        <a:rPr lang="en-US" sz="1599" b="1">
                          <a:solidFill>
                            <a:srgbClr val="1B2440"/>
                          </a:solidFill>
                          <a:latin typeface="Calibri (MS) Bold"/>
                          <a:ea typeface="Calibri (MS) Bold"/>
                          <a:cs typeface="Calibri (MS) Bold"/>
                          <a:sym typeface="Calibri (MS) Bold"/>
                        </a:rPr>
                        <a:t>Ambiguous employer criteria</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919"/>
                        </a:lnSpc>
                        <a:defRPr/>
                      </a:pPr>
                      <a:r>
                        <a:rPr lang="en-US" sz="1599">
                          <a:solidFill>
                            <a:srgbClr val="1B2440"/>
                          </a:solidFill>
                          <a:latin typeface="Calibri (MS)"/>
                          <a:ea typeface="Calibri (MS)"/>
                          <a:cs typeface="Calibri (MS)"/>
                          <a:sym typeface="Calibri (MS)"/>
                        </a:rPr>
                        <a:t>Explicit criterion types; unclear criteria flagged at creation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1500">
                <a:tc>
                  <a:txBody>
                    <a:bodyPr/>
                    <a:lstStyle/>
                    <a:p>
                      <a:pPr algn="l">
                        <a:lnSpc>
                          <a:spcPts val="1919"/>
                        </a:lnSpc>
                        <a:defRPr/>
                      </a:pPr>
                      <a:r>
                        <a:rPr lang="en-US" sz="1599" b="1">
                          <a:solidFill>
                            <a:srgbClr val="1B2440"/>
                          </a:solidFill>
                          <a:latin typeface="Calibri (MS) Bold"/>
                          <a:ea typeface="Calibri (MS) Bold"/>
                          <a:cs typeface="Calibri (MS) Bold"/>
                          <a:sym typeface="Calibri (MS) Bold"/>
                        </a:rPr>
                        <a:t>AI hallucination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1919"/>
                        </a:lnSpc>
                        <a:defRPr/>
                      </a:pPr>
                      <a:r>
                        <a:rPr lang="en-US" sz="1599">
                          <a:solidFill>
                            <a:srgbClr val="1B2440"/>
                          </a:solidFill>
                          <a:latin typeface="Calibri (MS)"/>
                          <a:ea typeface="Calibri (MS)"/>
                          <a:cs typeface="Calibri (MS)"/>
                          <a:sym typeface="Calibri (MS)"/>
                        </a:rPr>
                        <a:t>Grounded in supplied data; candidate approves edits; no invented credentials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extLst>
                  <a:ext uri="{0D108BD9-81ED-4DB2-BD59-A6C34878D82A}">
                    <a16:rowId xmlns:a16="http://schemas.microsoft.com/office/drawing/2014/main" val="10002"/>
                  </a:ext>
                </a:extLst>
              </a:tr>
              <a:tr h="571500">
                <a:tc>
                  <a:txBody>
                    <a:bodyPr/>
                    <a:lstStyle/>
                    <a:p>
                      <a:pPr algn="l">
                        <a:lnSpc>
                          <a:spcPts val="1919"/>
                        </a:lnSpc>
                        <a:defRPr/>
                      </a:pPr>
                      <a:r>
                        <a:rPr lang="en-US" sz="1599" b="1">
                          <a:solidFill>
                            <a:srgbClr val="1B2440"/>
                          </a:solidFill>
                          <a:latin typeface="Calibri (MS) Bold"/>
                          <a:ea typeface="Calibri (MS) Bold"/>
                          <a:cs typeface="Calibri (MS) Bold"/>
                          <a:sym typeface="Calibri (MS) Bold"/>
                        </a:rPr>
                        <a:t>API outages or quotas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919"/>
                        </a:lnSpc>
                        <a:defRPr/>
                      </a:pPr>
                      <a:r>
                        <a:rPr lang="en-US" sz="1599">
                          <a:solidFill>
                            <a:srgbClr val="1B2440"/>
                          </a:solidFill>
                          <a:latin typeface="Calibri (MS)"/>
                          <a:ea typeface="Calibri (MS)"/>
                          <a:cs typeface="Calibri (MS)"/>
                          <a:sym typeface="Calibri (MS)"/>
                        </a:rPr>
                        <a:t>Adapters, timeouts, cache, labelled demo modes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1500">
                <a:tc>
                  <a:txBody>
                    <a:bodyPr/>
                    <a:lstStyle/>
                    <a:p>
                      <a:pPr algn="l">
                        <a:lnSpc>
                          <a:spcPts val="1919"/>
                        </a:lnSpc>
                        <a:defRPr/>
                      </a:pPr>
                      <a:r>
                        <a:rPr lang="en-US" sz="1599" b="1">
                          <a:solidFill>
                            <a:srgbClr val="1B2440"/>
                          </a:solidFill>
                          <a:latin typeface="Calibri (MS) Bold"/>
                          <a:ea typeface="Calibri (MS) Bold"/>
                          <a:cs typeface="Calibri (MS) Bold"/>
                          <a:sym typeface="Calibri (MS) Bold"/>
                        </a:rPr>
                        <a:t>Limited catalogue coverage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1919"/>
                        </a:lnSpc>
                        <a:defRPr/>
                      </a:pPr>
                      <a:r>
                        <a:rPr lang="en-US" sz="1599">
                          <a:solidFill>
                            <a:srgbClr val="1B2440"/>
                          </a:solidFill>
                          <a:latin typeface="Calibri (MS)"/>
                          <a:ea typeface="Calibri (MS)"/>
                          <a:cs typeface="Calibri (MS)"/>
                          <a:sym typeface="Calibri (MS)"/>
                        </a:rPr>
                        <a:t>“No resource available” shown; providers expand it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6" b="-26"/>
              </a:stretch>
            </a:blipFill>
          </p:spPr>
          <p:txBody>
            <a:bodyPr/>
            <a:lstStyle/>
            <a:p>
              <a:endParaRPr/>
            </a:p>
          </p:txBody>
        </p:sp>
      </p:grpSp>
      <p:grpSp>
        <p:nvGrpSpPr>
          <p:cNvPr id="4" name="Group 4"/>
          <p:cNvGrpSpPr/>
          <p:nvPr/>
        </p:nvGrpSpPr>
        <p:grpSpPr>
          <a:xfrm>
            <a:off x="0" y="0"/>
            <a:ext cx="1750047" cy="9860651"/>
            <a:chOff x="0" y="0"/>
            <a:chExt cx="2333396" cy="13147535"/>
          </a:xfrm>
        </p:grpSpPr>
        <p:sp>
          <p:nvSpPr>
            <p:cNvPr id="5" name="Freeform 5"/>
            <p:cNvSpPr/>
            <p:nvPr/>
          </p:nvSpPr>
          <p:spPr>
            <a:xfrm>
              <a:off x="0" y="0"/>
              <a:ext cx="2333371" cy="13147548"/>
            </a:xfrm>
            <a:custGeom>
              <a:avLst/>
              <a:gdLst/>
              <a:ahLst/>
              <a:cxnLst/>
              <a:rect l="l" t="t" r="r" b="b"/>
              <a:pathLst>
                <a:path w="2333371" h="13147548">
                  <a:moveTo>
                    <a:pt x="0" y="0"/>
                  </a:moveTo>
                  <a:lnTo>
                    <a:pt x="2333371" y="0"/>
                  </a:lnTo>
                  <a:lnTo>
                    <a:pt x="2333371" y="13147548"/>
                  </a:lnTo>
                  <a:lnTo>
                    <a:pt x="0" y="13147548"/>
                  </a:lnTo>
                  <a:lnTo>
                    <a:pt x="0" y="0"/>
                  </a:lnTo>
                  <a:close/>
                </a:path>
              </a:pathLst>
            </a:custGeom>
            <a:blipFill>
              <a:blip r:embed="rId4"/>
              <a:stretch>
                <a:fillRect t="-26" r="-1" b="-26"/>
              </a:stretch>
            </a:blipFill>
          </p:spPr>
          <p:txBody>
            <a:bodyPr/>
            <a:lstStyle/>
            <a:p>
              <a:endParaRPr/>
            </a:p>
          </p:txBody>
        </p:sp>
      </p:grpSp>
      <p:grpSp>
        <p:nvGrpSpPr>
          <p:cNvPr id="6" name="Group 6"/>
          <p:cNvGrpSpPr/>
          <p:nvPr/>
        </p:nvGrpSpPr>
        <p:grpSpPr>
          <a:xfrm>
            <a:off x="14361328" y="6635715"/>
            <a:ext cx="1750047" cy="1727254"/>
            <a:chOff x="0" y="0"/>
            <a:chExt cx="2333396" cy="2303005"/>
          </a:xfrm>
        </p:grpSpPr>
        <p:sp>
          <p:nvSpPr>
            <p:cNvPr id="7" name="Freeform 7"/>
            <p:cNvSpPr/>
            <p:nvPr/>
          </p:nvSpPr>
          <p:spPr>
            <a:xfrm>
              <a:off x="0" y="0"/>
              <a:ext cx="2333371" cy="2303018"/>
            </a:xfrm>
            <a:custGeom>
              <a:avLst/>
              <a:gdLst/>
              <a:ahLst/>
              <a:cxnLst/>
              <a:rect l="l" t="t" r="r" b="b"/>
              <a:pathLst>
                <a:path w="2333371" h="2303018">
                  <a:moveTo>
                    <a:pt x="0" y="0"/>
                  </a:moveTo>
                  <a:lnTo>
                    <a:pt x="2333371" y="0"/>
                  </a:lnTo>
                  <a:lnTo>
                    <a:pt x="2333371" y="2303018"/>
                  </a:lnTo>
                  <a:lnTo>
                    <a:pt x="0" y="2303018"/>
                  </a:lnTo>
                  <a:lnTo>
                    <a:pt x="0" y="0"/>
                  </a:lnTo>
                  <a:close/>
                </a:path>
              </a:pathLst>
            </a:custGeom>
            <a:blipFill>
              <a:blip r:embed="rId5"/>
              <a:stretch>
                <a:fillRect t="-26" r="-1" b="-25"/>
              </a:stretch>
            </a:blipFill>
          </p:spPr>
          <p:txBody>
            <a:bodyPr/>
            <a:lstStyle/>
            <a:p>
              <a:endParaRPr/>
            </a:p>
          </p:txBody>
        </p:sp>
      </p:grpSp>
      <p:grpSp>
        <p:nvGrpSpPr>
          <p:cNvPr id="8" name="Group 8"/>
          <p:cNvGrpSpPr/>
          <p:nvPr/>
        </p:nvGrpSpPr>
        <p:grpSpPr>
          <a:xfrm>
            <a:off x="13059727" y="7046871"/>
            <a:ext cx="5228272" cy="3256521"/>
            <a:chOff x="0" y="0"/>
            <a:chExt cx="6971030" cy="4342028"/>
          </a:xfrm>
        </p:grpSpPr>
        <p:sp>
          <p:nvSpPr>
            <p:cNvPr id="9" name="Freeform 9"/>
            <p:cNvSpPr/>
            <p:nvPr/>
          </p:nvSpPr>
          <p:spPr>
            <a:xfrm>
              <a:off x="0" y="0"/>
              <a:ext cx="6971030" cy="4342003"/>
            </a:xfrm>
            <a:custGeom>
              <a:avLst/>
              <a:gdLst/>
              <a:ahLst/>
              <a:cxnLst/>
              <a:rect l="l" t="t" r="r" b="b"/>
              <a:pathLst>
                <a:path w="6971030" h="4342003">
                  <a:moveTo>
                    <a:pt x="0" y="0"/>
                  </a:moveTo>
                  <a:lnTo>
                    <a:pt x="6971030" y="0"/>
                  </a:lnTo>
                  <a:lnTo>
                    <a:pt x="6971030" y="4342003"/>
                  </a:lnTo>
                  <a:lnTo>
                    <a:pt x="0" y="4342003"/>
                  </a:lnTo>
                  <a:lnTo>
                    <a:pt x="0" y="0"/>
                  </a:lnTo>
                  <a:close/>
                </a:path>
              </a:pathLst>
            </a:custGeom>
            <a:blipFill>
              <a:blip r:embed="rId6"/>
              <a:stretch>
                <a:fillRect t="-2900" b="-2900"/>
              </a:stretch>
            </a:blipFill>
          </p:spPr>
          <p:txBody>
            <a:bodyPr/>
            <a:lstStyle/>
            <a:p>
              <a:endParaRPr/>
            </a:p>
          </p:txBody>
        </p:sp>
      </p:grpSp>
      <p:grpSp>
        <p:nvGrpSpPr>
          <p:cNvPr id="10" name="Group 10"/>
          <p:cNvGrpSpPr/>
          <p:nvPr/>
        </p:nvGrpSpPr>
        <p:grpSpPr>
          <a:xfrm>
            <a:off x="0" y="7046871"/>
            <a:ext cx="1312535" cy="3432648"/>
            <a:chOff x="0" y="0"/>
            <a:chExt cx="1750047" cy="4576864"/>
          </a:xfrm>
        </p:grpSpPr>
        <p:sp>
          <p:nvSpPr>
            <p:cNvPr id="11" name="Freeform 11"/>
            <p:cNvSpPr/>
            <p:nvPr/>
          </p:nvSpPr>
          <p:spPr>
            <a:xfrm>
              <a:off x="0" y="0"/>
              <a:ext cx="1750060" cy="4576826"/>
            </a:xfrm>
            <a:custGeom>
              <a:avLst/>
              <a:gdLst/>
              <a:ahLst/>
              <a:cxnLst/>
              <a:rect l="l" t="t" r="r" b="b"/>
              <a:pathLst>
                <a:path w="1750060" h="4576826">
                  <a:moveTo>
                    <a:pt x="0" y="0"/>
                  </a:moveTo>
                  <a:lnTo>
                    <a:pt x="1750060" y="0"/>
                  </a:lnTo>
                  <a:lnTo>
                    <a:pt x="1750060" y="4576826"/>
                  </a:lnTo>
                  <a:lnTo>
                    <a:pt x="0" y="4576826"/>
                  </a:lnTo>
                  <a:lnTo>
                    <a:pt x="0" y="0"/>
                  </a:lnTo>
                  <a:close/>
                </a:path>
              </a:pathLst>
            </a:custGeom>
            <a:blipFill>
              <a:blip r:embed="rId7"/>
              <a:stretch>
                <a:fillRect t="-26" b="-27"/>
              </a:stretch>
            </a:blipFill>
          </p:spPr>
          <p:txBody>
            <a:bodyPr/>
            <a:lstStyle/>
            <a:p>
              <a:endParaRPr/>
            </a:p>
          </p:txBody>
        </p:sp>
      </p:grpSp>
      <p:grpSp>
        <p:nvGrpSpPr>
          <p:cNvPr id="12" name="Group 12"/>
          <p:cNvGrpSpPr/>
          <p:nvPr/>
        </p:nvGrpSpPr>
        <p:grpSpPr>
          <a:xfrm>
            <a:off x="16975465" y="5455063"/>
            <a:ext cx="1312535" cy="4088568"/>
            <a:chOff x="0" y="0"/>
            <a:chExt cx="1750047" cy="5451424"/>
          </a:xfrm>
        </p:grpSpPr>
        <p:sp>
          <p:nvSpPr>
            <p:cNvPr id="13" name="Freeform 13"/>
            <p:cNvSpPr/>
            <p:nvPr/>
          </p:nvSpPr>
          <p:spPr>
            <a:xfrm>
              <a:off x="0" y="0"/>
              <a:ext cx="1750060" cy="5451475"/>
            </a:xfrm>
            <a:custGeom>
              <a:avLst/>
              <a:gdLst/>
              <a:ahLst/>
              <a:cxnLst/>
              <a:rect l="l" t="t" r="r" b="b"/>
              <a:pathLst>
                <a:path w="1750060" h="5451475">
                  <a:moveTo>
                    <a:pt x="0" y="0"/>
                  </a:moveTo>
                  <a:lnTo>
                    <a:pt x="1750060" y="0"/>
                  </a:lnTo>
                  <a:lnTo>
                    <a:pt x="1750060" y="5451475"/>
                  </a:lnTo>
                  <a:lnTo>
                    <a:pt x="0" y="5451475"/>
                  </a:lnTo>
                  <a:lnTo>
                    <a:pt x="0" y="0"/>
                  </a:lnTo>
                  <a:close/>
                </a:path>
              </a:pathLst>
            </a:custGeom>
            <a:blipFill>
              <a:blip r:embed="rId8"/>
              <a:stretch>
                <a:fillRect t="-26" b="-25"/>
              </a:stretch>
            </a:blipFill>
          </p:spPr>
          <p:txBody>
            <a:bodyPr/>
            <a:lstStyle/>
            <a:p>
              <a:endParaRPr/>
            </a:p>
          </p:txBody>
        </p:sp>
      </p:grpSp>
      <p:grpSp>
        <p:nvGrpSpPr>
          <p:cNvPr id="14" name="Group 14"/>
          <p:cNvGrpSpPr/>
          <p:nvPr/>
        </p:nvGrpSpPr>
        <p:grpSpPr>
          <a:xfrm>
            <a:off x="16706945" y="7046871"/>
            <a:ext cx="1104719" cy="2372239"/>
            <a:chOff x="0" y="0"/>
            <a:chExt cx="1472959" cy="3162986"/>
          </a:xfrm>
        </p:grpSpPr>
        <p:sp>
          <p:nvSpPr>
            <p:cNvPr id="15" name="Freeform 15"/>
            <p:cNvSpPr/>
            <p:nvPr/>
          </p:nvSpPr>
          <p:spPr>
            <a:xfrm>
              <a:off x="0" y="0"/>
              <a:ext cx="1472946" cy="3162935"/>
            </a:xfrm>
            <a:custGeom>
              <a:avLst/>
              <a:gdLst/>
              <a:ahLst/>
              <a:cxnLst/>
              <a:rect l="l" t="t" r="r" b="b"/>
              <a:pathLst>
                <a:path w="1472946" h="3162935">
                  <a:moveTo>
                    <a:pt x="0" y="0"/>
                  </a:moveTo>
                  <a:lnTo>
                    <a:pt x="1472946" y="0"/>
                  </a:lnTo>
                  <a:lnTo>
                    <a:pt x="1472946" y="3162935"/>
                  </a:lnTo>
                  <a:lnTo>
                    <a:pt x="0" y="3162935"/>
                  </a:lnTo>
                  <a:lnTo>
                    <a:pt x="0" y="0"/>
                  </a:lnTo>
                  <a:close/>
                </a:path>
              </a:pathLst>
            </a:custGeom>
            <a:blipFill>
              <a:blip r:embed="rId9"/>
              <a:stretch>
                <a:fillRect t="-26" b="-28"/>
              </a:stretch>
            </a:blipFill>
          </p:spPr>
          <p:txBody>
            <a:bodyPr/>
            <a:lstStyle/>
            <a:p>
              <a:endParaRPr/>
            </a:p>
          </p:txBody>
        </p:sp>
      </p:grpSp>
      <p:sp>
        <p:nvSpPr>
          <p:cNvPr id="16" name="TextBox 16"/>
          <p:cNvSpPr txBox="1"/>
          <p:nvPr/>
        </p:nvSpPr>
        <p:spPr>
          <a:xfrm>
            <a:off x="464574" y="255897"/>
            <a:ext cx="15453360" cy="1314450"/>
          </a:xfrm>
          <a:prstGeom prst="rect">
            <a:avLst/>
          </a:prstGeom>
        </p:spPr>
        <p:txBody>
          <a:bodyPr lIns="0" tIns="0" rIns="0" bIns="0" rtlCol="0" anchor="t">
            <a:spAutoFit/>
          </a:bodyPr>
          <a:lstStyle/>
          <a:p>
            <a:pPr algn="l">
              <a:lnSpc>
                <a:spcPts val="7499"/>
              </a:lnSpc>
            </a:pPr>
            <a:r>
              <a:rPr lang="en-US" sz="6600" b="1" spc="150" dirty="0">
                <a:solidFill>
                  <a:srgbClr val="172243"/>
                </a:solidFill>
                <a:latin typeface="Heading Now 31-38 Bold"/>
                <a:ea typeface="Heading Now 31-38 Bold"/>
                <a:cs typeface="Heading Now 31-38 Bold"/>
                <a:sym typeface="Heading Now 31-38 Bold"/>
              </a:rPr>
              <a:t>IMPACT AND BENEFITS</a:t>
            </a:r>
          </a:p>
        </p:txBody>
      </p:sp>
      <p:grpSp>
        <p:nvGrpSpPr>
          <p:cNvPr id="17" name="Group 17"/>
          <p:cNvGrpSpPr/>
          <p:nvPr/>
        </p:nvGrpSpPr>
        <p:grpSpPr>
          <a:xfrm>
            <a:off x="457200" y="1028700"/>
            <a:ext cx="5020447" cy="535667"/>
            <a:chOff x="0" y="0"/>
            <a:chExt cx="6693929" cy="714223"/>
          </a:xfrm>
        </p:grpSpPr>
        <p:sp>
          <p:nvSpPr>
            <p:cNvPr id="18" name="Freeform 18"/>
            <p:cNvSpPr/>
            <p:nvPr/>
          </p:nvSpPr>
          <p:spPr>
            <a:xfrm>
              <a:off x="0" y="0"/>
              <a:ext cx="6693916" cy="714248"/>
            </a:xfrm>
            <a:custGeom>
              <a:avLst/>
              <a:gdLst/>
              <a:ahLst/>
              <a:cxnLst/>
              <a:rect l="l" t="t" r="r" b="b"/>
              <a:pathLst>
                <a:path w="6693916" h="714248">
                  <a:moveTo>
                    <a:pt x="0" y="0"/>
                  </a:moveTo>
                  <a:lnTo>
                    <a:pt x="6693916" y="0"/>
                  </a:lnTo>
                  <a:lnTo>
                    <a:pt x="6693916" y="714248"/>
                  </a:lnTo>
                  <a:lnTo>
                    <a:pt x="0" y="714248"/>
                  </a:lnTo>
                  <a:lnTo>
                    <a:pt x="0" y="0"/>
                  </a:lnTo>
                  <a:close/>
                </a:path>
              </a:pathLst>
            </a:custGeom>
            <a:blipFill>
              <a:blip r:embed="rId10"/>
              <a:stretch>
                <a:fillRect l="-11217" r="-11217" b="3"/>
              </a:stretch>
            </a:blipFill>
          </p:spPr>
          <p:txBody>
            <a:bodyPr/>
            <a:lstStyle/>
            <a:p>
              <a:endParaRPr/>
            </a:p>
          </p:txBody>
        </p:sp>
      </p:grpSp>
      <p:grpSp>
        <p:nvGrpSpPr>
          <p:cNvPr id="19" name="Group 19"/>
          <p:cNvGrpSpPr/>
          <p:nvPr/>
        </p:nvGrpSpPr>
        <p:grpSpPr>
          <a:xfrm>
            <a:off x="13923816" y="2160727"/>
            <a:ext cx="4364184" cy="2153602"/>
            <a:chOff x="0" y="0"/>
            <a:chExt cx="5818911" cy="2871470"/>
          </a:xfrm>
        </p:grpSpPr>
        <p:sp>
          <p:nvSpPr>
            <p:cNvPr id="20" name="Freeform 20"/>
            <p:cNvSpPr/>
            <p:nvPr/>
          </p:nvSpPr>
          <p:spPr>
            <a:xfrm>
              <a:off x="0" y="0"/>
              <a:ext cx="5818886" cy="2871470"/>
            </a:xfrm>
            <a:custGeom>
              <a:avLst/>
              <a:gdLst/>
              <a:ahLst/>
              <a:cxnLst/>
              <a:rect l="l" t="t" r="r" b="b"/>
              <a:pathLst>
                <a:path w="5818886" h="2871470">
                  <a:moveTo>
                    <a:pt x="0" y="0"/>
                  </a:moveTo>
                  <a:lnTo>
                    <a:pt x="5818886" y="0"/>
                  </a:lnTo>
                  <a:lnTo>
                    <a:pt x="5818886" y="2871470"/>
                  </a:lnTo>
                  <a:lnTo>
                    <a:pt x="0" y="2871470"/>
                  </a:lnTo>
                  <a:lnTo>
                    <a:pt x="0" y="0"/>
                  </a:lnTo>
                  <a:close/>
                </a:path>
              </a:pathLst>
            </a:custGeom>
            <a:blipFill>
              <a:blip r:embed="rId11">
                <a:alphaModFix amt="68000"/>
              </a:blip>
              <a:stretch>
                <a:fillRect t="-26" b="-26"/>
              </a:stretch>
            </a:blipFill>
          </p:spPr>
          <p:txBody>
            <a:bodyPr/>
            <a:lstStyle/>
            <a:p>
              <a:endParaRPr/>
            </a:p>
          </p:txBody>
        </p:sp>
      </p:grpSp>
      <p:grpSp>
        <p:nvGrpSpPr>
          <p:cNvPr id="21" name="Group 21"/>
          <p:cNvGrpSpPr/>
          <p:nvPr/>
        </p:nvGrpSpPr>
        <p:grpSpPr>
          <a:xfrm>
            <a:off x="16178936" y="216170"/>
            <a:ext cx="2160727" cy="2160727"/>
            <a:chOff x="0" y="0"/>
            <a:chExt cx="2880970" cy="2880970"/>
          </a:xfrm>
        </p:grpSpPr>
        <p:sp>
          <p:nvSpPr>
            <p:cNvPr id="22" name="Freeform 22"/>
            <p:cNvSpPr/>
            <p:nvPr/>
          </p:nvSpPr>
          <p:spPr>
            <a:xfrm>
              <a:off x="0" y="0"/>
              <a:ext cx="2880995" cy="2880995"/>
            </a:xfrm>
            <a:custGeom>
              <a:avLst/>
              <a:gdLst/>
              <a:ahLst/>
              <a:cxnLst/>
              <a:rect l="l" t="t" r="r" b="b"/>
              <a:pathLst>
                <a:path w="2880995" h="2880995">
                  <a:moveTo>
                    <a:pt x="0" y="0"/>
                  </a:moveTo>
                  <a:lnTo>
                    <a:pt x="2880995" y="0"/>
                  </a:lnTo>
                  <a:lnTo>
                    <a:pt x="2880995" y="2880995"/>
                  </a:lnTo>
                  <a:lnTo>
                    <a:pt x="0" y="2880995"/>
                  </a:lnTo>
                  <a:lnTo>
                    <a:pt x="0" y="0"/>
                  </a:lnTo>
                  <a:close/>
                </a:path>
              </a:pathLst>
            </a:custGeom>
            <a:blipFill>
              <a:blip r:embed="rId12"/>
              <a:stretch>
                <a:fillRect/>
              </a:stretch>
            </a:blipFill>
          </p:spPr>
          <p:txBody>
            <a:bodyPr/>
            <a:lstStyle/>
            <a:p>
              <a:endParaRPr/>
            </a:p>
          </p:txBody>
        </p:sp>
      </p:grpSp>
      <p:grpSp>
        <p:nvGrpSpPr>
          <p:cNvPr id="23" name="Group 23"/>
          <p:cNvGrpSpPr/>
          <p:nvPr/>
        </p:nvGrpSpPr>
        <p:grpSpPr>
          <a:xfrm>
            <a:off x="457200" y="1783080"/>
            <a:ext cx="15453360" cy="603504"/>
            <a:chOff x="0" y="0"/>
            <a:chExt cx="20604480" cy="804672"/>
          </a:xfrm>
        </p:grpSpPr>
        <p:sp>
          <p:nvSpPr>
            <p:cNvPr id="24" name="Freeform 24"/>
            <p:cNvSpPr/>
            <p:nvPr/>
          </p:nvSpPr>
          <p:spPr>
            <a:xfrm>
              <a:off x="0" y="0"/>
              <a:ext cx="20604480" cy="804672"/>
            </a:xfrm>
            <a:custGeom>
              <a:avLst/>
              <a:gdLst/>
              <a:ahLst/>
              <a:cxnLst/>
              <a:rect l="l" t="t" r="r" b="b"/>
              <a:pathLst>
                <a:path w="20604480" h="804672">
                  <a:moveTo>
                    <a:pt x="0" y="241427"/>
                  </a:moveTo>
                  <a:cubicBezTo>
                    <a:pt x="0" y="108077"/>
                    <a:pt x="108077" y="0"/>
                    <a:pt x="241427" y="0"/>
                  </a:cubicBezTo>
                  <a:lnTo>
                    <a:pt x="20363053" y="0"/>
                  </a:lnTo>
                  <a:cubicBezTo>
                    <a:pt x="20496403" y="0"/>
                    <a:pt x="20604480" y="108077"/>
                    <a:pt x="20604480" y="241427"/>
                  </a:cubicBezTo>
                  <a:lnTo>
                    <a:pt x="20604480" y="563245"/>
                  </a:lnTo>
                  <a:cubicBezTo>
                    <a:pt x="20604480" y="696595"/>
                    <a:pt x="20496403" y="804672"/>
                    <a:pt x="20363053" y="804672"/>
                  </a:cubicBezTo>
                  <a:lnTo>
                    <a:pt x="241427" y="804672"/>
                  </a:lnTo>
                  <a:cubicBezTo>
                    <a:pt x="108077" y="804672"/>
                    <a:pt x="0" y="696595"/>
                    <a:pt x="0" y="563245"/>
                  </a:cubicBezTo>
                  <a:close/>
                </a:path>
              </a:pathLst>
            </a:custGeom>
            <a:solidFill>
              <a:srgbClr val="172243"/>
            </a:solidFill>
          </p:spPr>
          <p:txBody>
            <a:bodyPr/>
            <a:lstStyle/>
            <a:p>
              <a:endParaRPr/>
            </a:p>
          </p:txBody>
        </p:sp>
        <p:sp>
          <p:nvSpPr>
            <p:cNvPr id="25" name="TextBox 25"/>
            <p:cNvSpPr txBox="1"/>
            <p:nvPr/>
          </p:nvSpPr>
          <p:spPr>
            <a:xfrm>
              <a:off x="0" y="-38100"/>
              <a:ext cx="20604480" cy="842772"/>
            </a:xfrm>
            <a:prstGeom prst="rect">
              <a:avLst/>
            </a:prstGeom>
          </p:spPr>
          <p:txBody>
            <a:bodyPr lIns="50800" tIns="50800" rIns="50800" bIns="50800" rtlCol="0" anchor="ctr"/>
            <a:lstStyle/>
            <a:p>
              <a:pPr algn="l">
                <a:lnSpc>
                  <a:spcPts val="2879"/>
                </a:lnSpc>
              </a:pPr>
              <a:r>
                <a:rPr lang="en-US" sz="2400" b="1">
                  <a:solidFill>
                    <a:srgbClr val="FFFFFF"/>
                  </a:solidFill>
                  <a:latin typeface="Calibri (MS) Bold"/>
                  <a:ea typeface="Calibri (MS) Bold"/>
                  <a:cs typeface="Calibri (MS) Bold"/>
                  <a:sym typeface="Calibri (MS) Bold"/>
                </a:rPr>
                <a:t>Everyone in the pipeline gets transparency: what matched, why, and what to do next.</a:t>
              </a:r>
            </a:p>
          </p:txBody>
        </p:sp>
      </p:grpSp>
      <p:sp>
        <p:nvSpPr>
          <p:cNvPr id="26" name="AutoShape 26"/>
          <p:cNvSpPr/>
          <p:nvPr/>
        </p:nvSpPr>
        <p:spPr>
          <a:xfrm rot="5386800">
            <a:off x="5426364" y="6299835"/>
            <a:ext cx="7435272" cy="0"/>
          </a:xfrm>
          <a:prstGeom prst="line">
            <a:avLst/>
          </a:prstGeom>
          <a:ln w="19050" cap="rnd">
            <a:solidFill>
              <a:srgbClr val="172243"/>
            </a:solidFill>
            <a:prstDash val="solid"/>
            <a:headEnd type="none" w="sm" len="sm"/>
            <a:tailEnd type="none" w="sm" len="sm"/>
          </a:ln>
        </p:spPr>
        <p:txBody>
          <a:bodyPr/>
          <a:lstStyle/>
          <a:p>
            <a:endParaRPr/>
          </a:p>
        </p:txBody>
      </p:sp>
      <p:grpSp>
        <p:nvGrpSpPr>
          <p:cNvPr id="27" name="Group 27"/>
          <p:cNvGrpSpPr/>
          <p:nvPr/>
        </p:nvGrpSpPr>
        <p:grpSpPr>
          <a:xfrm>
            <a:off x="457200" y="2606040"/>
            <a:ext cx="8412480" cy="566928"/>
            <a:chOff x="0" y="0"/>
            <a:chExt cx="11216640" cy="755904"/>
          </a:xfrm>
        </p:grpSpPr>
        <p:sp>
          <p:nvSpPr>
            <p:cNvPr id="28" name="Freeform 28"/>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txBody>
            <a:bodyPr/>
            <a:lstStyle/>
            <a:p>
              <a:endParaRPr/>
            </a:p>
          </p:txBody>
        </p:sp>
        <p:sp>
          <p:nvSpPr>
            <p:cNvPr id="29" name="TextBox 29"/>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WHO BENEFITS</a:t>
              </a:r>
            </a:p>
          </p:txBody>
        </p:sp>
      </p:grpSp>
      <p:grpSp>
        <p:nvGrpSpPr>
          <p:cNvPr id="30" name="Group 30"/>
          <p:cNvGrpSpPr/>
          <p:nvPr/>
        </p:nvGrpSpPr>
        <p:grpSpPr>
          <a:xfrm>
            <a:off x="450847" y="3303775"/>
            <a:ext cx="8425177" cy="2124961"/>
            <a:chOff x="0" y="0"/>
            <a:chExt cx="11233569" cy="2833281"/>
          </a:xfrm>
        </p:grpSpPr>
        <p:sp>
          <p:nvSpPr>
            <p:cNvPr id="31" name="Freeform 31"/>
            <p:cNvSpPr/>
            <p:nvPr/>
          </p:nvSpPr>
          <p:spPr>
            <a:xfrm>
              <a:off x="0" y="0"/>
              <a:ext cx="11233658" cy="2833370"/>
            </a:xfrm>
            <a:custGeom>
              <a:avLst/>
              <a:gdLst/>
              <a:ahLst/>
              <a:cxnLst/>
              <a:rect l="l" t="t" r="r" b="b"/>
              <a:pathLst>
                <a:path w="11233658" h="2833370">
                  <a:moveTo>
                    <a:pt x="0" y="170053"/>
                  </a:moveTo>
                  <a:cubicBezTo>
                    <a:pt x="0" y="76073"/>
                    <a:pt x="76073" y="0"/>
                    <a:pt x="170053" y="0"/>
                  </a:cubicBezTo>
                  <a:lnTo>
                    <a:pt x="11063605" y="0"/>
                  </a:lnTo>
                  <a:cubicBezTo>
                    <a:pt x="11157458" y="0"/>
                    <a:pt x="11233658" y="76073"/>
                    <a:pt x="11233658" y="170053"/>
                  </a:cubicBezTo>
                  <a:lnTo>
                    <a:pt x="11233658" y="2663317"/>
                  </a:lnTo>
                  <a:cubicBezTo>
                    <a:pt x="11233658" y="2757170"/>
                    <a:pt x="11157586" y="2833370"/>
                    <a:pt x="11063605" y="2833370"/>
                  </a:cubicBezTo>
                  <a:lnTo>
                    <a:pt x="170053" y="2833370"/>
                  </a:lnTo>
                  <a:cubicBezTo>
                    <a:pt x="76073" y="2833243"/>
                    <a:pt x="0" y="2757170"/>
                    <a:pt x="0" y="2663317"/>
                  </a:cubicBezTo>
                  <a:close/>
                </a:path>
              </a:pathLst>
            </a:custGeom>
            <a:solidFill>
              <a:srgbClr val="FFFFFF"/>
            </a:solidFill>
            <a:ln w="12700" cap="sq">
              <a:solidFill>
                <a:srgbClr val="D7D0E6"/>
              </a:solidFill>
              <a:prstDash val="solid"/>
              <a:miter/>
            </a:ln>
          </p:spPr>
          <p:txBody>
            <a:bodyPr/>
            <a:lstStyle/>
            <a:p>
              <a:endParaRPr/>
            </a:p>
          </p:txBody>
        </p:sp>
        <p:sp>
          <p:nvSpPr>
            <p:cNvPr id="32" name="TextBox 32"/>
            <p:cNvSpPr txBox="1"/>
            <p:nvPr/>
          </p:nvSpPr>
          <p:spPr>
            <a:xfrm>
              <a:off x="0" y="-38100"/>
              <a:ext cx="11233569" cy="2871381"/>
            </a:xfrm>
            <a:prstGeom prst="rect">
              <a:avLst/>
            </a:prstGeom>
          </p:spPr>
          <p:txBody>
            <a:bodyPr lIns="50800" tIns="50800" rIns="50800" bIns="50800" rtlCol="0" anchor="ctr"/>
            <a:lstStyle/>
            <a:p>
              <a:pPr algn="l">
                <a:lnSpc>
                  <a:spcPts val="2879"/>
                </a:lnSpc>
              </a:pPr>
              <a:r>
                <a:rPr lang="en-US" sz="2400" b="1">
                  <a:solidFill>
                    <a:srgbClr val="172243"/>
                  </a:solidFill>
                  <a:latin typeface="Calibri (MS) Bold"/>
                  <a:ea typeface="Calibri (MS) Bold"/>
                  <a:cs typeface="Calibri (MS) Bold"/>
                  <a:sym typeface="Calibri (MS) Bold"/>
                </a:rPr>
                <a:t>Candidates</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See why a role appears and which condition failed</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Equivalent skills recognised even when worded differently</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Skill gaps lead to catalogue resources or an AI Tutor session (EN/HI/MR) with PDF notes</a:t>
              </a:r>
            </a:p>
          </p:txBody>
        </p:sp>
      </p:grpSp>
      <p:grpSp>
        <p:nvGrpSpPr>
          <p:cNvPr id="33" name="Group 33"/>
          <p:cNvGrpSpPr/>
          <p:nvPr/>
        </p:nvGrpSpPr>
        <p:grpSpPr>
          <a:xfrm>
            <a:off x="457200" y="5605272"/>
            <a:ext cx="8412480" cy="2112264"/>
            <a:chOff x="0" y="0"/>
            <a:chExt cx="11216640" cy="2816352"/>
          </a:xfrm>
        </p:grpSpPr>
        <p:sp>
          <p:nvSpPr>
            <p:cNvPr id="34" name="Freeform 34"/>
            <p:cNvSpPr/>
            <p:nvPr/>
          </p:nvSpPr>
          <p:spPr>
            <a:xfrm>
              <a:off x="0" y="0"/>
              <a:ext cx="11216640" cy="2816352"/>
            </a:xfrm>
            <a:custGeom>
              <a:avLst/>
              <a:gdLst/>
              <a:ahLst/>
              <a:cxnLst/>
              <a:rect l="l" t="t" r="r" b="b"/>
              <a:pathLst>
                <a:path w="11216640" h="2816352">
                  <a:moveTo>
                    <a:pt x="0" y="169037"/>
                  </a:moveTo>
                  <a:cubicBezTo>
                    <a:pt x="0" y="75692"/>
                    <a:pt x="75692" y="0"/>
                    <a:pt x="169037" y="0"/>
                  </a:cubicBezTo>
                  <a:lnTo>
                    <a:pt x="11047603" y="0"/>
                  </a:lnTo>
                  <a:cubicBezTo>
                    <a:pt x="11140948" y="0"/>
                    <a:pt x="11216640" y="75692"/>
                    <a:pt x="11216640" y="169037"/>
                  </a:cubicBezTo>
                  <a:lnTo>
                    <a:pt x="11216640" y="2647315"/>
                  </a:lnTo>
                  <a:cubicBezTo>
                    <a:pt x="11216640" y="2740660"/>
                    <a:pt x="11140948" y="2816352"/>
                    <a:pt x="11047603" y="2816352"/>
                  </a:cubicBezTo>
                  <a:lnTo>
                    <a:pt x="169037" y="2816352"/>
                  </a:lnTo>
                  <a:cubicBezTo>
                    <a:pt x="75692" y="2816352"/>
                    <a:pt x="0" y="2740660"/>
                    <a:pt x="0" y="2647315"/>
                  </a:cubicBezTo>
                  <a:close/>
                </a:path>
              </a:pathLst>
            </a:custGeom>
            <a:solidFill>
              <a:srgbClr val="ECE7F6"/>
            </a:solidFill>
          </p:spPr>
          <p:txBody>
            <a:bodyPr/>
            <a:lstStyle/>
            <a:p>
              <a:endParaRPr/>
            </a:p>
          </p:txBody>
        </p:sp>
        <p:sp>
          <p:nvSpPr>
            <p:cNvPr id="35" name="TextBox 35"/>
            <p:cNvSpPr txBox="1"/>
            <p:nvPr/>
          </p:nvSpPr>
          <p:spPr>
            <a:xfrm>
              <a:off x="0" y="-38100"/>
              <a:ext cx="11216640" cy="2854452"/>
            </a:xfrm>
            <a:prstGeom prst="rect">
              <a:avLst/>
            </a:prstGeom>
          </p:spPr>
          <p:txBody>
            <a:bodyPr lIns="50800" tIns="50800" rIns="50800" bIns="50800" rtlCol="0" anchor="ctr"/>
            <a:lstStyle/>
            <a:p>
              <a:pPr algn="l">
                <a:lnSpc>
                  <a:spcPts val="2879"/>
                </a:lnSpc>
              </a:pPr>
              <a:r>
                <a:rPr lang="en-US" sz="2400" b="1">
                  <a:solidFill>
                    <a:srgbClr val="172243"/>
                  </a:solidFill>
                  <a:latin typeface="Calibri (MS) Bold"/>
                  <a:ea typeface="Calibri (MS) Bold"/>
                  <a:cs typeface="Calibri (MS) Bold"/>
                  <a:sym typeface="Calibri (MS) Bold"/>
                </a:rPr>
                <a:t>Employers</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Define mandatory and preferred criteria once, clearly</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Top 5 / 10 / 20 ranking of eligible applicants, with explanations</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Ineligible applicants stay viewable with the failed condition; shortlisting is a human action</a:t>
              </a:r>
            </a:p>
          </p:txBody>
        </p:sp>
      </p:grpSp>
      <p:grpSp>
        <p:nvGrpSpPr>
          <p:cNvPr id="36" name="Group 36"/>
          <p:cNvGrpSpPr/>
          <p:nvPr/>
        </p:nvGrpSpPr>
        <p:grpSpPr>
          <a:xfrm>
            <a:off x="450847" y="7894063"/>
            <a:ext cx="8425177" cy="2124961"/>
            <a:chOff x="0" y="0"/>
            <a:chExt cx="11233569" cy="2833281"/>
          </a:xfrm>
        </p:grpSpPr>
        <p:sp>
          <p:nvSpPr>
            <p:cNvPr id="37" name="Freeform 37"/>
            <p:cNvSpPr/>
            <p:nvPr/>
          </p:nvSpPr>
          <p:spPr>
            <a:xfrm>
              <a:off x="0" y="0"/>
              <a:ext cx="11233658" cy="2833370"/>
            </a:xfrm>
            <a:custGeom>
              <a:avLst/>
              <a:gdLst/>
              <a:ahLst/>
              <a:cxnLst/>
              <a:rect l="l" t="t" r="r" b="b"/>
              <a:pathLst>
                <a:path w="11233658" h="2833370">
                  <a:moveTo>
                    <a:pt x="0" y="170053"/>
                  </a:moveTo>
                  <a:cubicBezTo>
                    <a:pt x="0" y="76073"/>
                    <a:pt x="76073" y="0"/>
                    <a:pt x="170053" y="0"/>
                  </a:cubicBezTo>
                  <a:lnTo>
                    <a:pt x="11063605" y="0"/>
                  </a:lnTo>
                  <a:cubicBezTo>
                    <a:pt x="11157458" y="0"/>
                    <a:pt x="11233658" y="76073"/>
                    <a:pt x="11233658" y="170053"/>
                  </a:cubicBezTo>
                  <a:lnTo>
                    <a:pt x="11233658" y="2663317"/>
                  </a:lnTo>
                  <a:cubicBezTo>
                    <a:pt x="11233658" y="2757170"/>
                    <a:pt x="11157586" y="2833370"/>
                    <a:pt x="11063605" y="2833370"/>
                  </a:cubicBezTo>
                  <a:lnTo>
                    <a:pt x="170053" y="2833370"/>
                  </a:lnTo>
                  <a:cubicBezTo>
                    <a:pt x="76073" y="2833243"/>
                    <a:pt x="0" y="2757170"/>
                    <a:pt x="0" y="2663317"/>
                  </a:cubicBezTo>
                  <a:close/>
                </a:path>
              </a:pathLst>
            </a:custGeom>
            <a:solidFill>
              <a:srgbClr val="FFFFFF"/>
            </a:solidFill>
            <a:ln w="12700" cap="sq">
              <a:solidFill>
                <a:srgbClr val="D7D0E6"/>
              </a:solidFill>
              <a:prstDash val="solid"/>
              <a:miter/>
            </a:ln>
          </p:spPr>
          <p:txBody>
            <a:bodyPr/>
            <a:lstStyle/>
            <a:p>
              <a:endParaRPr/>
            </a:p>
          </p:txBody>
        </p:sp>
        <p:sp>
          <p:nvSpPr>
            <p:cNvPr id="38" name="TextBox 38"/>
            <p:cNvSpPr txBox="1"/>
            <p:nvPr/>
          </p:nvSpPr>
          <p:spPr>
            <a:xfrm>
              <a:off x="0" y="-38100"/>
              <a:ext cx="11233569" cy="2871381"/>
            </a:xfrm>
            <a:prstGeom prst="rect">
              <a:avLst/>
            </a:prstGeom>
          </p:spPr>
          <p:txBody>
            <a:bodyPr lIns="50800" tIns="50800" rIns="50800" bIns="50800" rtlCol="0" anchor="ctr"/>
            <a:lstStyle/>
            <a:p>
              <a:pPr algn="l">
                <a:lnSpc>
                  <a:spcPts val="2879"/>
                </a:lnSpc>
              </a:pPr>
              <a:r>
                <a:rPr lang="en-US" sz="2400" b="1">
                  <a:solidFill>
                    <a:srgbClr val="172243"/>
                  </a:solidFill>
                  <a:latin typeface="Calibri (MS) Bold"/>
                  <a:ea typeface="Calibri (MS) Bold"/>
                  <a:cs typeface="Calibri (MS) Bold"/>
                  <a:sym typeface="Calibri (MS) Bold"/>
                </a:rPr>
                <a:t>Training providers</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Resources tagged to canonical skills surface at the moment of need</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Level, duration and prerequisites drive sequencing</a:t>
              </a:r>
            </a:p>
            <a:p>
              <a:pPr marL="247332" lvl="1" indent="-123666" algn="l">
                <a:lnSpc>
                  <a:spcPts val="2459"/>
                </a:lnSpc>
                <a:buFont typeface="Arial"/>
                <a:buChar char="•"/>
              </a:pPr>
              <a:r>
                <a:rPr lang="en-US" sz="2049">
                  <a:solidFill>
                    <a:srgbClr val="1B2440"/>
                  </a:solidFill>
                  <a:latin typeface="Calibri (MS)"/>
                  <a:ea typeface="Calibri (MS)"/>
                  <a:cs typeface="Calibri (MS)"/>
                  <a:sym typeface="Calibri (MS)"/>
                </a:rPr>
                <a:t>Review workflow: only approved resources reach the Learning Hub</a:t>
              </a:r>
            </a:p>
          </p:txBody>
        </p:sp>
      </p:grpSp>
      <p:grpSp>
        <p:nvGrpSpPr>
          <p:cNvPr id="39" name="Group 39"/>
          <p:cNvGrpSpPr/>
          <p:nvPr/>
        </p:nvGrpSpPr>
        <p:grpSpPr>
          <a:xfrm>
            <a:off x="9418320" y="2606040"/>
            <a:ext cx="8412480" cy="566928"/>
            <a:chOff x="0" y="0"/>
            <a:chExt cx="11216640" cy="755904"/>
          </a:xfrm>
        </p:grpSpPr>
        <p:sp>
          <p:nvSpPr>
            <p:cNvPr id="40" name="Freeform 40"/>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txBody>
            <a:bodyPr/>
            <a:lstStyle/>
            <a:p>
              <a:endParaRPr/>
            </a:p>
          </p:txBody>
        </p:sp>
        <p:sp>
          <p:nvSpPr>
            <p:cNvPr id="41" name="TextBox 41"/>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TODAY VS WITH ROZGARLINK</a:t>
              </a:r>
            </a:p>
          </p:txBody>
        </p:sp>
      </p:grpSp>
      <p:graphicFrame>
        <p:nvGraphicFramePr>
          <p:cNvPr id="42" name="Table 42"/>
          <p:cNvGraphicFramePr>
            <a:graphicFrameLocks noGrp="1"/>
          </p:cNvGraphicFramePr>
          <p:nvPr/>
        </p:nvGraphicFramePr>
        <p:xfrm>
          <a:off x="9418320" y="3310128"/>
          <a:ext cx="8394700" cy="3985322"/>
        </p:xfrm>
        <a:graphic>
          <a:graphicData uri="http://schemas.openxmlformats.org/drawingml/2006/table">
            <a:tbl>
              <a:tblPr/>
              <a:tblGrid>
                <a:gridCol w="4014857">
                  <a:extLst>
                    <a:ext uri="{9D8B030D-6E8A-4147-A177-3AD203B41FA5}">
                      <a16:colId xmlns:a16="http://schemas.microsoft.com/office/drawing/2014/main" val="20000"/>
                    </a:ext>
                  </a:extLst>
                </a:gridCol>
                <a:gridCol w="4379843">
                  <a:extLst>
                    <a:ext uri="{9D8B030D-6E8A-4147-A177-3AD203B41FA5}">
                      <a16:colId xmlns:a16="http://schemas.microsoft.com/office/drawing/2014/main" val="20001"/>
                    </a:ext>
                  </a:extLst>
                </a:gridCol>
              </a:tblGrid>
              <a:tr h="450695">
                <a:tc>
                  <a:txBody>
                    <a:bodyPr/>
                    <a:lstStyle/>
                    <a:p>
                      <a:pPr algn="l">
                        <a:lnSpc>
                          <a:spcPts val="2220"/>
                        </a:lnSpc>
                        <a:defRPr/>
                      </a:pPr>
                      <a:r>
                        <a:rPr lang="en-US" sz="1850" b="1">
                          <a:solidFill>
                            <a:srgbClr val="FFFFFF"/>
                          </a:solidFill>
                          <a:latin typeface="Calibri (MS) Bold"/>
                          <a:ea typeface="Calibri (MS) Bold"/>
                          <a:cs typeface="Calibri (MS) Bold"/>
                          <a:sym typeface="Calibri (MS) Bold"/>
                        </a:rPr>
                        <a:t>Today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tc>
                  <a:txBody>
                    <a:bodyPr/>
                    <a:lstStyle/>
                    <a:p>
                      <a:pPr algn="l">
                        <a:lnSpc>
                          <a:spcPts val="2220"/>
                        </a:lnSpc>
                        <a:defRPr/>
                      </a:pPr>
                      <a:r>
                        <a:rPr lang="en-US" sz="1850" b="1">
                          <a:solidFill>
                            <a:srgbClr val="FFFFFF"/>
                          </a:solidFill>
                          <a:latin typeface="Calibri (MS) Bold"/>
                          <a:ea typeface="Calibri (MS) Bold"/>
                          <a:cs typeface="Calibri (MS) Bold"/>
                          <a:sym typeface="Calibri (MS) Bold"/>
                        </a:rPr>
                        <a:t>With RozgarLink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extLst>
                  <a:ext uri="{0D108BD9-81ED-4DB2-BD59-A6C34878D82A}">
                    <a16:rowId xmlns:a16="http://schemas.microsoft.com/office/drawing/2014/main" val="10000"/>
                  </a:ext>
                </a:extLst>
              </a:tr>
              <a:tr h="649001">
                <a:tc>
                  <a:txBody>
                    <a:bodyPr/>
                    <a:lstStyle/>
                    <a:p>
                      <a:pPr algn="l">
                        <a:lnSpc>
                          <a:spcPts val="2220"/>
                        </a:lnSpc>
                        <a:defRPr/>
                      </a:pPr>
                      <a:r>
                        <a:rPr lang="en-US" sz="1850" b="1">
                          <a:solidFill>
                            <a:srgbClr val="1B2440"/>
                          </a:solidFill>
                          <a:latin typeface="Calibri (MS) Bold"/>
                          <a:ea typeface="Calibri (MS) Bold"/>
                          <a:cs typeface="Calibri (MS) Bold"/>
                          <a:sym typeface="Calibri (MS) Bold"/>
                        </a:rPr>
                        <a:t>Keyword search misses equivalent skills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2220"/>
                        </a:lnSpc>
                        <a:defRPr/>
                      </a:pPr>
                      <a:r>
                        <a:rPr lang="en-US" sz="1850">
                          <a:solidFill>
                            <a:srgbClr val="1B2440"/>
                          </a:solidFill>
                          <a:latin typeface="Calibri (MS)"/>
                          <a:ea typeface="Calibri (MS)"/>
                          <a:cs typeface="Calibri (MS)"/>
                          <a:sym typeface="Calibri (MS)"/>
                        </a:rPr>
                        <a:t>Alias and semantic matching with evidence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9001">
                <a:tc>
                  <a:txBody>
                    <a:bodyPr/>
                    <a:lstStyle/>
                    <a:p>
                      <a:pPr algn="l">
                        <a:lnSpc>
                          <a:spcPts val="2220"/>
                        </a:lnSpc>
                        <a:defRPr/>
                      </a:pPr>
                      <a:r>
                        <a:rPr lang="en-US" sz="1850" b="1">
                          <a:solidFill>
                            <a:srgbClr val="1B2440"/>
                          </a:solidFill>
                          <a:latin typeface="Calibri (MS) Bold"/>
                          <a:ea typeface="Calibri (MS) Bold"/>
                          <a:cs typeface="Calibri (MS) Bold"/>
                          <a:sym typeface="Calibri (MS) Bold"/>
                        </a:rPr>
                        <a:t>Eligibility mixed with preference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2220"/>
                        </a:lnSpc>
                        <a:defRPr/>
                      </a:pPr>
                      <a:r>
                        <a:rPr lang="en-US" sz="1850">
                          <a:solidFill>
                            <a:srgbClr val="1B2440"/>
                          </a:solidFill>
                          <a:latin typeface="Calibri (MS)"/>
                          <a:ea typeface="Calibri (MS)"/>
                          <a:cs typeface="Calibri (MS)"/>
                          <a:sym typeface="Calibri (MS)"/>
                        </a:rPr>
                        <a:t>Deterministic eligibility first, then ranking</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extLst>
                  <a:ext uri="{0D108BD9-81ED-4DB2-BD59-A6C34878D82A}">
                    <a16:rowId xmlns:a16="http://schemas.microsoft.com/office/drawing/2014/main" val="10002"/>
                  </a:ext>
                </a:extLst>
              </a:tr>
              <a:tr h="649001">
                <a:tc>
                  <a:txBody>
                    <a:bodyPr/>
                    <a:lstStyle/>
                    <a:p>
                      <a:pPr algn="l">
                        <a:lnSpc>
                          <a:spcPts val="2220"/>
                        </a:lnSpc>
                        <a:defRPr/>
                      </a:pPr>
                      <a:r>
                        <a:rPr lang="en-US" sz="1850" b="1">
                          <a:solidFill>
                            <a:srgbClr val="1B2440"/>
                          </a:solidFill>
                          <a:latin typeface="Calibri (MS) Bold"/>
                          <a:ea typeface="Calibri (MS) Bold"/>
                          <a:cs typeface="Calibri (MS) Bold"/>
                          <a:sym typeface="Calibri (MS) Bold"/>
                        </a:rPr>
                        <a:t>Opaque recommendations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2220"/>
                        </a:lnSpc>
                        <a:defRPr/>
                      </a:pPr>
                      <a:r>
                        <a:rPr lang="en-US" sz="1850">
                          <a:solidFill>
                            <a:srgbClr val="1B2440"/>
                          </a:solidFill>
                          <a:latin typeface="Calibri (MS)"/>
                          <a:ea typeface="Calibri (MS)"/>
                          <a:cs typeface="Calibri (MS)"/>
                          <a:sym typeface="Calibri (MS)"/>
                        </a:rPr>
                        <a:t>Criterion-level reasons and score breakdowns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9001">
                <a:tc>
                  <a:txBody>
                    <a:bodyPr/>
                    <a:lstStyle/>
                    <a:p>
                      <a:pPr algn="l">
                        <a:lnSpc>
                          <a:spcPts val="2220"/>
                        </a:lnSpc>
                        <a:defRPr/>
                      </a:pPr>
                      <a:r>
                        <a:rPr lang="en-US" sz="1850" b="1">
                          <a:solidFill>
                            <a:srgbClr val="1B2440"/>
                          </a:solidFill>
                          <a:latin typeface="Calibri (MS) Bold"/>
                          <a:ea typeface="Calibri (MS) Bold"/>
                          <a:cs typeface="Calibri (MS) Bold"/>
                          <a:sym typeface="Calibri (MS) Bold"/>
                        </a:rPr>
                        <a:t>Skill gaps with no next step</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2220"/>
                        </a:lnSpc>
                        <a:defRPr/>
                      </a:pPr>
                      <a:r>
                        <a:rPr lang="en-US" sz="1850">
                          <a:solidFill>
                            <a:srgbClr val="1B2440"/>
                          </a:solidFill>
                          <a:latin typeface="Calibri (MS)"/>
                          <a:ea typeface="Calibri (MS)"/>
                          <a:cs typeface="Calibri (MS)"/>
                          <a:sym typeface="Calibri (MS)"/>
                        </a:rPr>
                        <a:t>Catalogue-based learning path, or an honest “none available”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extLst>
                  <a:ext uri="{0D108BD9-81ED-4DB2-BD59-A6C34878D82A}">
                    <a16:rowId xmlns:a16="http://schemas.microsoft.com/office/drawing/2014/main" val="10004"/>
                  </a:ext>
                </a:extLst>
              </a:tr>
              <a:tr h="649001">
                <a:tc>
                  <a:txBody>
                    <a:bodyPr/>
                    <a:lstStyle/>
                    <a:p>
                      <a:pPr algn="l">
                        <a:lnSpc>
                          <a:spcPts val="2220"/>
                        </a:lnSpc>
                        <a:defRPr/>
                      </a:pPr>
                      <a:r>
                        <a:rPr lang="en-US" sz="1850" b="1">
                          <a:solidFill>
                            <a:srgbClr val="1B2440"/>
                          </a:solidFill>
                          <a:latin typeface="Calibri (MS) Bold"/>
                          <a:ea typeface="Calibri (MS) Bold"/>
                          <a:cs typeface="Calibri (MS) Bold"/>
                          <a:sym typeface="Calibri (MS) Bold"/>
                        </a:rPr>
                        <a:t>Stale results after profile edits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2220"/>
                        </a:lnSpc>
                        <a:defRPr/>
                      </a:pPr>
                      <a:r>
                        <a:rPr lang="en-US" sz="1850">
                          <a:solidFill>
                            <a:srgbClr val="1B2440"/>
                          </a:solidFill>
                          <a:latin typeface="Calibri (MS)"/>
                          <a:ea typeface="Calibri (MS)"/>
                          <a:cs typeface="Calibri (MS)"/>
                          <a:sym typeface="Calibri (MS)"/>
                        </a:rPr>
                        <a:t>Visible recalculation after every change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pSp>
        <p:nvGrpSpPr>
          <p:cNvPr id="43" name="Group 43"/>
          <p:cNvGrpSpPr/>
          <p:nvPr/>
        </p:nvGrpSpPr>
        <p:grpSpPr>
          <a:xfrm>
            <a:off x="9418320" y="7287768"/>
            <a:ext cx="4091940" cy="2724912"/>
            <a:chOff x="0" y="0"/>
            <a:chExt cx="5455920" cy="3633216"/>
          </a:xfrm>
        </p:grpSpPr>
        <p:sp>
          <p:nvSpPr>
            <p:cNvPr id="44" name="Freeform 44"/>
            <p:cNvSpPr/>
            <p:nvPr/>
          </p:nvSpPr>
          <p:spPr>
            <a:xfrm>
              <a:off x="0" y="0"/>
              <a:ext cx="5455920" cy="3633216"/>
            </a:xfrm>
            <a:custGeom>
              <a:avLst/>
              <a:gdLst/>
              <a:ahLst/>
              <a:cxnLst/>
              <a:rect l="l" t="t" r="r" b="b"/>
              <a:pathLst>
                <a:path w="5455920" h="3633216">
                  <a:moveTo>
                    <a:pt x="0" y="217932"/>
                  </a:moveTo>
                  <a:cubicBezTo>
                    <a:pt x="0" y="97536"/>
                    <a:pt x="97536" y="0"/>
                    <a:pt x="217932" y="0"/>
                  </a:cubicBezTo>
                  <a:lnTo>
                    <a:pt x="5237988" y="0"/>
                  </a:lnTo>
                  <a:cubicBezTo>
                    <a:pt x="5358384" y="0"/>
                    <a:pt x="5455920" y="97536"/>
                    <a:pt x="5455920" y="217932"/>
                  </a:cubicBezTo>
                  <a:lnTo>
                    <a:pt x="5455920" y="3415284"/>
                  </a:lnTo>
                  <a:cubicBezTo>
                    <a:pt x="5455920" y="3535680"/>
                    <a:pt x="5358384" y="3633216"/>
                    <a:pt x="5237988" y="3633216"/>
                  </a:cubicBezTo>
                  <a:lnTo>
                    <a:pt x="217932" y="3633216"/>
                  </a:lnTo>
                  <a:cubicBezTo>
                    <a:pt x="97536" y="3633216"/>
                    <a:pt x="0" y="3535553"/>
                    <a:pt x="0" y="3415284"/>
                  </a:cubicBezTo>
                  <a:close/>
                </a:path>
              </a:pathLst>
            </a:custGeom>
            <a:solidFill>
              <a:srgbClr val="DCEFF2"/>
            </a:solidFill>
          </p:spPr>
          <p:txBody>
            <a:bodyPr/>
            <a:lstStyle/>
            <a:p>
              <a:endParaRPr/>
            </a:p>
          </p:txBody>
        </p:sp>
        <p:sp>
          <p:nvSpPr>
            <p:cNvPr id="45" name="TextBox 45"/>
            <p:cNvSpPr txBox="1"/>
            <p:nvPr/>
          </p:nvSpPr>
          <p:spPr>
            <a:xfrm>
              <a:off x="0" y="-38100"/>
              <a:ext cx="5455920" cy="3671316"/>
            </a:xfrm>
            <a:prstGeom prst="rect">
              <a:avLst/>
            </a:prstGeom>
          </p:spPr>
          <p:txBody>
            <a:bodyPr lIns="50800" tIns="50800" rIns="50800" bIns="50800" rtlCol="0" anchor="t"/>
            <a:lstStyle/>
            <a:p>
              <a:pPr algn="l">
                <a:lnSpc>
                  <a:spcPts val="2459"/>
                </a:lnSpc>
              </a:pPr>
              <a:r>
                <a:rPr lang="en-US" sz="2049" b="1">
                  <a:solidFill>
                    <a:srgbClr val="0B5560"/>
                  </a:solidFill>
                  <a:latin typeface="Calibri (MS) Bold"/>
                  <a:ea typeface="Calibri (MS) Bold"/>
                  <a:cs typeface="Calibri (MS) Bold"/>
                  <a:sym typeface="Calibri (MS) Bold"/>
                </a:rPr>
                <a:t>Measured at prototype stage</a:t>
              </a:r>
            </a:p>
            <a:p>
              <a:pPr marL="217170" lvl="1" indent="-108585" algn="l">
                <a:lnSpc>
                  <a:spcPts val="2160"/>
                </a:lnSpc>
                <a:buFont typeface="Arial"/>
                <a:buChar char="•"/>
              </a:pPr>
              <a:r>
                <a:rPr lang="en-US" sz="1800">
                  <a:solidFill>
                    <a:srgbClr val="1B2440"/>
                  </a:solidFill>
                  <a:latin typeface="Calibri (MS)"/>
                  <a:ea typeface="Calibri (MS)"/>
                  <a:cs typeface="Calibri (MS)"/>
                  <a:sym typeface="Calibri (MS)"/>
                </a:rPr>
                <a:t>Eligibility correctness on written test cases</a:t>
              </a:r>
            </a:p>
            <a:p>
              <a:pPr marL="217170" lvl="1" indent="-108585" algn="l">
                <a:lnSpc>
                  <a:spcPts val="2160"/>
                </a:lnSpc>
                <a:buFont typeface="Arial"/>
                <a:buChar char="•"/>
              </a:pPr>
              <a:r>
                <a:rPr lang="en-US" sz="1800">
                  <a:solidFill>
                    <a:srgbClr val="1B2440"/>
                  </a:solidFill>
                  <a:latin typeface="Calibri (MS)"/>
                  <a:ea typeface="Calibri (MS)"/>
                  <a:cs typeface="Calibri (MS)"/>
                  <a:sym typeface="Calibri (MS)"/>
                </a:rPr>
                <a:t>Matching quality vs a keyword-only baseline</a:t>
              </a:r>
            </a:p>
            <a:p>
              <a:pPr marL="217170" lvl="1" indent="-108585" algn="l">
                <a:lnSpc>
                  <a:spcPts val="2160"/>
                </a:lnSpc>
                <a:buFont typeface="Arial"/>
                <a:buChar char="•"/>
              </a:pPr>
              <a:r>
                <a:rPr lang="en-US" sz="1800">
                  <a:solidFill>
                    <a:srgbClr val="1B2440"/>
                  </a:solidFill>
                  <a:latin typeface="Calibri (MS)"/>
                  <a:ea typeface="Calibri (MS)"/>
                  <a:cs typeface="Calibri (MS)"/>
                  <a:sym typeface="Calibri (MS)"/>
                </a:rPr>
                <a:t>Explanation coverage and update latency</a:t>
              </a:r>
            </a:p>
          </p:txBody>
        </p:sp>
      </p:grpSp>
      <p:grpSp>
        <p:nvGrpSpPr>
          <p:cNvPr id="46" name="Group 46"/>
          <p:cNvGrpSpPr/>
          <p:nvPr/>
        </p:nvGrpSpPr>
        <p:grpSpPr>
          <a:xfrm>
            <a:off x="13738860" y="7287768"/>
            <a:ext cx="4091940" cy="2724912"/>
            <a:chOff x="0" y="0"/>
            <a:chExt cx="5455920" cy="3633216"/>
          </a:xfrm>
        </p:grpSpPr>
        <p:sp>
          <p:nvSpPr>
            <p:cNvPr id="47" name="Freeform 47"/>
            <p:cNvSpPr/>
            <p:nvPr/>
          </p:nvSpPr>
          <p:spPr>
            <a:xfrm>
              <a:off x="0" y="0"/>
              <a:ext cx="5455920" cy="3633216"/>
            </a:xfrm>
            <a:custGeom>
              <a:avLst/>
              <a:gdLst/>
              <a:ahLst/>
              <a:cxnLst/>
              <a:rect l="l" t="t" r="r" b="b"/>
              <a:pathLst>
                <a:path w="5455920" h="3633216">
                  <a:moveTo>
                    <a:pt x="0" y="217932"/>
                  </a:moveTo>
                  <a:cubicBezTo>
                    <a:pt x="0" y="97536"/>
                    <a:pt x="97536" y="0"/>
                    <a:pt x="217932" y="0"/>
                  </a:cubicBezTo>
                  <a:lnTo>
                    <a:pt x="5237988" y="0"/>
                  </a:lnTo>
                  <a:cubicBezTo>
                    <a:pt x="5358384" y="0"/>
                    <a:pt x="5455920" y="97536"/>
                    <a:pt x="5455920" y="217932"/>
                  </a:cubicBezTo>
                  <a:lnTo>
                    <a:pt x="5455920" y="3415284"/>
                  </a:lnTo>
                  <a:cubicBezTo>
                    <a:pt x="5455920" y="3535680"/>
                    <a:pt x="5358384" y="3633216"/>
                    <a:pt x="5237988" y="3633216"/>
                  </a:cubicBezTo>
                  <a:lnTo>
                    <a:pt x="217932" y="3633216"/>
                  </a:lnTo>
                  <a:cubicBezTo>
                    <a:pt x="97536" y="3633216"/>
                    <a:pt x="0" y="3535553"/>
                    <a:pt x="0" y="3415284"/>
                  </a:cubicBezTo>
                  <a:close/>
                </a:path>
              </a:pathLst>
            </a:custGeom>
            <a:solidFill>
              <a:srgbClr val="FBEFC9"/>
            </a:solidFill>
          </p:spPr>
          <p:txBody>
            <a:bodyPr/>
            <a:lstStyle/>
            <a:p>
              <a:endParaRPr/>
            </a:p>
          </p:txBody>
        </p:sp>
        <p:sp>
          <p:nvSpPr>
            <p:cNvPr id="48" name="TextBox 48"/>
            <p:cNvSpPr txBox="1"/>
            <p:nvPr/>
          </p:nvSpPr>
          <p:spPr>
            <a:xfrm>
              <a:off x="0" y="-38100"/>
              <a:ext cx="5455920" cy="3671316"/>
            </a:xfrm>
            <a:prstGeom prst="rect">
              <a:avLst/>
            </a:prstGeom>
          </p:spPr>
          <p:txBody>
            <a:bodyPr lIns="50800" tIns="50800" rIns="50800" bIns="50800" rtlCol="0" anchor="t"/>
            <a:lstStyle/>
            <a:p>
              <a:pPr algn="l">
                <a:lnSpc>
                  <a:spcPts val="2459"/>
                </a:lnSpc>
              </a:pPr>
              <a:r>
                <a:rPr lang="en-US" sz="2049" b="1">
                  <a:solidFill>
                    <a:srgbClr val="6B4A00"/>
                  </a:solidFill>
                  <a:latin typeface="Calibri (MS) Bold"/>
                  <a:ea typeface="Calibri (MS) Bold"/>
                  <a:cs typeface="Calibri (MS) Bold"/>
                  <a:sym typeface="Calibri (MS) Bold"/>
                </a:rPr>
                <a:t>An honest limit</a:t>
              </a:r>
            </a:p>
            <a:p>
              <a:pPr algn="l">
                <a:lnSpc>
                  <a:spcPts val="2160"/>
                </a:lnSpc>
              </a:pPr>
              <a:r>
                <a:rPr lang="en-US" sz="1800">
                  <a:solidFill>
                    <a:srgbClr val="1B2440"/>
                  </a:solidFill>
                  <a:latin typeface="Calibri (MS)"/>
                  <a:ea typeface="Calibri (MS)"/>
                  <a:cs typeface="Calibri (MS)"/>
                  <a:sym typeface="Calibri (MS)"/>
                </a:rPr>
                <a:t>A hackathon prototype shows correctness and usability. Employment or placement gains need deployment, usage data and participant consent.</a:t>
              </a:r>
            </a:p>
            <a:p>
              <a:pPr algn="l">
                <a:lnSpc>
                  <a:spcPts val="2160"/>
                </a:lnSpc>
              </a:pPr>
              <a:r>
                <a:rPr lang="en-US" sz="1800">
                  <a:solidFill>
                    <a:srgbClr val="1B2440"/>
                  </a:solidFill>
                  <a:latin typeface="Calibri (MS)"/>
                  <a:ea typeface="Calibri (MS)"/>
                  <a:cs typeface="Calibri (MS)"/>
                  <a:sym typeface="Calibri (MS)"/>
                </a:rPr>
                <a:t>Benefits are validated with test cases and user feedback.</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t="-26" b="-26"/>
              </a:stretch>
            </a:blipFill>
          </p:spPr>
        </p:sp>
      </p:grpSp>
      <p:grpSp>
        <p:nvGrpSpPr>
          <p:cNvPr id="4" name="Group 4"/>
          <p:cNvGrpSpPr/>
          <p:nvPr/>
        </p:nvGrpSpPr>
        <p:grpSpPr>
          <a:xfrm>
            <a:off x="0" y="0"/>
            <a:ext cx="1750047" cy="9860651"/>
            <a:chOff x="0" y="0"/>
            <a:chExt cx="2333396" cy="13147535"/>
          </a:xfrm>
        </p:grpSpPr>
        <p:sp>
          <p:nvSpPr>
            <p:cNvPr id="5" name="Freeform 5"/>
            <p:cNvSpPr/>
            <p:nvPr/>
          </p:nvSpPr>
          <p:spPr>
            <a:xfrm>
              <a:off x="0" y="0"/>
              <a:ext cx="2333371" cy="13147548"/>
            </a:xfrm>
            <a:custGeom>
              <a:avLst/>
              <a:gdLst/>
              <a:ahLst/>
              <a:cxnLst/>
              <a:rect l="l" t="t" r="r" b="b"/>
              <a:pathLst>
                <a:path w="2333371" h="13147548">
                  <a:moveTo>
                    <a:pt x="0" y="0"/>
                  </a:moveTo>
                  <a:lnTo>
                    <a:pt x="2333371" y="0"/>
                  </a:lnTo>
                  <a:lnTo>
                    <a:pt x="2333371" y="13147548"/>
                  </a:lnTo>
                  <a:lnTo>
                    <a:pt x="0" y="13147548"/>
                  </a:lnTo>
                  <a:lnTo>
                    <a:pt x="0" y="0"/>
                  </a:lnTo>
                  <a:close/>
                </a:path>
              </a:pathLst>
            </a:custGeom>
            <a:blipFill>
              <a:blip r:embed="rId4"/>
              <a:stretch>
                <a:fillRect t="-26" r="-1" b="-26"/>
              </a:stretch>
            </a:blipFill>
          </p:spPr>
        </p:sp>
      </p:grpSp>
      <p:grpSp>
        <p:nvGrpSpPr>
          <p:cNvPr id="6" name="Group 6"/>
          <p:cNvGrpSpPr/>
          <p:nvPr/>
        </p:nvGrpSpPr>
        <p:grpSpPr>
          <a:xfrm>
            <a:off x="14361328" y="6635715"/>
            <a:ext cx="1750047" cy="1727254"/>
            <a:chOff x="0" y="0"/>
            <a:chExt cx="2333396" cy="2303005"/>
          </a:xfrm>
        </p:grpSpPr>
        <p:sp>
          <p:nvSpPr>
            <p:cNvPr id="7" name="Freeform 7"/>
            <p:cNvSpPr/>
            <p:nvPr/>
          </p:nvSpPr>
          <p:spPr>
            <a:xfrm>
              <a:off x="0" y="0"/>
              <a:ext cx="2333371" cy="2303018"/>
            </a:xfrm>
            <a:custGeom>
              <a:avLst/>
              <a:gdLst/>
              <a:ahLst/>
              <a:cxnLst/>
              <a:rect l="l" t="t" r="r" b="b"/>
              <a:pathLst>
                <a:path w="2333371" h="2303018">
                  <a:moveTo>
                    <a:pt x="0" y="0"/>
                  </a:moveTo>
                  <a:lnTo>
                    <a:pt x="2333371" y="0"/>
                  </a:lnTo>
                  <a:lnTo>
                    <a:pt x="2333371" y="2303018"/>
                  </a:lnTo>
                  <a:lnTo>
                    <a:pt x="0" y="2303018"/>
                  </a:lnTo>
                  <a:lnTo>
                    <a:pt x="0" y="0"/>
                  </a:lnTo>
                  <a:close/>
                </a:path>
              </a:pathLst>
            </a:custGeom>
            <a:blipFill>
              <a:blip r:embed="rId5"/>
              <a:stretch>
                <a:fillRect t="-26" r="-1" b="-25"/>
              </a:stretch>
            </a:blipFill>
          </p:spPr>
        </p:sp>
      </p:grpSp>
      <p:grpSp>
        <p:nvGrpSpPr>
          <p:cNvPr id="8" name="Group 8"/>
          <p:cNvGrpSpPr/>
          <p:nvPr/>
        </p:nvGrpSpPr>
        <p:grpSpPr>
          <a:xfrm>
            <a:off x="13059727" y="7046871"/>
            <a:ext cx="5228272" cy="3256521"/>
            <a:chOff x="0" y="0"/>
            <a:chExt cx="6971030" cy="4342028"/>
          </a:xfrm>
        </p:grpSpPr>
        <p:sp>
          <p:nvSpPr>
            <p:cNvPr id="9" name="Freeform 9"/>
            <p:cNvSpPr/>
            <p:nvPr/>
          </p:nvSpPr>
          <p:spPr>
            <a:xfrm>
              <a:off x="0" y="0"/>
              <a:ext cx="6971030" cy="4342003"/>
            </a:xfrm>
            <a:custGeom>
              <a:avLst/>
              <a:gdLst/>
              <a:ahLst/>
              <a:cxnLst/>
              <a:rect l="l" t="t" r="r" b="b"/>
              <a:pathLst>
                <a:path w="6971030" h="4342003">
                  <a:moveTo>
                    <a:pt x="0" y="0"/>
                  </a:moveTo>
                  <a:lnTo>
                    <a:pt x="6971030" y="0"/>
                  </a:lnTo>
                  <a:lnTo>
                    <a:pt x="6971030" y="4342003"/>
                  </a:lnTo>
                  <a:lnTo>
                    <a:pt x="0" y="4342003"/>
                  </a:lnTo>
                  <a:lnTo>
                    <a:pt x="0" y="0"/>
                  </a:lnTo>
                  <a:close/>
                </a:path>
              </a:pathLst>
            </a:custGeom>
            <a:blipFill>
              <a:blip r:embed="rId6"/>
              <a:stretch>
                <a:fillRect t="-2900" b="-2900"/>
              </a:stretch>
            </a:blipFill>
          </p:spPr>
        </p:sp>
      </p:grpSp>
      <p:grpSp>
        <p:nvGrpSpPr>
          <p:cNvPr id="10" name="Group 10"/>
          <p:cNvGrpSpPr/>
          <p:nvPr/>
        </p:nvGrpSpPr>
        <p:grpSpPr>
          <a:xfrm>
            <a:off x="0" y="7046871"/>
            <a:ext cx="1312535" cy="3432648"/>
            <a:chOff x="0" y="0"/>
            <a:chExt cx="1750047" cy="4576864"/>
          </a:xfrm>
        </p:grpSpPr>
        <p:sp>
          <p:nvSpPr>
            <p:cNvPr id="11" name="Freeform 11"/>
            <p:cNvSpPr/>
            <p:nvPr/>
          </p:nvSpPr>
          <p:spPr>
            <a:xfrm>
              <a:off x="0" y="0"/>
              <a:ext cx="1750060" cy="4576826"/>
            </a:xfrm>
            <a:custGeom>
              <a:avLst/>
              <a:gdLst/>
              <a:ahLst/>
              <a:cxnLst/>
              <a:rect l="l" t="t" r="r" b="b"/>
              <a:pathLst>
                <a:path w="1750060" h="4576826">
                  <a:moveTo>
                    <a:pt x="0" y="0"/>
                  </a:moveTo>
                  <a:lnTo>
                    <a:pt x="1750060" y="0"/>
                  </a:lnTo>
                  <a:lnTo>
                    <a:pt x="1750060" y="4576826"/>
                  </a:lnTo>
                  <a:lnTo>
                    <a:pt x="0" y="4576826"/>
                  </a:lnTo>
                  <a:lnTo>
                    <a:pt x="0" y="0"/>
                  </a:lnTo>
                  <a:close/>
                </a:path>
              </a:pathLst>
            </a:custGeom>
            <a:blipFill>
              <a:blip r:embed="rId7"/>
              <a:stretch>
                <a:fillRect t="-26" b="-27"/>
              </a:stretch>
            </a:blipFill>
          </p:spPr>
        </p:sp>
      </p:grpSp>
      <p:grpSp>
        <p:nvGrpSpPr>
          <p:cNvPr id="12" name="Group 12"/>
          <p:cNvGrpSpPr/>
          <p:nvPr/>
        </p:nvGrpSpPr>
        <p:grpSpPr>
          <a:xfrm>
            <a:off x="16975465" y="5455063"/>
            <a:ext cx="1312535" cy="4088568"/>
            <a:chOff x="0" y="0"/>
            <a:chExt cx="1750047" cy="5451424"/>
          </a:xfrm>
        </p:grpSpPr>
        <p:sp>
          <p:nvSpPr>
            <p:cNvPr id="13" name="Freeform 13"/>
            <p:cNvSpPr/>
            <p:nvPr/>
          </p:nvSpPr>
          <p:spPr>
            <a:xfrm>
              <a:off x="0" y="0"/>
              <a:ext cx="1750060" cy="5451475"/>
            </a:xfrm>
            <a:custGeom>
              <a:avLst/>
              <a:gdLst/>
              <a:ahLst/>
              <a:cxnLst/>
              <a:rect l="l" t="t" r="r" b="b"/>
              <a:pathLst>
                <a:path w="1750060" h="5451475">
                  <a:moveTo>
                    <a:pt x="0" y="0"/>
                  </a:moveTo>
                  <a:lnTo>
                    <a:pt x="1750060" y="0"/>
                  </a:lnTo>
                  <a:lnTo>
                    <a:pt x="1750060" y="5451475"/>
                  </a:lnTo>
                  <a:lnTo>
                    <a:pt x="0" y="5451475"/>
                  </a:lnTo>
                  <a:lnTo>
                    <a:pt x="0" y="0"/>
                  </a:lnTo>
                  <a:close/>
                </a:path>
              </a:pathLst>
            </a:custGeom>
            <a:blipFill>
              <a:blip r:embed="rId8"/>
              <a:stretch>
                <a:fillRect t="-26" b="-25"/>
              </a:stretch>
            </a:blipFill>
          </p:spPr>
        </p:sp>
      </p:grpSp>
      <p:grpSp>
        <p:nvGrpSpPr>
          <p:cNvPr id="14" name="Group 14"/>
          <p:cNvGrpSpPr/>
          <p:nvPr/>
        </p:nvGrpSpPr>
        <p:grpSpPr>
          <a:xfrm>
            <a:off x="16706945" y="7046871"/>
            <a:ext cx="1104719" cy="2372239"/>
            <a:chOff x="0" y="0"/>
            <a:chExt cx="1472959" cy="3162986"/>
          </a:xfrm>
        </p:grpSpPr>
        <p:sp>
          <p:nvSpPr>
            <p:cNvPr id="15" name="Freeform 15"/>
            <p:cNvSpPr/>
            <p:nvPr/>
          </p:nvSpPr>
          <p:spPr>
            <a:xfrm>
              <a:off x="0" y="0"/>
              <a:ext cx="1472946" cy="3162935"/>
            </a:xfrm>
            <a:custGeom>
              <a:avLst/>
              <a:gdLst/>
              <a:ahLst/>
              <a:cxnLst/>
              <a:rect l="l" t="t" r="r" b="b"/>
              <a:pathLst>
                <a:path w="1472946" h="3162935">
                  <a:moveTo>
                    <a:pt x="0" y="0"/>
                  </a:moveTo>
                  <a:lnTo>
                    <a:pt x="1472946" y="0"/>
                  </a:lnTo>
                  <a:lnTo>
                    <a:pt x="1472946" y="3162935"/>
                  </a:lnTo>
                  <a:lnTo>
                    <a:pt x="0" y="3162935"/>
                  </a:lnTo>
                  <a:lnTo>
                    <a:pt x="0" y="0"/>
                  </a:lnTo>
                  <a:close/>
                </a:path>
              </a:pathLst>
            </a:custGeom>
            <a:blipFill>
              <a:blip r:embed="rId9"/>
              <a:stretch>
                <a:fillRect t="-26" b="-28"/>
              </a:stretch>
            </a:blipFill>
          </p:spPr>
        </p:sp>
      </p:grpSp>
      <p:sp>
        <p:nvSpPr>
          <p:cNvPr id="16" name="TextBox 16"/>
          <p:cNvSpPr txBox="1"/>
          <p:nvPr/>
        </p:nvSpPr>
        <p:spPr>
          <a:xfrm>
            <a:off x="479323" y="329951"/>
            <a:ext cx="15453360" cy="1314450"/>
          </a:xfrm>
          <a:prstGeom prst="rect">
            <a:avLst/>
          </a:prstGeom>
        </p:spPr>
        <p:txBody>
          <a:bodyPr lIns="0" tIns="0" rIns="0" bIns="0" rtlCol="0" anchor="t">
            <a:spAutoFit/>
          </a:bodyPr>
          <a:lstStyle/>
          <a:p>
            <a:pPr algn="l">
              <a:lnSpc>
                <a:spcPts val="7499"/>
              </a:lnSpc>
            </a:pPr>
            <a:r>
              <a:rPr lang="en-US" sz="6600" b="1" spc="150" dirty="0">
                <a:solidFill>
                  <a:srgbClr val="172243"/>
                </a:solidFill>
                <a:latin typeface="Heading Now 31-38 Bold"/>
                <a:ea typeface="Heading Now 31-38 Bold"/>
                <a:cs typeface="Heading Now 31-38 Bold"/>
                <a:sym typeface="Heading Now 31-38 Bold"/>
              </a:rPr>
              <a:t>DIFFERENTIATOR</a:t>
            </a:r>
          </a:p>
        </p:txBody>
      </p:sp>
      <p:grpSp>
        <p:nvGrpSpPr>
          <p:cNvPr id="17" name="Group 17"/>
          <p:cNvGrpSpPr/>
          <p:nvPr/>
        </p:nvGrpSpPr>
        <p:grpSpPr>
          <a:xfrm>
            <a:off x="457200" y="1028700"/>
            <a:ext cx="5020447" cy="535667"/>
            <a:chOff x="0" y="0"/>
            <a:chExt cx="6693929" cy="714223"/>
          </a:xfrm>
        </p:grpSpPr>
        <p:sp>
          <p:nvSpPr>
            <p:cNvPr id="18" name="Freeform 18"/>
            <p:cNvSpPr/>
            <p:nvPr/>
          </p:nvSpPr>
          <p:spPr>
            <a:xfrm>
              <a:off x="0" y="0"/>
              <a:ext cx="6693916" cy="714248"/>
            </a:xfrm>
            <a:custGeom>
              <a:avLst/>
              <a:gdLst/>
              <a:ahLst/>
              <a:cxnLst/>
              <a:rect l="l" t="t" r="r" b="b"/>
              <a:pathLst>
                <a:path w="6693916" h="714248">
                  <a:moveTo>
                    <a:pt x="0" y="0"/>
                  </a:moveTo>
                  <a:lnTo>
                    <a:pt x="6693916" y="0"/>
                  </a:lnTo>
                  <a:lnTo>
                    <a:pt x="6693916" y="714248"/>
                  </a:lnTo>
                  <a:lnTo>
                    <a:pt x="0" y="714248"/>
                  </a:lnTo>
                  <a:lnTo>
                    <a:pt x="0" y="0"/>
                  </a:lnTo>
                  <a:close/>
                </a:path>
              </a:pathLst>
            </a:custGeom>
            <a:blipFill>
              <a:blip r:embed="rId10"/>
              <a:stretch>
                <a:fillRect l="-11217" r="-11217" b="3"/>
              </a:stretch>
            </a:blipFill>
          </p:spPr>
        </p:sp>
      </p:grpSp>
      <p:grpSp>
        <p:nvGrpSpPr>
          <p:cNvPr id="19" name="Group 19"/>
          <p:cNvGrpSpPr/>
          <p:nvPr/>
        </p:nvGrpSpPr>
        <p:grpSpPr>
          <a:xfrm>
            <a:off x="13923816" y="2160727"/>
            <a:ext cx="4364184" cy="2153602"/>
            <a:chOff x="0" y="0"/>
            <a:chExt cx="5818911" cy="2871470"/>
          </a:xfrm>
        </p:grpSpPr>
        <p:sp>
          <p:nvSpPr>
            <p:cNvPr id="20" name="Freeform 20"/>
            <p:cNvSpPr/>
            <p:nvPr/>
          </p:nvSpPr>
          <p:spPr>
            <a:xfrm>
              <a:off x="0" y="0"/>
              <a:ext cx="5818886" cy="2871470"/>
            </a:xfrm>
            <a:custGeom>
              <a:avLst/>
              <a:gdLst/>
              <a:ahLst/>
              <a:cxnLst/>
              <a:rect l="l" t="t" r="r" b="b"/>
              <a:pathLst>
                <a:path w="5818886" h="2871470">
                  <a:moveTo>
                    <a:pt x="0" y="0"/>
                  </a:moveTo>
                  <a:lnTo>
                    <a:pt x="5818886" y="0"/>
                  </a:lnTo>
                  <a:lnTo>
                    <a:pt x="5818886" y="2871470"/>
                  </a:lnTo>
                  <a:lnTo>
                    <a:pt x="0" y="2871470"/>
                  </a:lnTo>
                  <a:lnTo>
                    <a:pt x="0" y="0"/>
                  </a:lnTo>
                  <a:close/>
                </a:path>
              </a:pathLst>
            </a:custGeom>
            <a:blipFill>
              <a:blip r:embed="rId11">
                <a:alphaModFix amt="68000"/>
              </a:blip>
              <a:stretch>
                <a:fillRect t="-26" b="-26"/>
              </a:stretch>
            </a:blipFill>
          </p:spPr>
        </p:sp>
      </p:grpSp>
      <p:grpSp>
        <p:nvGrpSpPr>
          <p:cNvPr id="21" name="Group 21"/>
          <p:cNvGrpSpPr/>
          <p:nvPr/>
        </p:nvGrpSpPr>
        <p:grpSpPr>
          <a:xfrm>
            <a:off x="16178936" y="216170"/>
            <a:ext cx="2160727" cy="2160727"/>
            <a:chOff x="0" y="0"/>
            <a:chExt cx="2880970" cy="2880970"/>
          </a:xfrm>
        </p:grpSpPr>
        <p:sp>
          <p:nvSpPr>
            <p:cNvPr id="22" name="Freeform 22"/>
            <p:cNvSpPr/>
            <p:nvPr/>
          </p:nvSpPr>
          <p:spPr>
            <a:xfrm>
              <a:off x="0" y="0"/>
              <a:ext cx="2880995" cy="2880995"/>
            </a:xfrm>
            <a:custGeom>
              <a:avLst/>
              <a:gdLst/>
              <a:ahLst/>
              <a:cxnLst/>
              <a:rect l="l" t="t" r="r" b="b"/>
              <a:pathLst>
                <a:path w="2880995" h="2880995">
                  <a:moveTo>
                    <a:pt x="0" y="0"/>
                  </a:moveTo>
                  <a:lnTo>
                    <a:pt x="2880995" y="0"/>
                  </a:lnTo>
                  <a:lnTo>
                    <a:pt x="2880995" y="2880995"/>
                  </a:lnTo>
                  <a:lnTo>
                    <a:pt x="0" y="2880995"/>
                  </a:lnTo>
                  <a:lnTo>
                    <a:pt x="0" y="0"/>
                  </a:lnTo>
                  <a:close/>
                </a:path>
              </a:pathLst>
            </a:custGeom>
            <a:blipFill>
              <a:blip r:embed="rId12"/>
              <a:stretch>
                <a:fillRect/>
              </a:stretch>
            </a:blipFill>
          </p:spPr>
        </p:sp>
      </p:grpSp>
      <p:grpSp>
        <p:nvGrpSpPr>
          <p:cNvPr id="23" name="Group 23"/>
          <p:cNvGrpSpPr/>
          <p:nvPr/>
        </p:nvGrpSpPr>
        <p:grpSpPr>
          <a:xfrm>
            <a:off x="457200" y="1783080"/>
            <a:ext cx="15453360" cy="603504"/>
            <a:chOff x="0" y="0"/>
            <a:chExt cx="20604480" cy="804672"/>
          </a:xfrm>
        </p:grpSpPr>
        <p:sp>
          <p:nvSpPr>
            <p:cNvPr id="24" name="Freeform 24"/>
            <p:cNvSpPr/>
            <p:nvPr/>
          </p:nvSpPr>
          <p:spPr>
            <a:xfrm>
              <a:off x="0" y="0"/>
              <a:ext cx="20604480" cy="804672"/>
            </a:xfrm>
            <a:custGeom>
              <a:avLst/>
              <a:gdLst/>
              <a:ahLst/>
              <a:cxnLst/>
              <a:rect l="l" t="t" r="r" b="b"/>
              <a:pathLst>
                <a:path w="20604480" h="804672">
                  <a:moveTo>
                    <a:pt x="0" y="241427"/>
                  </a:moveTo>
                  <a:cubicBezTo>
                    <a:pt x="0" y="108077"/>
                    <a:pt x="108077" y="0"/>
                    <a:pt x="241427" y="0"/>
                  </a:cubicBezTo>
                  <a:lnTo>
                    <a:pt x="20363053" y="0"/>
                  </a:lnTo>
                  <a:cubicBezTo>
                    <a:pt x="20496403" y="0"/>
                    <a:pt x="20604480" y="108077"/>
                    <a:pt x="20604480" y="241427"/>
                  </a:cubicBezTo>
                  <a:lnTo>
                    <a:pt x="20604480" y="563245"/>
                  </a:lnTo>
                  <a:cubicBezTo>
                    <a:pt x="20604480" y="696595"/>
                    <a:pt x="20496403" y="804672"/>
                    <a:pt x="20363053" y="804672"/>
                  </a:cubicBezTo>
                  <a:lnTo>
                    <a:pt x="241427" y="804672"/>
                  </a:lnTo>
                  <a:cubicBezTo>
                    <a:pt x="108077" y="804672"/>
                    <a:pt x="0" y="696595"/>
                    <a:pt x="0" y="563245"/>
                  </a:cubicBezTo>
                  <a:close/>
                </a:path>
              </a:pathLst>
            </a:custGeom>
            <a:solidFill>
              <a:srgbClr val="172243"/>
            </a:solidFill>
          </p:spPr>
        </p:sp>
        <p:sp>
          <p:nvSpPr>
            <p:cNvPr id="25" name="TextBox 25"/>
            <p:cNvSpPr txBox="1"/>
            <p:nvPr/>
          </p:nvSpPr>
          <p:spPr>
            <a:xfrm>
              <a:off x="0" y="-38100"/>
              <a:ext cx="20604480" cy="842772"/>
            </a:xfrm>
            <a:prstGeom prst="rect">
              <a:avLst/>
            </a:prstGeom>
          </p:spPr>
          <p:txBody>
            <a:bodyPr lIns="50800" tIns="50800" rIns="50800" bIns="50800" rtlCol="0" anchor="ctr"/>
            <a:lstStyle/>
            <a:p>
              <a:pPr algn="l">
                <a:lnSpc>
                  <a:spcPts val="2879"/>
                </a:lnSpc>
              </a:pPr>
              <a:r>
                <a:rPr lang="en-US" sz="2400" b="1">
                  <a:solidFill>
                    <a:srgbClr val="FFFFFF"/>
                  </a:solidFill>
                  <a:latin typeface="Calibri (MS) Bold"/>
                  <a:ea typeface="Calibri (MS) Bold"/>
                  <a:cs typeface="Calibri (MS) Bold"/>
                  <a:sym typeface="Calibri (MS) Bold"/>
                </a:rPr>
                <a:t>Existing tools are strong at reach and volume; RozgarLink adds rules-first eligibility that quotes the stated condition.</a:t>
              </a:r>
            </a:p>
          </p:txBody>
        </p:sp>
      </p:grpSp>
      <p:sp>
        <p:nvSpPr>
          <p:cNvPr id="26" name="AutoShape 26"/>
          <p:cNvSpPr/>
          <p:nvPr/>
        </p:nvSpPr>
        <p:spPr>
          <a:xfrm rot="5386800">
            <a:off x="5426364" y="6299835"/>
            <a:ext cx="7435272" cy="0"/>
          </a:xfrm>
          <a:prstGeom prst="line">
            <a:avLst/>
          </a:prstGeom>
          <a:ln w="19050" cap="rnd">
            <a:solidFill>
              <a:srgbClr val="172243"/>
            </a:solidFill>
            <a:prstDash val="solid"/>
            <a:headEnd type="none" w="sm" len="sm"/>
            <a:tailEnd type="none" w="sm" len="sm"/>
          </a:ln>
        </p:spPr>
      </p:sp>
      <p:grpSp>
        <p:nvGrpSpPr>
          <p:cNvPr id="27" name="Group 27"/>
          <p:cNvGrpSpPr/>
          <p:nvPr/>
        </p:nvGrpSpPr>
        <p:grpSpPr>
          <a:xfrm>
            <a:off x="457200" y="2606040"/>
            <a:ext cx="8412480" cy="566928"/>
            <a:chOff x="0" y="0"/>
            <a:chExt cx="11216640" cy="755904"/>
          </a:xfrm>
        </p:grpSpPr>
        <p:sp>
          <p:nvSpPr>
            <p:cNvPr id="28" name="Freeform 28"/>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sp>
        <p:sp>
          <p:nvSpPr>
            <p:cNvPr id="29" name="TextBox 29"/>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EXISTING APPROACHES VS G-01</a:t>
              </a:r>
            </a:p>
          </p:txBody>
        </p:sp>
      </p:grpSp>
      <p:graphicFrame>
        <p:nvGraphicFramePr>
          <p:cNvPr id="30" name="Table 30"/>
          <p:cNvGraphicFramePr>
            <a:graphicFrameLocks noGrp="1"/>
          </p:cNvGraphicFramePr>
          <p:nvPr/>
        </p:nvGraphicFramePr>
        <p:xfrm>
          <a:off x="457200" y="3310128"/>
          <a:ext cx="8382001" cy="5499099"/>
        </p:xfrm>
        <a:graphic>
          <a:graphicData uri="http://schemas.openxmlformats.org/drawingml/2006/table">
            <a:tbl>
              <a:tblPr/>
              <a:tblGrid>
                <a:gridCol w="2186609">
                  <a:extLst>
                    <a:ext uri="{9D8B030D-6E8A-4147-A177-3AD203B41FA5}">
                      <a16:colId xmlns:a16="http://schemas.microsoft.com/office/drawing/2014/main" val="20000"/>
                    </a:ext>
                  </a:extLst>
                </a:gridCol>
                <a:gridCol w="3097696">
                  <a:extLst>
                    <a:ext uri="{9D8B030D-6E8A-4147-A177-3AD203B41FA5}">
                      <a16:colId xmlns:a16="http://schemas.microsoft.com/office/drawing/2014/main" val="20001"/>
                    </a:ext>
                  </a:extLst>
                </a:gridCol>
                <a:gridCol w="3097696">
                  <a:extLst>
                    <a:ext uri="{9D8B030D-6E8A-4147-A177-3AD203B41FA5}">
                      <a16:colId xmlns:a16="http://schemas.microsoft.com/office/drawing/2014/main" val="20002"/>
                    </a:ext>
                  </a:extLst>
                </a:gridCol>
              </a:tblGrid>
              <a:tr h="454471">
                <a:tc>
                  <a:txBody>
                    <a:bodyPr/>
                    <a:lstStyle/>
                    <a:p>
                      <a:pPr algn="l">
                        <a:lnSpc>
                          <a:spcPts val="1919"/>
                        </a:lnSpc>
                        <a:defRPr/>
                      </a:pPr>
                      <a:r>
                        <a:rPr lang="en-US" sz="1599" b="1">
                          <a:solidFill>
                            <a:srgbClr val="FFFFFF"/>
                          </a:solidFill>
                          <a:latin typeface="Calibri (MS) Bold"/>
                          <a:ea typeface="Calibri (MS) Bold"/>
                          <a:cs typeface="Calibri (MS) Bold"/>
                          <a:sym typeface="Calibri (MS) Bold"/>
                        </a:rPr>
                        <a:t>Existing approach</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tc>
                  <a:txBody>
                    <a:bodyPr/>
                    <a:lstStyle/>
                    <a:p>
                      <a:pPr algn="l">
                        <a:lnSpc>
                          <a:spcPts val="1919"/>
                        </a:lnSpc>
                        <a:defRPr/>
                      </a:pPr>
                      <a:r>
                        <a:rPr lang="en-US" sz="1599" b="1">
                          <a:solidFill>
                            <a:srgbClr val="FFFFFF"/>
                          </a:solidFill>
                          <a:latin typeface="Calibri (MS) Bold"/>
                          <a:ea typeface="Calibri (MS) Bold"/>
                          <a:cs typeface="Calibri (MS) Bold"/>
                          <a:sym typeface="Calibri (MS) Bold"/>
                        </a:rPr>
                        <a:t>What it does well</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tc>
                  <a:txBody>
                    <a:bodyPr/>
                    <a:lstStyle/>
                    <a:p>
                      <a:pPr algn="l">
                        <a:lnSpc>
                          <a:spcPts val="1919"/>
                        </a:lnSpc>
                        <a:defRPr/>
                      </a:pPr>
                      <a:r>
                        <a:rPr lang="en-US" sz="1599" b="1">
                          <a:solidFill>
                            <a:srgbClr val="FFFFFF"/>
                          </a:solidFill>
                          <a:latin typeface="Calibri (MS) Bold"/>
                          <a:ea typeface="Calibri (MS) Bold"/>
                          <a:cs typeface="Calibri (MS) Bold"/>
                          <a:sym typeface="Calibri (MS) Bold"/>
                        </a:rPr>
                        <a:t>Typical gap vs G-01</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172243"/>
                    </a:solidFill>
                  </a:tcPr>
                </a:tc>
                <a:extLst>
                  <a:ext uri="{0D108BD9-81ED-4DB2-BD59-A6C34878D82A}">
                    <a16:rowId xmlns:a16="http://schemas.microsoft.com/office/drawing/2014/main" val="10000"/>
                  </a:ext>
                </a:extLst>
              </a:tr>
              <a:tr h="1363413">
                <a:tc>
                  <a:txBody>
                    <a:bodyPr/>
                    <a:lstStyle/>
                    <a:p>
                      <a:pPr algn="l">
                        <a:lnSpc>
                          <a:spcPts val="1919"/>
                        </a:lnSpc>
                        <a:defRPr/>
                      </a:pPr>
                      <a:r>
                        <a:rPr lang="en-US" sz="1599" b="1">
                          <a:solidFill>
                            <a:srgbClr val="1B2440"/>
                          </a:solidFill>
                          <a:latin typeface="Calibri (MS) Bold"/>
                          <a:ea typeface="Calibri (MS) Bold"/>
                          <a:cs typeface="Calibri (MS) Bold"/>
                          <a:sym typeface="Calibri (MS) Bold"/>
                        </a:rPr>
                        <a:t>National Career Service portal</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919"/>
                        </a:lnSpc>
                        <a:defRPr/>
                      </a:pPr>
                      <a:r>
                        <a:rPr lang="en-US" sz="1599">
                          <a:solidFill>
                            <a:srgbClr val="1B2440"/>
                          </a:solidFill>
                          <a:latin typeface="Calibri (MS)"/>
                          <a:ea typeface="Calibri (MS)"/>
                          <a:cs typeface="Calibri (MS)"/>
                          <a:sym typeface="Calibri (MS)"/>
                        </a:rPr>
                        <a:t>National reach: job matching, counselling, skill info, Bhashini; recent public descriptions list AI matching and skill-gap analysis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919"/>
                        </a:lnSpc>
                        <a:defRPr/>
                      </a:pPr>
                      <a:r>
                        <a:rPr lang="en-US" sz="1599">
                          <a:solidFill>
                            <a:srgbClr val="1B2440"/>
                          </a:solidFill>
                          <a:latin typeface="Calibri (MS)"/>
                          <a:ea typeface="Calibri (MS)"/>
                          <a:cs typeface="Calibri (MS)"/>
                          <a:sym typeface="Calibri (MS)"/>
                        </a:rPr>
                        <a:t>Public descriptions do not show per-criterion pass/fail quoting each stated condition</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54389">
                <a:tc>
                  <a:txBody>
                    <a:bodyPr/>
                    <a:lstStyle/>
                    <a:p>
                      <a:pPr algn="l">
                        <a:lnSpc>
                          <a:spcPts val="1919"/>
                        </a:lnSpc>
                        <a:defRPr/>
                      </a:pPr>
                      <a:r>
                        <a:rPr lang="en-US" sz="1599" b="1">
                          <a:solidFill>
                            <a:srgbClr val="1B2440"/>
                          </a:solidFill>
                          <a:latin typeface="Calibri (MS) Bold"/>
                          <a:ea typeface="Calibri (MS) Bold"/>
                          <a:cs typeface="Calibri (MS) Bold"/>
                          <a:sym typeface="Calibri (MS) Bold"/>
                        </a:rPr>
                        <a:t>Commercial job portals (Naukri, LinkedIn, Indeed)</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1919"/>
                        </a:lnSpc>
                        <a:defRPr/>
                      </a:pPr>
                      <a:r>
                        <a:rPr lang="en-US" sz="1599">
                          <a:solidFill>
                            <a:srgbClr val="1B2440"/>
                          </a:solidFill>
                          <a:latin typeface="Calibri (MS)"/>
                          <a:ea typeface="Calibri (MS)"/>
                          <a:cs typeface="Calibri (MS)"/>
                          <a:sym typeface="Calibri (MS)"/>
                        </a:rPr>
                        <a:t>Large listing volume, filters, recommendations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1919"/>
                        </a:lnSpc>
                        <a:defRPr/>
                      </a:pPr>
                      <a:r>
                        <a:rPr lang="en-US" sz="1599">
                          <a:solidFill>
                            <a:srgbClr val="1B2440"/>
                          </a:solidFill>
                          <a:latin typeface="Calibri (MS)"/>
                          <a:ea typeface="Calibri (MS)"/>
                          <a:cs typeface="Calibri (MS)"/>
                          <a:sym typeface="Calibri (MS)"/>
                        </a:rPr>
                        <a:t>Requirements mostly free text; no formal pass/fail before ranking</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extLst>
                  <a:ext uri="{0D108BD9-81ED-4DB2-BD59-A6C34878D82A}">
                    <a16:rowId xmlns:a16="http://schemas.microsoft.com/office/drawing/2014/main" val="10002"/>
                  </a:ext>
                </a:extLst>
              </a:tr>
              <a:tr h="954389">
                <a:tc>
                  <a:txBody>
                    <a:bodyPr/>
                    <a:lstStyle/>
                    <a:p>
                      <a:pPr algn="l">
                        <a:lnSpc>
                          <a:spcPts val="1919"/>
                        </a:lnSpc>
                        <a:defRPr/>
                      </a:pPr>
                      <a:r>
                        <a:rPr lang="en-US" sz="1599" b="1">
                          <a:solidFill>
                            <a:srgbClr val="1B2440"/>
                          </a:solidFill>
                          <a:latin typeface="Calibri (MS) Bold"/>
                          <a:ea typeface="Calibri (MS) Bold"/>
                          <a:cs typeface="Calibri (MS) Bold"/>
                          <a:sym typeface="Calibri (MS) Bold"/>
                        </a:rPr>
                        <a:t>Learning platforms (SWAYAM/NPTEL, Coursera)</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919"/>
                        </a:lnSpc>
                        <a:defRPr/>
                      </a:pPr>
                      <a:r>
                        <a:rPr lang="en-US" sz="1599">
                          <a:solidFill>
                            <a:srgbClr val="1B2440"/>
                          </a:solidFill>
                          <a:latin typeface="Calibri (MS)"/>
                          <a:ea typeface="Calibri (MS)"/>
                          <a:cs typeface="Calibri (MS)"/>
                          <a:sym typeface="Calibri (MS)"/>
                        </a:rPr>
                        <a:t>Broad course content and certificates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919"/>
                        </a:lnSpc>
                        <a:defRPr/>
                      </a:pPr>
                      <a:r>
                        <a:rPr lang="en-US" sz="1599">
                          <a:solidFill>
                            <a:srgbClr val="1B2440"/>
                          </a:solidFill>
                          <a:latin typeface="Calibri (MS)"/>
                          <a:ea typeface="Calibri (MS)"/>
                          <a:cs typeface="Calibri (MS)"/>
                          <a:sym typeface="Calibri (MS)"/>
                        </a:rPr>
                        <a:t>Courses not derived from the gap of a specific opportunity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54389">
                <a:tc>
                  <a:txBody>
                    <a:bodyPr/>
                    <a:lstStyle/>
                    <a:p>
                      <a:pPr algn="l">
                        <a:lnSpc>
                          <a:spcPts val="1919"/>
                        </a:lnSpc>
                        <a:defRPr/>
                      </a:pPr>
                      <a:r>
                        <a:rPr lang="en-US" sz="1599" b="1">
                          <a:solidFill>
                            <a:srgbClr val="1B2440"/>
                          </a:solidFill>
                          <a:latin typeface="Calibri (MS) Bold"/>
                          <a:ea typeface="Calibri (MS) Bold"/>
                          <a:cs typeface="Calibri (MS) Bold"/>
                          <a:sym typeface="Calibri (MS) Bold"/>
                        </a:rPr>
                        <a:t>Resume / ATS checkers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1919"/>
                        </a:lnSpc>
                        <a:defRPr/>
                      </a:pPr>
                      <a:r>
                        <a:rPr lang="en-US" sz="1599">
                          <a:solidFill>
                            <a:srgbClr val="1B2440"/>
                          </a:solidFill>
                          <a:latin typeface="Calibri (MS)"/>
                          <a:ea typeface="Calibri (MS)"/>
                          <a:cs typeface="Calibri (MS)"/>
                          <a:sym typeface="Calibri (MS)"/>
                        </a:rPr>
                        <a:t>Quick keyword and format feedback</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tc>
                  <a:txBody>
                    <a:bodyPr/>
                    <a:lstStyle/>
                    <a:p>
                      <a:pPr algn="l">
                        <a:lnSpc>
                          <a:spcPts val="1919"/>
                        </a:lnSpc>
                        <a:defRPr/>
                      </a:pPr>
                      <a:r>
                        <a:rPr lang="en-US" sz="1599">
                          <a:solidFill>
                            <a:srgbClr val="1B2440"/>
                          </a:solidFill>
                          <a:latin typeface="Calibri (MS)"/>
                          <a:ea typeface="Calibri (MS)"/>
                          <a:cs typeface="Calibri (MS)"/>
                          <a:sym typeface="Calibri (MS)"/>
                        </a:rPr>
                        <a:t>Opaque scores; can reward keyword stuffing; not tied to eligibility</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ECE7F6"/>
                    </a:solidFill>
                  </a:tcPr>
                </a:tc>
                <a:extLst>
                  <a:ext uri="{0D108BD9-81ED-4DB2-BD59-A6C34878D82A}">
                    <a16:rowId xmlns:a16="http://schemas.microsoft.com/office/drawing/2014/main" val="10004"/>
                  </a:ext>
                </a:extLst>
              </a:tr>
              <a:tr h="818048">
                <a:tc>
                  <a:txBody>
                    <a:bodyPr/>
                    <a:lstStyle/>
                    <a:p>
                      <a:pPr algn="l">
                        <a:lnSpc>
                          <a:spcPts val="1919"/>
                        </a:lnSpc>
                        <a:defRPr/>
                      </a:pPr>
                      <a:r>
                        <a:rPr lang="en-US" sz="1599" b="1">
                          <a:solidFill>
                            <a:srgbClr val="1B2440"/>
                          </a:solidFill>
                          <a:latin typeface="Calibri (MS) Bold"/>
                          <a:ea typeface="Calibri (MS) Bold"/>
                          <a:cs typeface="Calibri (MS) Bold"/>
                          <a:sym typeface="Calibri (MS) Bold"/>
                        </a:rPr>
                        <a:t>General AI chatbots</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919"/>
                        </a:lnSpc>
                        <a:defRPr/>
                      </a:pPr>
                      <a:r>
                        <a:rPr lang="en-US" sz="1599">
                          <a:solidFill>
                            <a:srgbClr val="1B2440"/>
                          </a:solidFill>
                          <a:latin typeface="Calibri (MS)"/>
                          <a:ea typeface="Calibri (MS)"/>
                          <a:cs typeface="Calibri (MS)"/>
                          <a:sym typeface="Calibri (MS)"/>
                        </a:rPr>
                        <a:t>Flexible conversational advice</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tc>
                  <a:txBody>
                    <a:bodyPr/>
                    <a:lstStyle/>
                    <a:p>
                      <a:pPr algn="l">
                        <a:lnSpc>
                          <a:spcPts val="1919"/>
                        </a:lnSpc>
                        <a:defRPr/>
                      </a:pPr>
                      <a:r>
                        <a:rPr lang="en-US" sz="1599">
                          <a:solidFill>
                            <a:srgbClr val="1B2440"/>
                          </a:solidFill>
                          <a:latin typeface="Calibri (MS)"/>
                          <a:ea typeface="Calibri (MS)"/>
                          <a:cs typeface="Calibri (MS)"/>
                          <a:sym typeface="Calibri (MS)"/>
                        </a:rPr>
                        <a:t>Not grounded in structured criteria; hard to audit</a:t>
                      </a:r>
                      <a:endParaRPr lang="en-US" sz="1100"/>
                    </a:p>
                  </a:txBody>
                  <a:tcPr marT="91440" marB="91440" anchor="ctr">
                    <a:lnL w="4762"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pSp>
        <p:nvGrpSpPr>
          <p:cNvPr id="31" name="Group 31"/>
          <p:cNvGrpSpPr/>
          <p:nvPr/>
        </p:nvGrpSpPr>
        <p:grpSpPr>
          <a:xfrm>
            <a:off x="457200" y="9025128"/>
            <a:ext cx="8412480" cy="987552"/>
            <a:chOff x="0" y="0"/>
            <a:chExt cx="11216640" cy="1316736"/>
          </a:xfrm>
        </p:grpSpPr>
        <p:sp>
          <p:nvSpPr>
            <p:cNvPr id="32" name="Freeform 32"/>
            <p:cNvSpPr/>
            <p:nvPr/>
          </p:nvSpPr>
          <p:spPr>
            <a:xfrm>
              <a:off x="0" y="0"/>
              <a:ext cx="11216639" cy="1316736"/>
            </a:xfrm>
            <a:custGeom>
              <a:avLst/>
              <a:gdLst/>
              <a:ahLst/>
              <a:cxnLst/>
              <a:rect l="l" t="t" r="r" b="b"/>
              <a:pathLst>
                <a:path w="11216639" h="1316736">
                  <a:moveTo>
                    <a:pt x="0" y="78994"/>
                  </a:moveTo>
                  <a:cubicBezTo>
                    <a:pt x="0" y="35433"/>
                    <a:pt x="35433" y="0"/>
                    <a:pt x="78994" y="0"/>
                  </a:cubicBezTo>
                  <a:lnTo>
                    <a:pt x="11137646" y="0"/>
                  </a:lnTo>
                  <a:cubicBezTo>
                    <a:pt x="11181334" y="0"/>
                    <a:pt x="11216639" y="35433"/>
                    <a:pt x="11216639" y="78994"/>
                  </a:cubicBezTo>
                  <a:lnTo>
                    <a:pt x="11216639" y="1237742"/>
                  </a:lnTo>
                  <a:cubicBezTo>
                    <a:pt x="11216639" y="1281430"/>
                    <a:pt x="11181207" y="1316736"/>
                    <a:pt x="11137646" y="1316736"/>
                  </a:cubicBezTo>
                  <a:lnTo>
                    <a:pt x="78994" y="1316736"/>
                  </a:lnTo>
                  <a:cubicBezTo>
                    <a:pt x="35306" y="1316736"/>
                    <a:pt x="0" y="1281303"/>
                    <a:pt x="0" y="1237742"/>
                  </a:cubicBezTo>
                  <a:close/>
                </a:path>
              </a:pathLst>
            </a:custGeom>
            <a:solidFill>
              <a:srgbClr val="ECE7F6"/>
            </a:solidFill>
          </p:spPr>
        </p:sp>
        <p:sp>
          <p:nvSpPr>
            <p:cNvPr id="33" name="TextBox 33"/>
            <p:cNvSpPr txBox="1"/>
            <p:nvPr/>
          </p:nvSpPr>
          <p:spPr>
            <a:xfrm>
              <a:off x="0" y="-38100"/>
              <a:ext cx="11216640" cy="1354836"/>
            </a:xfrm>
            <a:prstGeom prst="rect">
              <a:avLst/>
            </a:prstGeom>
          </p:spPr>
          <p:txBody>
            <a:bodyPr lIns="50800" tIns="50800" rIns="50800" bIns="50800" rtlCol="0" anchor="ctr"/>
            <a:lstStyle/>
            <a:p>
              <a:pPr algn="l">
                <a:lnSpc>
                  <a:spcPts val="1800"/>
                </a:lnSpc>
              </a:pPr>
              <a:r>
                <a:rPr lang="en-US" sz="1500" i="1">
                  <a:solidFill>
                    <a:srgbClr val="4A5170"/>
                  </a:solidFill>
                  <a:latin typeface="Calibri (MS) Italics"/>
                  <a:ea typeface="Calibri (MS) Italics"/>
                  <a:cs typeface="Calibri (MS) Italics"/>
                  <a:sym typeface="Calibri (MS) Italics"/>
                </a:rPr>
                <a:t>Comparison reflects public descriptions of these services and is not an audit of their internal logic.</a:t>
              </a:r>
            </a:p>
          </p:txBody>
        </p:sp>
      </p:grpSp>
      <p:grpSp>
        <p:nvGrpSpPr>
          <p:cNvPr id="34" name="Group 34"/>
          <p:cNvGrpSpPr/>
          <p:nvPr/>
        </p:nvGrpSpPr>
        <p:grpSpPr>
          <a:xfrm>
            <a:off x="9418320" y="2606040"/>
            <a:ext cx="8412480" cy="566928"/>
            <a:chOff x="0" y="0"/>
            <a:chExt cx="11216640" cy="755904"/>
          </a:xfrm>
        </p:grpSpPr>
        <p:sp>
          <p:nvSpPr>
            <p:cNvPr id="35" name="Freeform 35"/>
            <p:cNvSpPr/>
            <p:nvPr/>
          </p:nvSpPr>
          <p:spPr>
            <a:xfrm>
              <a:off x="0" y="0"/>
              <a:ext cx="11216640" cy="755904"/>
            </a:xfrm>
            <a:custGeom>
              <a:avLst/>
              <a:gdLst/>
              <a:ahLst/>
              <a:cxnLst/>
              <a:rect l="l" t="t" r="r" b="b"/>
              <a:pathLst>
                <a:path w="11216640" h="755904">
                  <a:moveTo>
                    <a:pt x="0" y="226822"/>
                  </a:moveTo>
                  <a:cubicBezTo>
                    <a:pt x="0" y="101473"/>
                    <a:pt x="101473" y="0"/>
                    <a:pt x="226822" y="0"/>
                  </a:cubicBezTo>
                  <a:lnTo>
                    <a:pt x="10989818" y="0"/>
                  </a:lnTo>
                  <a:cubicBezTo>
                    <a:pt x="11115040" y="0"/>
                    <a:pt x="11216640" y="101473"/>
                    <a:pt x="11216640" y="226822"/>
                  </a:cubicBezTo>
                  <a:lnTo>
                    <a:pt x="11216640" y="529082"/>
                  </a:lnTo>
                  <a:cubicBezTo>
                    <a:pt x="11216640" y="654304"/>
                    <a:pt x="11115167" y="755904"/>
                    <a:pt x="10989818" y="755904"/>
                  </a:cubicBezTo>
                  <a:lnTo>
                    <a:pt x="226822" y="755904"/>
                  </a:lnTo>
                  <a:cubicBezTo>
                    <a:pt x="101473" y="755904"/>
                    <a:pt x="0" y="654431"/>
                    <a:pt x="0" y="529082"/>
                  </a:cubicBezTo>
                  <a:close/>
                </a:path>
              </a:pathLst>
            </a:custGeom>
            <a:solidFill>
              <a:srgbClr val="172243"/>
            </a:solidFill>
          </p:spPr>
        </p:sp>
        <p:sp>
          <p:nvSpPr>
            <p:cNvPr id="36" name="TextBox 36"/>
            <p:cNvSpPr txBox="1"/>
            <p:nvPr/>
          </p:nvSpPr>
          <p:spPr>
            <a:xfrm>
              <a:off x="0" y="-57150"/>
              <a:ext cx="11216640" cy="813054"/>
            </a:xfrm>
            <a:prstGeom prst="rect">
              <a:avLst/>
            </a:prstGeom>
          </p:spPr>
          <p:txBody>
            <a:bodyPr lIns="50800" tIns="50800" rIns="50800" bIns="50800" rtlCol="0" anchor="ctr"/>
            <a:lstStyle/>
            <a:p>
              <a:pPr algn="l">
                <a:lnSpc>
                  <a:spcPts val="3179"/>
                </a:lnSpc>
              </a:pPr>
              <a:r>
                <a:rPr lang="en-US" sz="2649" b="1">
                  <a:solidFill>
                    <a:srgbClr val="FFFFFF"/>
                  </a:solidFill>
                  <a:latin typeface="Calibri (MS) Bold"/>
                  <a:ea typeface="Calibri (MS) Bold"/>
                  <a:cs typeface="Calibri (MS) Bold"/>
                  <a:sym typeface="Calibri (MS) Bold"/>
                </a:rPr>
                <a:t>WHAT MAKES ROZGARLINK DIFFERENT</a:t>
              </a:r>
            </a:p>
          </p:txBody>
        </p:sp>
      </p:grpSp>
      <p:grpSp>
        <p:nvGrpSpPr>
          <p:cNvPr id="37" name="Group 37"/>
          <p:cNvGrpSpPr/>
          <p:nvPr/>
        </p:nvGrpSpPr>
        <p:grpSpPr>
          <a:xfrm>
            <a:off x="9411967" y="3303775"/>
            <a:ext cx="8425177" cy="680209"/>
            <a:chOff x="0" y="0"/>
            <a:chExt cx="11233569" cy="906945"/>
          </a:xfrm>
        </p:grpSpPr>
        <p:sp>
          <p:nvSpPr>
            <p:cNvPr id="38" name="Freeform 38"/>
            <p:cNvSpPr/>
            <p:nvPr/>
          </p:nvSpPr>
          <p:spPr>
            <a:xfrm>
              <a:off x="0" y="0"/>
              <a:ext cx="11233531" cy="906907"/>
            </a:xfrm>
            <a:custGeom>
              <a:avLst/>
              <a:gdLst/>
              <a:ahLst/>
              <a:cxnLst/>
              <a:rect l="l" t="t" r="r" b="b"/>
              <a:pathLst>
                <a:path w="11233531" h="906907">
                  <a:moveTo>
                    <a:pt x="0" y="136017"/>
                  </a:moveTo>
                  <a:cubicBezTo>
                    <a:pt x="0" y="60960"/>
                    <a:pt x="60960" y="0"/>
                    <a:pt x="136017" y="0"/>
                  </a:cubicBezTo>
                  <a:lnTo>
                    <a:pt x="11097514" y="0"/>
                  </a:lnTo>
                  <a:cubicBezTo>
                    <a:pt x="11172698" y="0"/>
                    <a:pt x="11233531" y="60960"/>
                    <a:pt x="11233531" y="136017"/>
                  </a:cubicBezTo>
                  <a:lnTo>
                    <a:pt x="11233531" y="770890"/>
                  </a:lnTo>
                  <a:cubicBezTo>
                    <a:pt x="11233531" y="846074"/>
                    <a:pt x="11172571" y="906907"/>
                    <a:pt x="11097514" y="906907"/>
                  </a:cubicBezTo>
                  <a:lnTo>
                    <a:pt x="136017" y="906907"/>
                  </a:lnTo>
                  <a:cubicBezTo>
                    <a:pt x="60960" y="906907"/>
                    <a:pt x="0" y="846074"/>
                    <a:pt x="0" y="770890"/>
                  </a:cubicBezTo>
                  <a:close/>
                </a:path>
              </a:pathLst>
            </a:custGeom>
            <a:solidFill>
              <a:srgbClr val="FFFFFF"/>
            </a:solidFill>
            <a:ln w="12700" cap="sq">
              <a:solidFill>
                <a:srgbClr val="D7D0E6"/>
              </a:solidFill>
              <a:prstDash val="solid"/>
              <a:miter/>
            </a:ln>
          </p:spPr>
        </p:sp>
        <p:sp>
          <p:nvSpPr>
            <p:cNvPr id="39" name="TextBox 39"/>
            <p:cNvSpPr txBox="1"/>
            <p:nvPr/>
          </p:nvSpPr>
          <p:spPr>
            <a:xfrm>
              <a:off x="0" y="-38100"/>
              <a:ext cx="11233569" cy="945045"/>
            </a:xfrm>
            <a:prstGeom prst="rect">
              <a:avLst/>
            </a:prstGeom>
          </p:spPr>
          <p:txBody>
            <a:bodyPr lIns="50800" tIns="50800" rIns="50800" bIns="50800" rtlCol="0" anchor="ctr"/>
            <a:lstStyle/>
            <a:p>
              <a:pPr algn="l">
                <a:lnSpc>
                  <a:spcPts val="2400"/>
                </a:lnSpc>
              </a:pPr>
              <a:r>
                <a:rPr lang="en-US" sz="2000" b="1">
                  <a:solidFill>
                    <a:srgbClr val="172243"/>
                  </a:solidFill>
                  <a:latin typeface="Calibri (MS) Bold"/>
                  <a:ea typeface="Calibri (MS) Bold"/>
                  <a:cs typeface="Calibri (MS) Bold"/>
                  <a:sym typeface="Calibri (MS) Bold"/>
                </a:rPr>
                <a:t>Eligibility firewall</a:t>
              </a:r>
            </a:p>
            <a:p>
              <a:pPr algn="l">
                <a:lnSpc>
                  <a:spcPts val="2040"/>
                </a:lnSpc>
              </a:pPr>
              <a:r>
                <a:rPr lang="en-US" sz="1700">
                  <a:solidFill>
                    <a:srgbClr val="1B2440"/>
                  </a:solidFill>
                  <a:latin typeface="Calibri (MS)"/>
                  <a:ea typeface="Calibri (MS)"/>
                  <a:cs typeface="Calibri (MS)"/>
                  <a:sym typeface="Calibri (MS)"/>
                </a:rPr>
                <a:t>AI similarity can never decide or override eligibility</a:t>
              </a:r>
            </a:p>
          </p:txBody>
        </p:sp>
      </p:grpSp>
      <p:sp>
        <p:nvSpPr>
          <p:cNvPr id="42" name="TextBox 42"/>
          <p:cNvSpPr txBox="1"/>
          <p:nvPr/>
        </p:nvSpPr>
        <p:spPr>
          <a:xfrm>
            <a:off x="9546336" y="3409569"/>
            <a:ext cx="411480" cy="440055"/>
          </a:xfrm>
          <a:prstGeom prst="rect">
            <a:avLst/>
          </a:prstGeom>
        </p:spPr>
        <p:txBody>
          <a:bodyPr lIns="50800" tIns="50800" rIns="50800" bIns="50800" rtlCol="0" anchor="ctr"/>
          <a:lstStyle/>
          <a:p>
            <a:pPr algn="ctr">
              <a:lnSpc>
                <a:spcPts val="2279"/>
              </a:lnSpc>
            </a:pPr>
            <a:r>
              <a:rPr lang="en-US" sz="1899" b="1" dirty="0">
                <a:solidFill>
                  <a:srgbClr val="FFFFFF"/>
                </a:solidFill>
                <a:latin typeface="Calibri (MS) Bold"/>
                <a:ea typeface="Calibri (MS) Bold"/>
                <a:cs typeface="Calibri (MS) Bold"/>
                <a:sym typeface="Calibri (MS) Bold"/>
              </a:rPr>
              <a:t>1</a:t>
            </a:r>
          </a:p>
        </p:txBody>
      </p:sp>
      <p:grpSp>
        <p:nvGrpSpPr>
          <p:cNvPr id="43" name="Group 43"/>
          <p:cNvGrpSpPr/>
          <p:nvPr/>
        </p:nvGrpSpPr>
        <p:grpSpPr>
          <a:xfrm>
            <a:off x="9411967" y="4026151"/>
            <a:ext cx="8425177" cy="680209"/>
            <a:chOff x="0" y="0"/>
            <a:chExt cx="11233569" cy="906945"/>
          </a:xfrm>
        </p:grpSpPr>
        <p:sp>
          <p:nvSpPr>
            <p:cNvPr id="44" name="Freeform 44"/>
            <p:cNvSpPr/>
            <p:nvPr/>
          </p:nvSpPr>
          <p:spPr>
            <a:xfrm>
              <a:off x="0" y="0"/>
              <a:ext cx="11233531" cy="906907"/>
            </a:xfrm>
            <a:custGeom>
              <a:avLst/>
              <a:gdLst/>
              <a:ahLst/>
              <a:cxnLst/>
              <a:rect l="l" t="t" r="r" b="b"/>
              <a:pathLst>
                <a:path w="11233531" h="906907">
                  <a:moveTo>
                    <a:pt x="0" y="136017"/>
                  </a:moveTo>
                  <a:cubicBezTo>
                    <a:pt x="0" y="60960"/>
                    <a:pt x="60960" y="0"/>
                    <a:pt x="136017" y="0"/>
                  </a:cubicBezTo>
                  <a:lnTo>
                    <a:pt x="11097514" y="0"/>
                  </a:lnTo>
                  <a:cubicBezTo>
                    <a:pt x="11172698" y="0"/>
                    <a:pt x="11233531" y="60960"/>
                    <a:pt x="11233531" y="136017"/>
                  </a:cubicBezTo>
                  <a:lnTo>
                    <a:pt x="11233531" y="770890"/>
                  </a:lnTo>
                  <a:cubicBezTo>
                    <a:pt x="11233531" y="846074"/>
                    <a:pt x="11172571" y="906907"/>
                    <a:pt x="11097514" y="906907"/>
                  </a:cubicBezTo>
                  <a:lnTo>
                    <a:pt x="136017" y="906907"/>
                  </a:lnTo>
                  <a:cubicBezTo>
                    <a:pt x="60960" y="906907"/>
                    <a:pt x="0" y="846074"/>
                    <a:pt x="0" y="770890"/>
                  </a:cubicBezTo>
                  <a:close/>
                </a:path>
              </a:pathLst>
            </a:custGeom>
            <a:solidFill>
              <a:srgbClr val="FFFFFF"/>
            </a:solidFill>
            <a:ln w="12700" cap="sq">
              <a:solidFill>
                <a:srgbClr val="D7D0E6"/>
              </a:solidFill>
              <a:prstDash val="solid"/>
              <a:miter/>
            </a:ln>
          </p:spPr>
        </p:sp>
        <p:sp>
          <p:nvSpPr>
            <p:cNvPr id="45" name="TextBox 45"/>
            <p:cNvSpPr txBox="1"/>
            <p:nvPr/>
          </p:nvSpPr>
          <p:spPr>
            <a:xfrm>
              <a:off x="0" y="-38100"/>
              <a:ext cx="11233569" cy="945045"/>
            </a:xfrm>
            <a:prstGeom prst="rect">
              <a:avLst/>
            </a:prstGeom>
          </p:spPr>
          <p:txBody>
            <a:bodyPr lIns="50800" tIns="50800" rIns="50800" bIns="50800" rtlCol="0" anchor="ctr"/>
            <a:lstStyle/>
            <a:p>
              <a:pPr algn="l">
                <a:lnSpc>
                  <a:spcPts val="2400"/>
                </a:lnSpc>
              </a:pPr>
              <a:r>
                <a:rPr lang="en-US" sz="2000" b="1">
                  <a:solidFill>
                    <a:srgbClr val="172243"/>
                  </a:solidFill>
                  <a:latin typeface="Calibri (MS) Bold"/>
                  <a:ea typeface="Calibri (MS) Bold"/>
                  <a:cs typeface="Calibri (MS) Bold"/>
                  <a:sym typeface="Calibri (MS) Bold"/>
                </a:rPr>
                <a:t>Reasons that quote the rule</a:t>
              </a:r>
            </a:p>
            <a:p>
              <a:pPr algn="l">
                <a:lnSpc>
                  <a:spcPts val="2040"/>
                </a:lnSpc>
              </a:pPr>
              <a:r>
                <a:rPr lang="en-US" sz="1700">
                  <a:solidFill>
                    <a:srgbClr val="1B2440"/>
                  </a:solidFill>
                  <a:latin typeface="Calibri (MS)"/>
                  <a:ea typeface="Calibri (MS)"/>
                  <a:cs typeface="Calibri (MS)"/>
                  <a:sym typeface="Calibri (MS)"/>
                </a:rPr>
                <a:t>Explanations use the opportunity’s own condition</a:t>
              </a:r>
            </a:p>
          </p:txBody>
        </p:sp>
      </p:grpSp>
      <p:grpSp>
        <p:nvGrpSpPr>
          <p:cNvPr id="49" name="Group 49"/>
          <p:cNvGrpSpPr/>
          <p:nvPr/>
        </p:nvGrpSpPr>
        <p:grpSpPr>
          <a:xfrm>
            <a:off x="9411967" y="4748527"/>
            <a:ext cx="8425177" cy="680209"/>
            <a:chOff x="0" y="0"/>
            <a:chExt cx="11233569" cy="906945"/>
          </a:xfrm>
        </p:grpSpPr>
        <p:sp>
          <p:nvSpPr>
            <p:cNvPr id="50" name="Freeform 50"/>
            <p:cNvSpPr/>
            <p:nvPr/>
          </p:nvSpPr>
          <p:spPr>
            <a:xfrm>
              <a:off x="0" y="0"/>
              <a:ext cx="11233531" cy="906907"/>
            </a:xfrm>
            <a:custGeom>
              <a:avLst/>
              <a:gdLst/>
              <a:ahLst/>
              <a:cxnLst/>
              <a:rect l="l" t="t" r="r" b="b"/>
              <a:pathLst>
                <a:path w="11233531" h="906907">
                  <a:moveTo>
                    <a:pt x="0" y="136017"/>
                  </a:moveTo>
                  <a:cubicBezTo>
                    <a:pt x="0" y="60960"/>
                    <a:pt x="60960" y="0"/>
                    <a:pt x="136017" y="0"/>
                  </a:cubicBezTo>
                  <a:lnTo>
                    <a:pt x="11097514" y="0"/>
                  </a:lnTo>
                  <a:cubicBezTo>
                    <a:pt x="11172698" y="0"/>
                    <a:pt x="11233531" y="60960"/>
                    <a:pt x="11233531" y="136017"/>
                  </a:cubicBezTo>
                  <a:lnTo>
                    <a:pt x="11233531" y="770890"/>
                  </a:lnTo>
                  <a:cubicBezTo>
                    <a:pt x="11233531" y="846074"/>
                    <a:pt x="11172571" y="906907"/>
                    <a:pt x="11097514" y="906907"/>
                  </a:cubicBezTo>
                  <a:lnTo>
                    <a:pt x="136017" y="906907"/>
                  </a:lnTo>
                  <a:cubicBezTo>
                    <a:pt x="60960" y="906907"/>
                    <a:pt x="0" y="846074"/>
                    <a:pt x="0" y="770890"/>
                  </a:cubicBezTo>
                  <a:close/>
                </a:path>
              </a:pathLst>
            </a:custGeom>
            <a:solidFill>
              <a:srgbClr val="FFFFFF"/>
            </a:solidFill>
            <a:ln w="12700" cap="sq">
              <a:solidFill>
                <a:srgbClr val="D7D0E6"/>
              </a:solidFill>
              <a:prstDash val="solid"/>
              <a:miter/>
            </a:ln>
          </p:spPr>
        </p:sp>
        <p:sp>
          <p:nvSpPr>
            <p:cNvPr id="51" name="TextBox 51"/>
            <p:cNvSpPr txBox="1"/>
            <p:nvPr/>
          </p:nvSpPr>
          <p:spPr>
            <a:xfrm>
              <a:off x="0" y="-38100"/>
              <a:ext cx="11233569" cy="945045"/>
            </a:xfrm>
            <a:prstGeom prst="rect">
              <a:avLst/>
            </a:prstGeom>
          </p:spPr>
          <p:txBody>
            <a:bodyPr lIns="50800" tIns="50800" rIns="50800" bIns="50800" rtlCol="0" anchor="ctr"/>
            <a:lstStyle/>
            <a:p>
              <a:pPr algn="l">
                <a:lnSpc>
                  <a:spcPts val="2400"/>
                </a:lnSpc>
              </a:pPr>
              <a:r>
                <a:rPr lang="en-US" sz="2000" b="1">
                  <a:solidFill>
                    <a:srgbClr val="172243"/>
                  </a:solidFill>
                  <a:latin typeface="Calibri (MS) Bold"/>
                  <a:ea typeface="Calibri (MS) Bold"/>
                  <a:cs typeface="Calibri (MS) Bold"/>
                  <a:sym typeface="Calibri (MS) Bold"/>
                </a:rPr>
                <a:t>Three honest states</a:t>
              </a:r>
            </a:p>
            <a:p>
              <a:pPr algn="l">
                <a:lnSpc>
                  <a:spcPts val="2040"/>
                </a:lnSpc>
              </a:pPr>
              <a:r>
                <a:rPr lang="en-US" sz="1700">
                  <a:solidFill>
                    <a:srgbClr val="1B2440"/>
                  </a:solidFill>
                  <a:latin typeface="Calibri (MS)"/>
                  <a:ea typeface="Calibri (MS)"/>
                  <a:cs typeface="Calibri (MS)"/>
                  <a:sym typeface="Calibri (MS)"/>
                </a:rPr>
                <a:t>Eligible, not eligible, or needs more information</a:t>
              </a:r>
            </a:p>
          </p:txBody>
        </p:sp>
      </p:grpSp>
      <p:grpSp>
        <p:nvGrpSpPr>
          <p:cNvPr id="55" name="Group 55"/>
          <p:cNvGrpSpPr/>
          <p:nvPr/>
        </p:nvGrpSpPr>
        <p:grpSpPr>
          <a:xfrm>
            <a:off x="9411967" y="5470903"/>
            <a:ext cx="8425177" cy="680209"/>
            <a:chOff x="0" y="0"/>
            <a:chExt cx="11233569" cy="906945"/>
          </a:xfrm>
        </p:grpSpPr>
        <p:sp>
          <p:nvSpPr>
            <p:cNvPr id="56" name="Freeform 56"/>
            <p:cNvSpPr/>
            <p:nvPr/>
          </p:nvSpPr>
          <p:spPr>
            <a:xfrm>
              <a:off x="0" y="0"/>
              <a:ext cx="11233531" cy="906907"/>
            </a:xfrm>
            <a:custGeom>
              <a:avLst/>
              <a:gdLst/>
              <a:ahLst/>
              <a:cxnLst/>
              <a:rect l="l" t="t" r="r" b="b"/>
              <a:pathLst>
                <a:path w="11233531" h="906907">
                  <a:moveTo>
                    <a:pt x="0" y="136017"/>
                  </a:moveTo>
                  <a:cubicBezTo>
                    <a:pt x="0" y="60960"/>
                    <a:pt x="60960" y="0"/>
                    <a:pt x="136017" y="0"/>
                  </a:cubicBezTo>
                  <a:lnTo>
                    <a:pt x="11097514" y="0"/>
                  </a:lnTo>
                  <a:cubicBezTo>
                    <a:pt x="11172698" y="0"/>
                    <a:pt x="11233531" y="60960"/>
                    <a:pt x="11233531" y="136017"/>
                  </a:cubicBezTo>
                  <a:lnTo>
                    <a:pt x="11233531" y="770890"/>
                  </a:lnTo>
                  <a:cubicBezTo>
                    <a:pt x="11233531" y="846074"/>
                    <a:pt x="11172571" y="906907"/>
                    <a:pt x="11097514" y="906907"/>
                  </a:cubicBezTo>
                  <a:lnTo>
                    <a:pt x="136017" y="906907"/>
                  </a:lnTo>
                  <a:cubicBezTo>
                    <a:pt x="60960" y="906907"/>
                    <a:pt x="0" y="846074"/>
                    <a:pt x="0" y="770890"/>
                  </a:cubicBezTo>
                  <a:close/>
                </a:path>
              </a:pathLst>
            </a:custGeom>
            <a:solidFill>
              <a:srgbClr val="FFFFFF"/>
            </a:solidFill>
            <a:ln w="12700" cap="sq">
              <a:solidFill>
                <a:srgbClr val="D7D0E6"/>
              </a:solidFill>
              <a:prstDash val="solid"/>
              <a:miter/>
            </a:ln>
          </p:spPr>
        </p:sp>
        <p:sp>
          <p:nvSpPr>
            <p:cNvPr id="57" name="TextBox 57"/>
            <p:cNvSpPr txBox="1"/>
            <p:nvPr/>
          </p:nvSpPr>
          <p:spPr>
            <a:xfrm>
              <a:off x="0" y="-38100"/>
              <a:ext cx="11233569" cy="945045"/>
            </a:xfrm>
            <a:prstGeom prst="rect">
              <a:avLst/>
            </a:prstGeom>
          </p:spPr>
          <p:txBody>
            <a:bodyPr lIns="50800" tIns="50800" rIns="50800" bIns="50800" rtlCol="0" anchor="ctr"/>
            <a:lstStyle/>
            <a:p>
              <a:pPr algn="l">
                <a:lnSpc>
                  <a:spcPts val="2400"/>
                </a:lnSpc>
              </a:pPr>
              <a:r>
                <a:rPr lang="en-US" sz="2000" b="1" dirty="0">
                  <a:solidFill>
                    <a:srgbClr val="172243"/>
                  </a:solidFill>
                  <a:latin typeface="Calibri (MS) Bold"/>
                  <a:ea typeface="Calibri (MS) Bold"/>
                  <a:cs typeface="Calibri (MS) Bold"/>
                  <a:sym typeface="Calibri (MS) Bold"/>
                </a:rPr>
                <a:t>Aliases, not look-alikes</a:t>
              </a:r>
            </a:p>
            <a:p>
              <a:pPr algn="l">
                <a:lnSpc>
                  <a:spcPts val="2040"/>
                </a:lnSpc>
              </a:pPr>
              <a:r>
                <a:rPr lang="en-US" sz="1700" dirty="0">
                  <a:solidFill>
                    <a:srgbClr val="1B2440"/>
                  </a:solidFill>
                  <a:latin typeface="Calibri (MS)"/>
                  <a:ea typeface="Calibri (MS)"/>
                  <a:cs typeface="Calibri (MS)"/>
                  <a:sym typeface="Calibri (MS)"/>
                </a:rPr>
                <a:t>Equivalent skills matched; merely related ones kept separate</a:t>
              </a:r>
            </a:p>
          </p:txBody>
        </p:sp>
      </p:grpSp>
      <p:grpSp>
        <p:nvGrpSpPr>
          <p:cNvPr id="61" name="Group 61"/>
          <p:cNvGrpSpPr/>
          <p:nvPr/>
        </p:nvGrpSpPr>
        <p:grpSpPr>
          <a:xfrm>
            <a:off x="9411967" y="6193279"/>
            <a:ext cx="8425177" cy="680209"/>
            <a:chOff x="0" y="0"/>
            <a:chExt cx="11233569" cy="906945"/>
          </a:xfrm>
        </p:grpSpPr>
        <p:sp>
          <p:nvSpPr>
            <p:cNvPr id="62" name="Freeform 62"/>
            <p:cNvSpPr/>
            <p:nvPr/>
          </p:nvSpPr>
          <p:spPr>
            <a:xfrm>
              <a:off x="0" y="0"/>
              <a:ext cx="11233531" cy="906907"/>
            </a:xfrm>
            <a:custGeom>
              <a:avLst/>
              <a:gdLst/>
              <a:ahLst/>
              <a:cxnLst/>
              <a:rect l="l" t="t" r="r" b="b"/>
              <a:pathLst>
                <a:path w="11233531" h="906907">
                  <a:moveTo>
                    <a:pt x="0" y="136017"/>
                  </a:moveTo>
                  <a:cubicBezTo>
                    <a:pt x="0" y="60960"/>
                    <a:pt x="60960" y="0"/>
                    <a:pt x="136017" y="0"/>
                  </a:cubicBezTo>
                  <a:lnTo>
                    <a:pt x="11097514" y="0"/>
                  </a:lnTo>
                  <a:cubicBezTo>
                    <a:pt x="11172698" y="0"/>
                    <a:pt x="11233531" y="60960"/>
                    <a:pt x="11233531" y="136017"/>
                  </a:cubicBezTo>
                  <a:lnTo>
                    <a:pt x="11233531" y="770890"/>
                  </a:lnTo>
                  <a:cubicBezTo>
                    <a:pt x="11233531" y="846074"/>
                    <a:pt x="11172571" y="906907"/>
                    <a:pt x="11097514" y="906907"/>
                  </a:cubicBezTo>
                  <a:lnTo>
                    <a:pt x="136017" y="906907"/>
                  </a:lnTo>
                  <a:cubicBezTo>
                    <a:pt x="60960" y="906907"/>
                    <a:pt x="0" y="846074"/>
                    <a:pt x="0" y="770890"/>
                  </a:cubicBezTo>
                  <a:close/>
                </a:path>
              </a:pathLst>
            </a:custGeom>
            <a:solidFill>
              <a:srgbClr val="FFFFFF"/>
            </a:solidFill>
            <a:ln w="12700" cap="sq">
              <a:solidFill>
                <a:srgbClr val="D7D0E6"/>
              </a:solidFill>
              <a:prstDash val="solid"/>
              <a:miter/>
            </a:ln>
          </p:spPr>
        </p:sp>
        <p:sp>
          <p:nvSpPr>
            <p:cNvPr id="63" name="TextBox 63"/>
            <p:cNvSpPr txBox="1"/>
            <p:nvPr/>
          </p:nvSpPr>
          <p:spPr>
            <a:xfrm>
              <a:off x="0" y="-38100"/>
              <a:ext cx="11233569" cy="945045"/>
            </a:xfrm>
            <a:prstGeom prst="rect">
              <a:avLst/>
            </a:prstGeom>
          </p:spPr>
          <p:txBody>
            <a:bodyPr lIns="50800" tIns="50800" rIns="50800" bIns="50800" rtlCol="0" anchor="ctr"/>
            <a:lstStyle/>
            <a:p>
              <a:pPr algn="l">
                <a:lnSpc>
                  <a:spcPts val="2400"/>
                </a:lnSpc>
              </a:pPr>
              <a:r>
                <a:rPr lang="en-US" sz="2000" b="1" dirty="0">
                  <a:solidFill>
                    <a:srgbClr val="172243"/>
                  </a:solidFill>
                  <a:latin typeface="Calibri (MS) Bold"/>
                  <a:ea typeface="Calibri (MS) Bold"/>
                  <a:cs typeface="Calibri (MS) Bold"/>
                  <a:sym typeface="Calibri (MS) Bold"/>
                </a:rPr>
                <a:t>Gaps tied to learning</a:t>
              </a:r>
            </a:p>
            <a:p>
              <a:pPr algn="l">
                <a:lnSpc>
                  <a:spcPts val="2040"/>
                </a:lnSpc>
              </a:pPr>
              <a:r>
                <a:rPr lang="en-US" sz="1700" dirty="0">
                  <a:solidFill>
                    <a:srgbClr val="1B2440"/>
                  </a:solidFill>
                  <a:latin typeface="Calibri (MS)"/>
                  <a:ea typeface="Calibri (MS)"/>
                  <a:cs typeface="Calibri (MS)"/>
                  <a:sym typeface="Calibri (MS)"/>
                </a:rPr>
                <a:t>Catalogue resources, or an AI Tutor session; “none available” if neither</a:t>
              </a:r>
            </a:p>
          </p:txBody>
        </p:sp>
      </p:grpSp>
      <p:grpSp>
        <p:nvGrpSpPr>
          <p:cNvPr id="67" name="Group 67"/>
          <p:cNvGrpSpPr/>
          <p:nvPr/>
        </p:nvGrpSpPr>
        <p:grpSpPr>
          <a:xfrm>
            <a:off x="9411967" y="6915655"/>
            <a:ext cx="8425177" cy="680209"/>
            <a:chOff x="0" y="0"/>
            <a:chExt cx="11233569" cy="906945"/>
          </a:xfrm>
        </p:grpSpPr>
        <p:sp>
          <p:nvSpPr>
            <p:cNvPr id="68" name="Freeform 68"/>
            <p:cNvSpPr/>
            <p:nvPr/>
          </p:nvSpPr>
          <p:spPr>
            <a:xfrm>
              <a:off x="0" y="0"/>
              <a:ext cx="11233531" cy="906907"/>
            </a:xfrm>
            <a:custGeom>
              <a:avLst/>
              <a:gdLst/>
              <a:ahLst/>
              <a:cxnLst/>
              <a:rect l="l" t="t" r="r" b="b"/>
              <a:pathLst>
                <a:path w="11233531" h="906907">
                  <a:moveTo>
                    <a:pt x="0" y="136017"/>
                  </a:moveTo>
                  <a:cubicBezTo>
                    <a:pt x="0" y="60960"/>
                    <a:pt x="60960" y="0"/>
                    <a:pt x="136017" y="0"/>
                  </a:cubicBezTo>
                  <a:lnTo>
                    <a:pt x="11097514" y="0"/>
                  </a:lnTo>
                  <a:cubicBezTo>
                    <a:pt x="11172698" y="0"/>
                    <a:pt x="11233531" y="60960"/>
                    <a:pt x="11233531" y="136017"/>
                  </a:cubicBezTo>
                  <a:lnTo>
                    <a:pt x="11233531" y="770890"/>
                  </a:lnTo>
                  <a:cubicBezTo>
                    <a:pt x="11233531" y="846074"/>
                    <a:pt x="11172571" y="906907"/>
                    <a:pt x="11097514" y="906907"/>
                  </a:cubicBezTo>
                  <a:lnTo>
                    <a:pt x="136017" y="906907"/>
                  </a:lnTo>
                  <a:cubicBezTo>
                    <a:pt x="60960" y="906907"/>
                    <a:pt x="0" y="846074"/>
                    <a:pt x="0" y="770890"/>
                  </a:cubicBezTo>
                  <a:close/>
                </a:path>
              </a:pathLst>
            </a:custGeom>
            <a:solidFill>
              <a:srgbClr val="FFFFFF"/>
            </a:solidFill>
            <a:ln w="12700" cap="sq">
              <a:solidFill>
                <a:srgbClr val="D7D0E6"/>
              </a:solidFill>
              <a:prstDash val="solid"/>
              <a:miter/>
            </a:ln>
          </p:spPr>
        </p:sp>
        <p:sp>
          <p:nvSpPr>
            <p:cNvPr id="69" name="TextBox 69"/>
            <p:cNvSpPr txBox="1"/>
            <p:nvPr/>
          </p:nvSpPr>
          <p:spPr>
            <a:xfrm>
              <a:off x="0" y="-38100"/>
              <a:ext cx="11233569" cy="945045"/>
            </a:xfrm>
            <a:prstGeom prst="rect">
              <a:avLst/>
            </a:prstGeom>
          </p:spPr>
          <p:txBody>
            <a:bodyPr lIns="50800" tIns="50800" rIns="50800" bIns="50800" rtlCol="0" anchor="ctr"/>
            <a:lstStyle/>
            <a:p>
              <a:pPr algn="l">
                <a:lnSpc>
                  <a:spcPts val="2400"/>
                </a:lnSpc>
              </a:pPr>
              <a:r>
                <a:rPr lang="en-US" sz="2000" b="1">
                  <a:solidFill>
                    <a:srgbClr val="172243"/>
                  </a:solidFill>
                  <a:latin typeface="Calibri (MS) Bold"/>
                  <a:ea typeface="Calibri (MS) Bold"/>
                  <a:cs typeface="Calibri (MS) Bold"/>
                  <a:sym typeface="Calibri (MS) Bold"/>
                </a:rPr>
                <a:t>Versioned and live</a:t>
              </a:r>
            </a:p>
            <a:p>
              <a:pPr algn="l">
                <a:lnSpc>
                  <a:spcPts val="2040"/>
                </a:lnSpc>
              </a:pPr>
              <a:r>
                <a:rPr lang="en-US" sz="1700">
                  <a:solidFill>
                    <a:srgbClr val="1B2440"/>
                  </a:solidFill>
                  <a:latin typeface="Calibri (MS)"/>
                  <a:ea typeface="Calibri (MS)"/>
                  <a:cs typeface="Calibri (MS)"/>
                  <a:sym typeface="Calibri (MS)"/>
                </a:rPr>
                <a:t>Criteria versioned; results recalculate visibly</a:t>
              </a:r>
            </a:p>
          </p:txBody>
        </p:sp>
      </p:grpSp>
      <p:sp>
        <p:nvSpPr>
          <p:cNvPr id="72" name="TextBox 72"/>
          <p:cNvSpPr txBox="1"/>
          <p:nvPr/>
        </p:nvSpPr>
        <p:spPr>
          <a:xfrm>
            <a:off x="9546336" y="7021449"/>
            <a:ext cx="411480" cy="440055"/>
          </a:xfrm>
          <a:prstGeom prst="rect">
            <a:avLst/>
          </a:prstGeom>
        </p:spPr>
        <p:txBody>
          <a:bodyPr lIns="50800" tIns="50800" rIns="50800" bIns="50800" rtlCol="0" anchor="ctr"/>
          <a:lstStyle/>
          <a:p>
            <a:pPr algn="ctr">
              <a:lnSpc>
                <a:spcPts val="2279"/>
              </a:lnSpc>
            </a:pPr>
            <a:r>
              <a:rPr lang="en-US" sz="1899" b="1" dirty="0">
                <a:solidFill>
                  <a:srgbClr val="FFFFFF"/>
                </a:solidFill>
                <a:latin typeface="Calibri (MS) Bold"/>
                <a:ea typeface="Calibri (MS) Bold"/>
                <a:cs typeface="Calibri (MS) Bold"/>
                <a:sym typeface="Calibri (MS) Bold"/>
              </a:rPr>
              <a:t>6</a:t>
            </a:r>
          </a:p>
        </p:txBody>
      </p:sp>
      <p:grpSp>
        <p:nvGrpSpPr>
          <p:cNvPr id="73" name="Group 73"/>
          <p:cNvGrpSpPr/>
          <p:nvPr/>
        </p:nvGrpSpPr>
        <p:grpSpPr>
          <a:xfrm>
            <a:off x="9411967" y="7638031"/>
            <a:ext cx="8425177" cy="680209"/>
            <a:chOff x="0" y="0"/>
            <a:chExt cx="11233569" cy="906945"/>
          </a:xfrm>
        </p:grpSpPr>
        <p:sp>
          <p:nvSpPr>
            <p:cNvPr id="74" name="Freeform 74"/>
            <p:cNvSpPr/>
            <p:nvPr/>
          </p:nvSpPr>
          <p:spPr>
            <a:xfrm>
              <a:off x="0" y="0"/>
              <a:ext cx="11233531" cy="906907"/>
            </a:xfrm>
            <a:custGeom>
              <a:avLst/>
              <a:gdLst/>
              <a:ahLst/>
              <a:cxnLst/>
              <a:rect l="l" t="t" r="r" b="b"/>
              <a:pathLst>
                <a:path w="11233531" h="906907">
                  <a:moveTo>
                    <a:pt x="0" y="136017"/>
                  </a:moveTo>
                  <a:cubicBezTo>
                    <a:pt x="0" y="60960"/>
                    <a:pt x="60960" y="0"/>
                    <a:pt x="136017" y="0"/>
                  </a:cubicBezTo>
                  <a:lnTo>
                    <a:pt x="11097514" y="0"/>
                  </a:lnTo>
                  <a:cubicBezTo>
                    <a:pt x="11172698" y="0"/>
                    <a:pt x="11233531" y="60960"/>
                    <a:pt x="11233531" y="136017"/>
                  </a:cubicBezTo>
                  <a:lnTo>
                    <a:pt x="11233531" y="770890"/>
                  </a:lnTo>
                  <a:cubicBezTo>
                    <a:pt x="11233531" y="846074"/>
                    <a:pt x="11172571" y="906907"/>
                    <a:pt x="11097514" y="906907"/>
                  </a:cubicBezTo>
                  <a:lnTo>
                    <a:pt x="136017" y="906907"/>
                  </a:lnTo>
                  <a:cubicBezTo>
                    <a:pt x="60960" y="906907"/>
                    <a:pt x="0" y="846074"/>
                    <a:pt x="0" y="770890"/>
                  </a:cubicBezTo>
                  <a:close/>
                </a:path>
              </a:pathLst>
            </a:custGeom>
            <a:solidFill>
              <a:srgbClr val="FFFFFF"/>
            </a:solidFill>
            <a:ln w="12700" cap="sq">
              <a:solidFill>
                <a:srgbClr val="D7D0E6"/>
              </a:solidFill>
              <a:prstDash val="solid"/>
              <a:miter/>
            </a:ln>
          </p:spPr>
        </p:sp>
        <p:sp>
          <p:nvSpPr>
            <p:cNvPr id="75" name="TextBox 75"/>
            <p:cNvSpPr txBox="1"/>
            <p:nvPr/>
          </p:nvSpPr>
          <p:spPr>
            <a:xfrm>
              <a:off x="0" y="-38100"/>
              <a:ext cx="11233569" cy="945045"/>
            </a:xfrm>
            <a:prstGeom prst="rect">
              <a:avLst/>
            </a:prstGeom>
          </p:spPr>
          <p:txBody>
            <a:bodyPr lIns="50800" tIns="50800" rIns="50800" bIns="50800" rtlCol="0" anchor="ctr"/>
            <a:lstStyle/>
            <a:p>
              <a:pPr algn="l">
                <a:lnSpc>
                  <a:spcPts val="2400"/>
                </a:lnSpc>
              </a:pPr>
              <a:r>
                <a:rPr lang="en-US" sz="2000" b="1">
                  <a:solidFill>
                    <a:srgbClr val="172243"/>
                  </a:solidFill>
                  <a:latin typeface="Calibri (MS) Bold"/>
                  <a:ea typeface="Calibri (MS) Bold"/>
                  <a:cs typeface="Calibri (MS) Bold"/>
                  <a:sym typeface="Calibri (MS) Bold"/>
                </a:rPr>
                <a:t>Truthful AI tools</a:t>
              </a:r>
            </a:p>
            <a:p>
              <a:pPr algn="l">
                <a:lnSpc>
                  <a:spcPts val="2040"/>
                </a:lnSpc>
              </a:pPr>
              <a:r>
                <a:rPr lang="en-US" sz="1700">
                  <a:solidFill>
                    <a:srgbClr val="1B2440"/>
                  </a:solidFill>
                  <a:latin typeface="Calibri (MS)"/>
                  <a:ea typeface="Calibri (MS)"/>
                  <a:cs typeface="Calibri (MS)"/>
                  <a:sym typeface="Calibri (MS)"/>
                </a:rPr>
                <a:t>Resume and interview AI never fabricate; candidate approves changes</a:t>
              </a:r>
            </a:p>
          </p:txBody>
        </p:sp>
      </p:grpSp>
      <p:grpSp>
        <p:nvGrpSpPr>
          <p:cNvPr id="79" name="Group 79"/>
          <p:cNvGrpSpPr/>
          <p:nvPr/>
        </p:nvGrpSpPr>
        <p:grpSpPr>
          <a:xfrm>
            <a:off x="9418320" y="8494776"/>
            <a:ext cx="8412480" cy="1517904"/>
            <a:chOff x="0" y="0"/>
            <a:chExt cx="11216640" cy="2023872"/>
          </a:xfrm>
        </p:grpSpPr>
        <p:sp>
          <p:nvSpPr>
            <p:cNvPr id="80" name="Freeform 80"/>
            <p:cNvSpPr/>
            <p:nvPr/>
          </p:nvSpPr>
          <p:spPr>
            <a:xfrm>
              <a:off x="0" y="0"/>
              <a:ext cx="11216640" cy="2023872"/>
            </a:xfrm>
            <a:custGeom>
              <a:avLst/>
              <a:gdLst/>
              <a:ahLst/>
              <a:cxnLst/>
              <a:rect l="l" t="t" r="r" b="b"/>
              <a:pathLst>
                <a:path w="11216640" h="2023872">
                  <a:moveTo>
                    <a:pt x="0" y="121412"/>
                  </a:moveTo>
                  <a:cubicBezTo>
                    <a:pt x="0" y="54356"/>
                    <a:pt x="54356" y="0"/>
                    <a:pt x="121412" y="0"/>
                  </a:cubicBezTo>
                  <a:lnTo>
                    <a:pt x="11095228" y="0"/>
                  </a:lnTo>
                  <a:cubicBezTo>
                    <a:pt x="11162285" y="0"/>
                    <a:pt x="11216640" y="54356"/>
                    <a:pt x="11216640" y="121412"/>
                  </a:cubicBezTo>
                  <a:lnTo>
                    <a:pt x="11216640" y="1902460"/>
                  </a:lnTo>
                  <a:cubicBezTo>
                    <a:pt x="11216640" y="1969516"/>
                    <a:pt x="11162285" y="2023872"/>
                    <a:pt x="11095228" y="2023872"/>
                  </a:cubicBezTo>
                  <a:lnTo>
                    <a:pt x="121412" y="2023872"/>
                  </a:lnTo>
                  <a:cubicBezTo>
                    <a:pt x="54356" y="2023872"/>
                    <a:pt x="0" y="1969516"/>
                    <a:pt x="0" y="1902460"/>
                  </a:cubicBezTo>
                  <a:close/>
                </a:path>
              </a:pathLst>
            </a:custGeom>
            <a:solidFill>
              <a:srgbClr val="172243"/>
            </a:solidFill>
          </p:spPr>
        </p:sp>
        <p:sp>
          <p:nvSpPr>
            <p:cNvPr id="81" name="TextBox 81"/>
            <p:cNvSpPr txBox="1"/>
            <p:nvPr/>
          </p:nvSpPr>
          <p:spPr>
            <a:xfrm>
              <a:off x="0" y="-38100"/>
              <a:ext cx="11216640" cy="2061972"/>
            </a:xfrm>
            <a:prstGeom prst="rect">
              <a:avLst/>
            </a:prstGeom>
          </p:spPr>
          <p:txBody>
            <a:bodyPr lIns="50800" tIns="50800" rIns="50800" bIns="50800" rtlCol="0" anchor="ctr"/>
            <a:lstStyle/>
            <a:p>
              <a:pPr algn="l">
                <a:lnSpc>
                  <a:spcPts val="2580"/>
                </a:lnSpc>
              </a:pPr>
              <a:r>
                <a:rPr lang="en-US" sz="2150" b="1">
                  <a:solidFill>
                    <a:srgbClr val="FFFFFF"/>
                  </a:solidFill>
                  <a:latin typeface="Calibri (MS) Bold"/>
                  <a:ea typeface="Calibri (MS) Bold"/>
                  <a:cs typeface="Calibri (MS) Bold"/>
                  <a:sym typeface="Calibri (MS) Bold"/>
                </a:rPr>
                <a:t>Positioning</a:t>
              </a:r>
            </a:p>
            <a:p>
              <a:pPr algn="l">
                <a:lnSpc>
                  <a:spcPts val="2099"/>
                </a:lnSpc>
              </a:pPr>
              <a:r>
                <a:rPr lang="en-US" sz="1749">
                  <a:solidFill>
                    <a:srgbClr val="E6E9F6"/>
                  </a:solidFill>
                  <a:latin typeface="Calibri (MS)"/>
                  <a:ea typeface="Calibri (MS)"/>
                  <a:cs typeface="Calibri (MS)"/>
                  <a:sym typeface="Calibri (MS)"/>
                </a:rPr>
                <a:t>A transparent, auditable eligibility-first matching layer. It complements national platforms such as NCS rather than replacing them; the same rules-first approach could sit in front of any opportunity source.</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t="-26" b="-26"/>
              </a:stretch>
            </a:blipFill>
          </p:spPr>
        </p:sp>
      </p:grpSp>
      <p:grpSp>
        <p:nvGrpSpPr>
          <p:cNvPr id="4" name="Group 4"/>
          <p:cNvGrpSpPr/>
          <p:nvPr/>
        </p:nvGrpSpPr>
        <p:grpSpPr>
          <a:xfrm>
            <a:off x="0" y="4711684"/>
            <a:ext cx="6540808" cy="5148967"/>
            <a:chOff x="0" y="0"/>
            <a:chExt cx="8721077" cy="6865290"/>
          </a:xfrm>
        </p:grpSpPr>
        <p:sp>
          <p:nvSpPr>
            <p:cNvPr id="5" name="Freeform 5"/>
            <p:cNvSpPr/>
            <p:nvPr/>
          </p:nvSpPr>
          <p:spPr>
            <a:xfrm>
              <a:off x="0" y="0"/>
              <a:ext cx="8721090" cy="6865239"/>
            </a:xfrm>
            <a:custGeom>
              <a:avLst/>
              <a:gdLst/>
              <a:ahLst/>
              <a:cxnLst/>
              <a:rect l="l" t="t" r="r" b="b"/>
              <a:pathLst>
                <a:path w="8721090" h="6865239">
                  <a:moveTo>
                    <a:pt x="0" y="0"/>
                  </a:moveTo>
                  <a:lnTo>
                    <a:pt x="8721090" y="0"/>
                  </a:lnTo>
                  <a:lnTo>
                    <a:pt x="8721090" y="6865239"/>
                  </a:lnTo>
                  <a:lnTo>
                    <a:pt x="0" y="6865239"/>
                  </a:lnTo>
                  <a:lnTo>
                    <a:pt x="0" y="0"/>
                  </a:lnTo>
                  <a:close/>
                </a:path>
              </a:pathLst>
            </a:custGeom>
            <a:blipFill>
              <a:blip r:embed="rId3"/>
              <a:stretch>
                <a:fillRect t="-26" b="-27"/>
              </a:stretch>
            </a:blipFill>
          </p:spPr>
        </p:sp>
      </p:grpSp>
      <p:grpSp>
        <p:nvGrpSpPr>
          <p:cNvPr id="6" name="Group 6"/>
          <p:cNvGrpSpPr/>
          <p:nvPr/>
        </p:nvGrpSpPr>
        <p:grpSpPr>
          <a:xfrm>
            <a:off x="7175192" y="6854352"/>
            <a:ext cx="4364184" cy="3006300"/>
            <a:chOff x="0" y="0"/>
            <a:chExt cx="5818911" cy="4008399"/>
          </a:xfrm>
        </p:grpSpPr>
        <p:sp>
          <p:nvSpPr>
            <p:cNvPr id="7" name="Freeform 7"/>
            <p:cNvSpPr/>
            <p:nvPr/>
          </p:nvSpPr>
          <p:spPr>
            <a:xfrm>
              <a:off x="0" y="0"/>
              <a:ext cx="5818886" cy="4008374"/>
            </a:xfrm>
            <a:custGeom>
              <a:avLst/>
              <a:gdLst/>
              <a:ahLst/>
              <a:cxnLst/>
              <a:rect l="l" t="t" r="r" b="b"/>
              <a:pathLst>
                <a:path w="5818886" h="4008374">
                  <a:moveTo>
                    <a:pt x="0" y="0"/>
                  </a:moveTo>
                  <a:lnTo>
                    <a:pt x="5818886" y="0"/>
                  </a:lnTo>
                  <a:lnTo>
                    <a:pt x="5818886" y="4008374"/>
                  </a:lnTo>
                  <a:lnTo>
                    <a:pt x="0" y="4008374"/>
                  </a:lnTo>
                  <a:lnTo>
                    <a:pt x="0" y="0"/>
                  </a:lnTo>
                  <a:close/>
                </a:path>
              </a:pathLst>
            </a:custGeom>
            <a:blipFill>
              <a:blip r:embed="rId4"/>
              <a:stretch>
                <a:fillRect t="-26" b="-26"/>
              </a:stretch>
            </a:blipFill>
          </p:spPr>
        </p:sp>
      </p:grpSp>
      <p:grpSp>
        <p:nvGrpSpPr>
          <p:cNvPr id="8" name="Group 8"/>
          <p:cNvGrpSpPr/>
          <p:nvPr/>
        </p:nvGrpSpPr>
        <p:grpSpPr>
          <a:xfrm>
            <a:off x="9789328" y="7499347"/>
            <a:ext cx="8498672" cy="2361305"/>
            <a:chOff x="0" y="0"/>
            <a:chExt cx="11331562" cy="3148406"/>
          </a:xfrm>
        </p:grpSpPr>
        <p:sp>
          <p:nvSpPr>
            <p:cNvPr id="9" name="Freeform 9"/>
            <p:cNvSpPr/>
            <p:nvPr/>
          </p:nvSpPr>
          <p:spPr>
            <a:xfrm>
              <a:off x="0" y="0"/>
              <a:ext cx="11331575" cy="3148457"/>
            </a:xfrm>
            <a:custGeom>
              <a:avLst/>
              <a:gdLst/>
              <a:ahLst/>
              <a:cxnLst/>
              <a:rect l="l" t="t" r="r" b="b"/>
              <a:pathLst>
                <a:path w="11331575" h="3148457">
                  <a:moveTo>
                    <a:pt x="0" y="0"/>
                  </a:moveTo>
                  <a:lnTo>
                    <a:pt x="11331575" y="0"/>
                  </a:lnTo>
                  <a:lnTo>
                    <a:pt x="11331575" y="3148457"/>
                  </a:lnTo>
                  <a:lnTo>
                    <a:pt x="0" y="3148457"/>
                  </a:lnTo>
                  <a:lnTo>
                    <a:pt x="0" y="0"/>
                  </a:lnTo>
                  <a:close/>
                </a:path>
              </a:pathLst>
            </a:custGeom>
            <a:blipFill>
              <a:blip r:embed="rId5"/>
              <a:stretch>
                <a:fillRect t="-26" b="-25"/>
              </a:stretch>
            </a:blipFill>
          </p:spPr>
        </p:sp>
      </p:grpSp>
      <p:grpSp>
        <p:nvGrpSpPr>
          <p:cNvPr id="10" name="Group 10"/>
          <p:cNvGrpSpPr/>
          <p:nvPr/>
        </p:nvGrpSpPr>
        <p:grpSpPr>
          <a:xfrm>
            <a:off x="0" y="7280700"/>
            <a:ext cx="16986399" cy="2798588"/>
            <a:chOff x="0" y="0"/>
            <a:chExt cx="22648532" cy="3731450"/>
          </a:xfrm>
        </p:grpSpPr>
        <p:sp>
          <p:nvSpPr>
            <p:cNvPr id="11" name="Freeform 11"/>
            <p:cNvSpPr/>
            <p:nvPr/>
          </p:nvSpPr>
          <p:spPr>
            <a:xfrm>
              <a:off x="0" y="0"/>
              <a:ext cx="22648545" cy="3731514"/>
            </a:xfrm>
            <a:custGeom>
              <a:avLst/>
              <a:gdLst/>
              <a:ahLst/>
              <a:cxnLst/>
              <a:rect l="l" t="t" r="r" b="b"/>
              <a:pathLst>
                <a:path w="22648545" h="3731514">
                  <a:moveTo>
                    <a:pt x="0" y="0"/>
                  </a:moveTo>
                  <a:lnTo>
                    <a:pt x="22648545" y="0"/>
                  </a:lnTo>
                  <a:lnTo>
                    <a:pt x="22648545" y="3731514"/>
                  </a:lnTo>
                  <a:lnTo>
                    <a:pt x="0" y="3731514"/>
                  </a:lnTo>
                  <a:lnTo>
                    <a:pt x="0" y="0"/>
                  </a:lnTo>
                  <a:close/>
                </a:path>
              </a:pathLst>
            </a:custGeom>
            <a:blipFill>
              <a:blip r:embed="rId6"/>
              <a:stretch>
                <a:fillRect t="-26" b="-24"/>
              </a:stretch>
            </a:blipFill>
          </p:spPr>
        </p:sp>
      </p:grpSp>
      <p:grpSp>
        <p:nvGrpSpPr>
          <p:cNvPr id="12" name="Group 12"/>
          <p:cNvGrpSpPr/>
          <p:nvPr/>
        </p:nvGrpSpPr>
        <p:grpSpPr>
          <a:xfrm>
            <a:off x="1301601" y="6635715"/>
            <a:ext cx="1312535" cy="3443573"/>
            <a:chOff x="0" y="0"/>
            <a:chExt cx="1750047" cy="4591431"/>
          </a:xfrm>
        </p:grpSpPr>
        <p:sp>
          <p:nvSpPr>
            <p:cNvPr id="13" name="Freeform 13"/>
            <p:cNvSpPr/>
            <p:nvPr/>
          </p:nvSpPr>
          <p:spPr>
            <a:xfrm>
              <a:off x="0" y="0"/>
              <a:ext cx="1750060" cy="4591431"/>
            </a:xfrm>
            <a:custGeom>
              <a:avLst/>
              <a:gdLst/>
              <a:ahLst/>
              <a:cxnLst/>
              <a:rect l="l" t="t" r="r" b="b"/>
              <a:pathLst>
                <a:path w="1750060" h="4591431">
                  <a:moveTo>
                    <a:pt x="0" y="0"/>
                  </a:moveTo>
                  <a:lnTo>
                    <a:pt x="1750060" y="0"/>
                  </a:lnTo>
                  <a:lnTo>
                    <a:pt x="1750060" y="4591431"/>
                  </a:lnTo>
                  <a:lnTo>
                    <a:pt x="0" y="4591431"/>
                  </a:lnTo>
                  <a:lnTo>
                    <a:pt x="0" y="0"/>
                  </a:lnTo>
                  <a:close/>
                </a:path>
              </a:pathLst>
            </a:custGeom>
            <a:blipFill>
              <a:blip r:embed="rId7"/>
              <a:stretch>
                <a:fillRect t="-26" b="-26"/>
              </a:stretch>
            </a:blipFill>
          </p:spPr>
        </p:sp>
      </p:grpSp>
      <p:grpSp>
        <p:nvGrpSpPr>
          <p:cNvPr id="14" name="Group 14"/>
          <p:cNvGrpSpPr/>
          <p:nvPr/>
        </p:nvGrpSpPr>
        <p:grpSpPr>
          <a:xfrm>
            <a:off x="2176624" y="5990730"/>
            <a:ext cx="1531296" cy="4088559"/>
            <a:chOff x="0" y="0"/>
            <a:chExt cx="2041728" cy="5451412"/>
          </a:xfrm>
        </p:grpSpPr>
        <p:sp>
          <p:nvSpPr>
            <p:cNvPr id="15" name="Freeform 15"/>
            <p:cNvSpPr/>
            <p:nvPr/>
          </p:nvSpPr>
          <p:spPr>
            <a:xfrm>
              <a:off x="0" y="0"/>
              <a:ext cx="2041779" cy="5451475"/>
            </a:xfrm>
            <a:custGeom>
              <a:avLst/>
              <a:gdLst/>
              <a:ahLst/>
              <a:cxnLst/>
              <a:rect l="l" t="t" r="r" b="b"/>
              <a:pathLst>
                <a:path w="2041779" h="5451475">
                  <a:moveTo>
                    <a:pt x="0" y="0"/>
                  </a:moveTo>
                  <a:lnTo>
                    <a:pt x="2041779" y="0"/>
                  </a:lnTo>
                  <a:lnTo>
                    <a:pt x="2041779" y="5451475"/>
                  </a:lnTo>
                  <a:lnTo>
                    <a:pt x="0" y="5451475"/>
                  </a:lnTo>
                  <a:lnTo>
                    <a:pt x="0" y="0"/>
                  </a:lnTo>
                  <a:close/>
                </a:path>
              </a:pathLst>
            </a:custGeom>
            <a:blipFill>
              <a:blip r:embed="rId8"/>
              <a:stretch>
                <a:fillRect t="-26" r="2" b="-25"/>
              </a:stretch>
            </a:blipFill>
          </p:spPr>
        </p:sp>
      </p:grpSp>
      <p:grpSp>
        <p:nvGrpSpPr>
          <p:cNvPr id="16" name="Group 16"/>
          <p:cNvGrpSpPr/>
          <p:nvPr/>
        </p:nvGrpSpPr>
        <p:grpSpPr>
          <a:xfrm>
            <a:off x="12840976" y="6635715"/>
            <a:ext cx="1312535" cy="3443573"/>
            <a:chOff x="0" y="0"/>
            <a:chExt cx="1750047" cy="4591431"/>
          </a:xfrm>
        </p:grpSpPr>
        <p:sp>
          <p:nvSpPr>
            <p:cNvPr id="17" name="Freeform 17"/>
            <p:cNvSpPr/>
            <p:nvPr/>
          </p:nvSpPr>
          <p:spPr>
            <a:xfrm>
              <a:off x="0" y="0"/>
              <a:ext cx="1750060" cy="4591431"/>
            </a:xfrm>
            <a:custGeom>
              <a:avLst/>
              <a:gdLst/>
              <a:ahLst/>
              <a:cxnLst/>
              <a:rect l="l" t="t" r="r" b="b"/>
              <a:pathLst>
                <a:path w="1750060" h="4591431">
                  <a:moveTo>
                    <a:pt x="0" y="0"/>
                  </a:moveTo>
                  <a:lnTo>
                    <a:pt x="1750060" y="0"/>
                  </a:lnTo>
                  <a:lnTo>
                    <a:pt x="1750060" y="4591431"/>
                  </a:lnTo>
                  <a:lnTo>
                    <a:pt x="0" y="4591431"/>
                  </a:lnTo>
                  <a:lnTo>
                    <a:pt x="0" y="0"/>
                  </a:lnTo>
                  <a:close/>
                </a:path>
              </a:pathLst>
            </a:custGeom>
            <a:blipFill>
              <a:blip r:embed="rId9"/>
              <a:stretch>
                <a:fillRect t="-26" b="-26"/>
              </a:stretch>
            </a:blipFill>
          </p:spPr>
        </p:sp>
      </p:grpSp>
      <p:grpSp>
        <p:nvGrpSpPr>
          <p:cNvPr id="18" name="Group 18"/>
          <p:cNvGrpSpPr/>
          <p:nvPr/>
        </p:nvGrpSpPr>
        <p:grpSpPr>
          <a:xfrm>
            <a:off x="13923816" y="7280700"/>
            <a:ext cx="1104719" cy="2579951"/>
            <a:chOff x="0" y="0"/>
            <a:chExt cx="1472959" cy="3439935"/>
          </a:xfrm>
        </p:grpSpPr>
        <p:sp>
          <p:nvSpPr>
            <p:cNvPr id="19" name="Freeform 19"/>
            <p:cNvSpPr/>
            <p:nvPr/>
          </p:nvSpPr>
          <p:spPr>
            <a:xfrm>
              <a:off x="0" y="0"/>
              <a:ext cx="1472946" cy="3439922"/>
            </a:xfrm>
            <a:custGeom>
              <a:avLst/>
              <a:gdLst/>
              <a:ahLst/>
              <a:cxnLst/>
              <a:rect l="l" t="t" r="r" b="b"/>
              <a:pathLst>
                <a:path w="1472946" h="3439922">
                  <a:moveTo>
                    <a:pt x="0" y="0"/>
                  </a:moveTo>
                  <a:lnTo>
                    <a:pt x="1472946" y="0"/>
                  </a:lnTo>
                  <a:lnTo>
                    <a:pt x="1472946" y="3439922"/>
                  </a:lnTo>
                  <a:lnTo>
                    <a:pt x="0" y="3439922"/>
                  </a:lnTo>
                  <a:lnTo>
                    <a:pt x="0" y="0"/>
                  </a:lnTo>
                  <a:close/>
                </a:path>
              </a:pathLst>
            </a:custGeom>
            <a:blipFill>
              <a:blip r:embed="rId10"/>
              <a:stretch>
                <a:fillRect t="-26" b="-26"/>
              </a:stretch>
            </a:blipFill>
          </p:spPr>
        </p:sp>
      </p:grpSp>
      <p:grpSp>
        <p:nvGrpSpPr>
          <p:cNvPr id="20" name="Group 20"/>
          <p:cNvGrpSpPr/>
          <p:nvPr/>
        </p:nvGrpSpPr>
        <p:grpSpPr>
          <a:xfrm>
            <a:off x="0" y="9423368"/>
            <a:ext cx="18288000" cy="863632"/>
            <a:chOff x="0" y="0"/>
            <a:chExt cx="24384000" cy="1151509"/>
          </a:xfrm>
        </p:grpSpPr>
        <p:sp>
          <p:nvSpPr>
            <p:cNvPr id="21" name="Freeform 21"/>
            <p:cNvSpPr/>
            <p:nvPr/>
          </p:nvSpPr>
          <p:spPr>
            <a:xfrm>
              <a:off x="0" y="0"/>
              <a:ext cx="24384000" cy="1151509"/>
            </a:xfrm>
            <a:custGeom>
              <a:avLst/>
              <a:gdLst/>
              <a:ahLst/>
              <a:cxnLst/>
              <a:rect l="l" t="t" r="r" b="b"/>
              <a:pathLst>
                <a:path w="24384000" h="1151509">
                  <a:moveTo>
                    <a:pt x="0" y="0"/>
                  </a:moveTo>
                  <a:lnTo>
                    <a:pt x="24384000" y="0"/>
                  </a:lnTo>
                  <a:lnTo>
                    <a:pt x="24384000" y="1151509"/>
                  </a:lnTo>
                  <a:lnTo>
                    <a:pt x="0" y="1151509"/>
                  </a:lnTo>
                  <a:lnTo>
                    <a:pt x="0" y="0"/>
                  </a:lnTo>
                  <a:close/>
                </a:path>
              </a:pathLst>
            </a:custGeom>
            <a:blipFill>
              <a:blip r:embed="rId11"/>
              <a:stretch>
                <a:fillRect t="-26" b="-26"/>
              </a:stretch>
            </a:blipFill>
          </p:spPr>
        </p:sp>
      </p:grpSp>
      <p:sp>
        <p:nvSpPr>
          <p:cNvPr id="22" name="TextBox 22"/>
          <p:cNvSpPr txBox="1"/>
          <p:nvPr/>
        </p:nvSpPr>
        <p:spPr>
          <a:xfrm>
            <a:off x="5663022" y="3162433"/>
            <a:ext cx="6961956" cy="2297173"/>
          </a:xfrm>
          <a:prstGeom prst="rect">
            <a:avLst/>
          </a:prstGeom>
        </p:spPr>
        <p:txBody>
          <a:bodyPr lIns="0" tIns="0" rIns="0" bIns="0" rtlCol="0" anchor="t">
            <a:spAutoFit/>
          </a:bodyPr>
          <a:lstStyle/>
          <a:p>
            <a:pPr algn="ctr">
              <a:lnSpc>
                <a:spcPts val="14129"/>
              </a:lnSpc>
            </a:pPr>
            <a:r>
              <a:rPr lang="en-US" sz="14129" b="1" spc="281">
                <a:solidFill>
                  <a:srgbClr val="141D40"/>
                </a:solidFill>
                <a:latin typeface="Heading Now 31-38 Bold"/>
                <a:ea typeface="Heading Now 31-38 Bold"/>
                <a:cs typeface="Heading Now 31-38 Bold"/>
                <a:sym typeface="Heading Now 31-38 Bold"/>
              </a:rPr>
              <a:t>THANK YOU!</a:t>
            </a:r>
          </a:p>
        </p:txBody>
      </p:sp>
      <p:grpSp>
        <p:nvGrpSpPr>
          <p:cNvPr id="23" name="Group 23"/>
          <p:cNvGrpSpPr/>
          <p:nvPr/>
        </p:nvGrpSpPr>
        <p:grpSpPr>
          <a:xfrm>
            <a:off x="3259465" y="5459606"/>
            <a:ext cx="11769071" cy="218637"/>
            <a:chOff x="0" y="0"/>
            <a:chExt cx="15692095" cy="291516"/>
          </a:xfrm>
        </p:grpSpPr>
        <p:sp>
          <p:nvSpPr>
            <p:cNvPr id="24" name="Freeform 24"/>
            <p:cNvSpPr/>
            <p:nvPr/>
          </p:nvSpPr>
          <p:spPr>
            <a:xfrm>
              <a:off x="0" y="0"/>
              <a:ext cx="15692120" cy="291465"/>
            </a:xfrm>
            <a:custGeom>
              <a:avLst/>
              <a:gdLst/>
              <a:ahLst/>
              <a:cxnLst/>
              <a:rect l="l" t="t" r="r" b="b"/>
              <a:pathLst>
                <a:path w="15692120" h="291465">
                  <a:moveTo>
                    <a:pt x="0" y="0"/>
                  </a:moveTo>
                  <a:lnTo>
                    <a:pt x="15692120" y="0"/>
                  </a:lnTo>
                  <a:lnTo>
                    <a:pt x="15692120" y="291465"/>
                  </a:lnTo>
                  <a:lnTo>
                    <a:pt x="0" y="291465"/>
                  </a:lnTo>
                  <a:lnTo>
                    <a:pt x="0" y="0"/>
                  </a:lnTo>
                  <a:close/>
                </a:path>
              </a:pathLst>
            </a:custGeom>
            <a:blipFill>
              <a:blip r:embed="rId12"/>
              <a:stretch>
                <a:fillRect t="-26" b="-47"/>
              </a:stretch>
            </a:blipFill>
          </p:spPr>
        </p:sp>
      </p:grpSp>
      <p:sp>
        <p:nvSpPr>
          <p:cNvPr id="25" name="TextBox 25"/>
          <p:cNvSpPr txBox="1"/>
          <p:nvPr/>
        </p:nvSpPr>
        <p:spPr>
          <a:xfrm>
            <a:off x="7517130" y="5848426"/>
            <a:ext cx="3296955" cy="903084"/>
          </a:xfrm>
          <a:prstGeom prst="rect">
            <a:avLst/>
          </a:prstGeom>
        </p:spPr>
        <p:txBody>
          <a:bodyPr lIns="0" tIns="0" rIns="0" bIns="0" rtlCol="0" anchor="t">
            <a:spAutoFit/>
          </a:bodyPr>
          <a:lstStyle/>
          <a:p>
            <a:pPr algn="ctr">
              <a:lnSpc>
                <a:spcPts val="5553"/>
              </a:lnSpc>
            </a:pPr>
            <a:r>
              <a:rPr lang="en-US" sz="5553" b="1" spc="275">
                <a:solidFill>
                  <a:srgbClr val="323F9D"/>
                </a:solidFill>
                <a:latin typeface="Heading Now 31-38 Bold"/>
                <a:ea typeface="Heading Now 31-38 Bold"/>
                <a:cs typeface="Heading Now 31-38 Bold"/>
                <a:sym typeface="Heading Now 31-38 Bold"/>
              </a:rPr>
              <a:t>VORTEXA 3.0</a:t>
            </a:r>
          </a:p>
        </p:txBody>
      </p:sp>
      <p:sp>
        <p:nvSpPr>
          <p:cNvPr id="26" name="TextBox 26"/>
          <p:cNvSpPr txBox="1"/>
          <p:nvPr/>
        </p:nvSpPr>
        <p:spPr>
          <a:xfrm>
            <a:off x="8581396" y="7023611"/>
            <a:ext cx="1168413" cy="894312"/>
          </a:xfrm>
          <a:prstGeom prst="rect">
            <a:avLst/>
          </a:prstGeom>
        </p:spPr>
        <p:txBody>
          <a:bodyPr lIns="0" tIns="0" rIns="0" bIns="0" rtlCol="0" anchor="t">
            <a:spAutoFit/>
          </a:bodyPr>
          <a:lstStyle/>
          <a:p>
            <a:pPr algn="ctr">
              <a:lnSpc>
                <a:spcPts val="5553"/>
              </a:lnSpc>
            </a:pPr>
            <a:r>
              <a:rPr lang="en-US" sz="5553" b="1" spc="275">
                <a:solidFill>
                  <a:srgbClr val="ED8076"/>
                </a:solidFill>
                <a:latin typeface="Heading Now 31-38 Bold"/>
                <a:ea typeface="Heading Now 31-38 Bold"/>
                <a:cs typeface="Heading Now 31-38 Bold"/>
                <a:sym typeface="Heading Now 31-38 Bold"/>
              </a:rPr>
              <a:t>AIRS</a:t>
            </a:r>
          </a:p>
        </p:txBody>
      </p:sp>
      <p:sp>
        <p:nvSpPr>
          <p:cNvPr id="27" name="TextBox 27"/>
          <p:cNvSpPr txBox="1"/>
          <p:nvPr/>
        </p:nvSpPr>
        <p:spPr>
          <a:xfrm rot="-769920">
            <a:off x="15540984" y="4512943"/>
            <a:ext cx="1911525" cy="1837353"/>
          </a:xfrm>
          <a:prstGeom prst="rect">
            <a:avLst/>
          </a:prstGeom>
        </p:spPr>
        <p:txBody>
          <a:bodyPr lIns="0" tIns="0" rIns="0" bIns="0" rtlCol="0" anchor="t">
            <a:spAutoFit/>
          </a:bodyPr>
          <a:lstStyle/>
          <a:p>
            <a:pPr algn="ctr">
              <a:lnSpc>
                <a:spcPts val="6255"/>
              </a:lnSpc>
            </a:pPr>
            <a:r>
              <a:rPr lang="en-US" sz="5211">
                <a:solidFill>
                  <a:srgbClr val="ED8076"/>
                </a:solidFill>
                <a:latin typeface="Heading Now 31-38"/>
                <a:ea typeface="Heading Now 31-38"/>
                <a:cs typeface="Heading Now 31-38"/>
                <a:sym typeface="Heading Now 31-38"/>
              </a:rPr>
              <a:t>Game’s</a:t>
            </a:r>
          </a:p>
          <a:p>
            <a:pPr algn="ctr">
              <a:lnSpc>
                <a:spcPts val="6255"/>
              </a:lnSpc>
            </a:pPr>
            <a:r>
              <a:rPr lang="en-US" sz="5211">
                <a:solidFill>
                  <a:srgbClr val="ED8076"/>
                </a:solidFill>
                <a:latin typeface="Heading Now 31-38"/>
                <a:ea typeface="Heading Now 31-38"/>
                <a:cs typeface="Heading Now 31-38"/>
                <a:sym typeface="Heading Now 31-38"/>
              </a:rPr>
              <a:t>Still On</a:t>
            </a:r>
          </a:p>
        </p:txBody>
      </p:sp>
      <p:grpSp>
        <p:nvGrpSpPr>
          <p:cNvPr id="28" name="Group 28"/>
          <p:cNvGrpSpPr/>
          <p:nvPr/>
        </p:nvGrpSpPr>
        <p:grpSpPr>
          <a:xfrm>
            <a:off x="15892624" y="5998493"/>
            <a:ext cx="2187559" cy="1082269"/>
            <a:chOff x="0" y="0"/>
            <a:chExt cx="2916746" cy="1443025"/>
          </a:xfrm>
        </p:grpSpPr>
        <p:sp>
          <p:nvSpPr>
            <p:cNvPr id="29" name="Freeform 29"/>
            <p:cNvSpPr/>
            <p:nvPr/>
          </p:nvSpPr>
          <p:spPr>
            <a:xfrm>
              <a:off x="0" y="0"/>
              <a:ext cx="2916809" cy="1442974"/>
            </a:xfrm>
            <a:custGeom>
              <a:avLst/>
              <a:gdLst/>
              <a:ahLst/>
              <a:cxnLst/>
              <a:rect l="l" t="t" r="r" b="b"/>
              <a:pathLst>
                <a:path w="2916809" h="1442974">
                  <a:moveTo>
                    <a:pt x="0" y="0"/>
                  </a:moveTo>
                  <a:lnTo>
                    <a:pt x="2916809" y="0"/>
                  </a:lnTo>
                  <a:lnTo>
                    <a:pt x="2916809" y="1442974"/>
                  </a:lnTo>
                  <a:lnTo>
                    <a:pt x="0" y="1442974"/>
                  </a:lnTo>
                  <a:lnTo>
                    <a:pt x="0" y="0"/>
                  </a:lnTo>
                  <a:close/>
                </a:path>
              </a:pathLst>
            </a:custGeom>
            <a:blipFill>
              <a:blip r:embed="rId13"/>
              <a:stretch>
                <a:fillRect t="-26" r="2" b="-29"/>
              </a:stretch>
            </a:blipFill>
          </p:spPr>
        </p:sp>
      </p:grpSp>
      <p:grpSp>
        <p:nvGrpSpPr>
          <p:cNvPr id="30" name="Group 30"/>
          <p:cNvGrpSpPr/>
          <p:nvPr/>
        </p:nvGrpSpPr>
        <p:grpSpPr>
          <a:xfrm>
            <a:off x="16178936" y="216170"/>
            <a:ext cx="2160727" cy="2160727"/>
            <a:chOff x="0" y="0"/>
            <a:chExt cx="2880970" cy="2880970"/>
          </a:xfrm>
        </p:grpSpPr>
        <p:sp>
          <p:nvSpPr>
            <p:cNvPr id="31" name="Freeform 31"/>
            <p:cNvSpPr/>
            <p:nvPr/>
          </p:nvSpPr>
          <p:spPr>
            <a:xfrm>
              <a:off x="0" y="0"/>
              <a:ext cx="2880995" cy="2880995"/>
            </a:xfrm>
            <a:custGeom>
              <a:avLst/>
              <a:gdLst/>
              <a:ahLst/>
              <a:cxnLst/>
              <a:rect l="l" t="t" r="r" b="b"/>
              <a:pathLst>
                <a:path w="2880995" h="2880995">
                  <a:moveTo>
                    <a:pt x="0" y="0"/>
                  </a:moveTo>
                  <a:lnTo>
                    <a:pt x="2880995" y="0"/>
                  </a:lnTo>
                  <a:lnTo>
                    <a:pt x="2880995" y="2880995"/>
                  </a:lnTo>
                  <a:lnTo>
                    <a:pt x="0" y="2880995"/>
                  </a:lnTo>
                  <a:lnTo>
                    <a:pt x="0" y="0"/>
                  </a:lnTo>
                  <a:close/>
                </a:path>
              </a:pathLst>
            </a:custGeom>
            <a:blipFill>
              <a:blip r:embed="rId14"/>
              <a:stretch>
                <a:fillRect/>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2447</Words>
  <Application>Microsoft Office PowerPoint</Application>
  <PresentationFormat>Custom</PresentationFormat>
  <Paragraphs>301</Paragraphs>
  <Slides>9</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Calibri (MS) Italics</vt:lpstr>
      <vt:lpstr>Calibri (MS) Bold</vt:lpstr>
      <vt:lpstr>Calibri</vt:lpstr>
      <vt:lpstr>Heading Now 31-38 Bold</vt:lpstr>
      <vt:lpstr>Calibri (MS)</vt:lpstr>
      <vt:lpstr>Heading Now 31-38</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RozgarLink_VORTEXA_3_0_Winner.pptx</dc:title>
  <dc:creator>Anushkaa</dc:creator>
  <cp:lastModifiedBy>anushka kulkarni</cp:lastModifiedBy>
  <cp:revision>4</cp:revision>
  <dcterms:created xsi:type="dcterms:W3CDTF">2006-08-16T00:00:00Z</dcterms:created>
  <dcterms:modified xsi:type="dcterms:W3CDTF">2026-10-11T15:04:13Z</dcterms:modified>
  <dc:identifier>DAHXtoPZs6M</dc:identifier>
</cp:coreProperties>
</file>